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FIU AKIBU" userId="dc44eb19cf80f4f4" providerId="LiveId" clId="{782EF57E-36D3-4E1E-8309-D4BD588166D8}"/>
    <pc:docChg chg="modSld">
      <pc:chgData name="SOFIU AKIBU" userId="dc44eb19cf80f4f4" providerId="LiveId" clId="{782EF57E-36D3-4E1E-8309-D4BD588166D8}" dt="2026-05-21T09:13:42.450" v="0" actId="1076"/>
      <pc:docMkLst>
        <pc:docMk/>
      </pc:docMkLst>
      <pc:sldChg chg="modSp mod">
        <pc:chgData name="SOFIU AKIBU" userId="dc44eb19cf80f4f4" providerId="LiveId" clId="{782EF57E-36D3-4E1E-8309-D4BD588166D8}" dt="2026-05-21T09:13:42.450" v="0" actId="1076"/>
        <pc:sldMkLst>
          <pc:docMk/>
          <pc:sldMk cId="0" sldId="259"/>
        </pc:sldMkLst>
        <pc:spChg chg="mod">
          <ac:chgData name="SOFIU AKIBU" userId="dc44eb19cf80f4f4" providerId="LiveId" clId="{782EF57E-36D3-4E1E-8309-D4BD588166D8}" dt="2026-05-21T09:13:42.450" v="0" actId="1076"/>
          <ac:spMkLst>
            <pc:docMk/>
            <pc:sldMk cId="0" sldId="259"/>
            <ac:spMk id="1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371600"/>
            <a:ext cx="27432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058400" cy="914400"/>
          </a:xfrm>
          <a:prstGeom prst="rect">
            <a:avLst/>
          </a:prstGeom>
          <a:noFill/>
        </p:spPr>
        <p:txBody>
          <a:bodyPr wrap="square"/>
          <a:lstStyle/>
          <a:p>
            <a:pPr algn="l">
              <a:defRPr sz="3600" b="1">
                <a:solidFill>
                  <a:srgbClr val="FFFFFF"/>
                </a:solidFill>
                <a:latin typeface="Calibri"/>
              </a:defRPr>
            </a:pPr>
            <a:r>
              <a:t>Third-Party Risk Management</a:t>
            </a:r>
          </a:p>
        </p:txBody>
      </p:sp>
      <p:sp>
        <p:nvSpPr>
          <p:cNvPr id="6" name="TextBox 5"/>
          <p:cNvSpPr txBox="1"/>
          <p:nvPr/>
        </p:nvSpPr>
        <p:spPr>
          <a:xfrm>
            <a:off x="731520" y="2377440"/>
            <a:ext cx="10058400" cy="731520"/>
          </a:xfrm>
          <a:prstGeom prst="rect">
            <a:avLst/>
          </a:prstGeom>
          <a:noFill/>
        </p:spPr>
        <p:txBody>
          <a:bodyPr wrap="square"/>
          <a:lstStyle/>
          <a:p>
            <a:pPr algn="l">
              <a:defRPr sz="3200" b="1">
                <a:solidFill>
                  <a:srgbClr val="00B4D8"/>
                </a:solidFill>
                <a:latin typeface="Calibri"/>
              </a:defRPr>
            </a:pPr>
            <a:r>
              <a:t>Closure &amp; Executive Report</a:t>
            </a:r>
          </a:p>
        </p:txBody>
      </p:sp>
      <p:sp>
        <p:nvSpPr>
          <p:cNvPr id="7" name="TextBox 6"/>
          <p:cNvSpPr txBox="1"/>
          <p:nvPr/>
        </p:nvSpPr>
        <p:spPr>
          <a:xfrm>
            <a:off x="731520" y="3291840"/>
            <a:ext cx="9144000" cy="457200"/>
          </a:xfrm>
          <a:prstGeom prst="rect">
            <a:avLst/>
          </a:prstGeom>
          <a:noFill/>
        </p:spPr>
        <p:txBody>
          <a:bodyPr wrap="square"/>
          <a:lstStyle/>
          <a:p>
            <a:pPr algn="l">
              <a:defRPr sz="1600" b="0">
                <a:solidFill>
                  <a:srgbClr val="A0AEC0"/>
                </a:solidFill>
                <a:latin typeface="Calibri"/>
              </a:defRPr>
            </a:pPr>
            <a:r>
              <a:t>Johns Hopkins Home Health - Week 6 Final Deliverable</a:t>
            </a:r>
          </a:p>
        </p:txBody>
      </p:sp>
      <p:sp>
        <p:nvSpPr>
          <p:cNvPr id="8" name="Rectangle 7"/>
          <p:cNvSpPr/>
          <p:nvPr/>
        </p:nvSpPr>
        <p:spPr>
          <a:xfrm>
            <a:off x="731520" y="3931920"/>
            <a:ext cx="5486400" cy="27432"/>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206240"/>
            <a:ext cx="2286000" cy="274320"/>
          </a:xfrm>
          <a:prstGeom prst="rect">
            <a:avLst/>
          </a:prstGeom>
          <a:noFill/>
        </p:spPr>
        <p:txBody>
          <a:bodyPr wrap="square"/>
          <a:lstStyle/>
          <a:p>
            <a:pPr algn="l">
              <a:defRPr sz="1100" b="1">
                <a:solidFill>
                  <a:srgbClr val="00B4D8"/>
                </a:solidFill>
                <a:latin typeface="Calibri"/>
              </a:defRPr>
            </a:pPr>
            <a:r>
              <a:t>Prepared For:</a:t>
            </a:r>
          </a:p>
        </p:txBody>
      </p:sp>
      <p:sp>
        <p:nvSpPr>
          <p:cNvPr id="10" name="TextBox 9"/>
          <p:cNvSpPr txBox="1"/>
          <p:nvPr/>
        </p:nvSpPr>
        <p:spPr>
          <a:xfrm>
            <a:off x="3017520" y="4206240"/>
            <a:ext cx="7315200" cy="274320"/>
          </a:xfrm>
          <a:prstGeom prst="rect">
            <a:avLst/>
          </a:prstGeom>
          <a:noFill/>
        </p:spPr>
        <p:txBody>
          <a:bodyPr wrap="square"/>
          <a:lstStyle/>
          <a:p>
            <a:pPr algn="l">
              <a:defRPr sz="1100" b="0">
                <a:solidFill>
                  <a:srgbClr val="E8ECF1"/>
                </a:solidFill>
                <a:latin typeface="Calibri"/>
              </a:defRPr>
            </a:pPr>
            <a:r>
              <a:t>CIO, CISO, Compliance Officer &amp; Executive Leadership</a:t>
            </a:r>
          </a:p>
        </p:txBody>
      </p:sp>
      <p:sp>
        <p:nvSpPr>
          <p:cNvPr id="11" name="TextBox 10"/>
          <p:cNvSpPr txBox="1"/>
          <p:nvPr/>
        </p:nvSpPr>
        <p:spPr>
          <a:xfrm>
            <a:off x="731520" y="4498848"/>
            <a:ext cx="2286000" cy="274320"/>
          </a:xfrm>
          <a:prstGeom prst="rect">
            <a:avLst/>
          </a:prstGeom>
          <a:noFill/>
        </p:spPr>
        <p:txBody>
          <a:bodyPr wrap="square"/>
          <a:lstStyle/>
          <a:p>
            <a:pPr algn="l">
              <a:defRPr sz="1100" b="1">
                <a:solidFill>
                  <a:srgbClr val="00B4D8"/>
                </a:solidFill>
                <a:latin typeface="Calibri"/>
              </a:defRPr>
            </a:pPr>
            <a:r>
              <a:t>Program Phase:</a:t>
            </a:r>
          </a:p>
        </p:txBody>
      </p:sp>
      <p:sp>
        <p:nvSpPr>
          <p:cNvPr id="12" name="TextBox 11"/>
          <p:cNvSpPr txBox="1"/>
          <p:nvPr/>
        </p:nvSpPr>
        <p:spPr>
          <a:xfrm>
            <a:off x="3017520" y="4498848"/>
            <a:ext cx="7315200" cy="274320"/>
          </a:xfrm>
          <a:prstGeom prst="rect">
            <a:avLst/>
          </a:prstGeom>
          <a:noFill/>
        </p:spPr>
        <p:txBody>
          <a:bodyPr wrap="square"/>
          <a:lstStyle/>
          <a:p>
            <a:pPr algn="l">
              <a:defRPr sz="1100" b="0">
                <a:solidFill>
                  <a:srgbClr val="E8ECF1"/>
                </a:solidFill>
                <a:latin typeface="Calibri"/>
              </a:defRPr>
            </a:pPr>
            <a:r>
              <a:t>TPRM Lifecycle Closure - Year 1 Completion</a:t>
            </a:r>
          </a:p>
        </p:txBody>
      </p:sp>
      <p:sp>
        <p:nvSpPr>
          <p:cNvPr id="13" name="TextBox 12"/>
          <p:cNvSpPr txBox="1"/>
          <p:nvPr/>
        </p:nvSpPr>
        <p:spPr>
          <a:xfrm>
            <a:off x="731520" y="4791456"/>
            <a:ext cx="2286000" cy="274320"/>
          </a:xfrm>
          <a:prstGeom prst="rect">
            <a:avLst/>
          </a:prstGeom>
          <a:noFill/>
        </p:spPr>
        <p:txBody>
          <a:bodyPr wrap="square"/>
          <a:lstStyle/>
          <a:p>
            <a:pPr algn="l">
              <a:defRPr sz="1100" b="1">
                <a:solidFill>
                  <a:srgbClr val="00B4D8"/>
                </a:solidFill>
                <a:latin typeface="Calibri"/>
              </a:defRPr>
            </a:pPr>
            <a:r>
              <a:t>Date:</a:t>
            </a:r>
          </a:p>
        </p:txBody>
      </p:sp>
      <p:sp>
        <p:nvSpPr>
          <p:cNvPr id="14" name="TextBox 13"/>
          <p:cNvSpPr txBox="1"/>
          <p:nvPr/>
        </p:nvSpPr>
        <p:spPr>
          <a:xfrm>
            <a:off x="3017520" y="4791456"/>
            <a:ext cx="7315200" cy="274320"/>
          </a:xfrm>
          <a:prstGeom prst="rect">
            <a:avLst/>
          </a:prstGeom>
          <a:noFill/>
        </p:spPr>
        <p:txBody>
          <a:bodyPr wrap="square"/>
          <a:lstStyle/>
          <a:p>
            <a:pPr algn="l">
              <a:defRPr sz="1100" b="0">
                <a:solidFill>
                  <a:srgbClr val="E8ECF1"/>
                </a:solidFill>
                <a:latin typeface="Calibri"/>
              </a:defRPr>
            </a:pPr>
            <a:r>
              <a:t>May 2026</a:t>
            </a:r>
          </a:p>
        </p:txBody>
      </p:sp>
      <p:sp>
        <p:nvSpPr>
          <p:cNvPr id="15" name="TextBox 14"/>
          <p:cNvSpPr txBox="1"/>
          <p:nvPr/>
        </p:nvSpPr>
        <p:spPr>
          <a:xfrm>
            <a:off x="731520" y="5084064"/>
            <a:ext cx="2286000" cy="274320"/>
          </a:xfrm>
          <a:prstGeom prst="rect">
            <a:avLst/>
          </a:prstGeom>
          <a:noFill/>
        </p:spPr>
        <p:txBody>
          <a:bodyPr wrap="square"/>
          <a:lstStyle/>
          <a:p>
            <a:pPr algn="l">
              <a:defRPr sz="1100" b="1">
                <a:solidFill>
                  <a:srgbClr val="00B4D8"/>
                </a:solidFill>
                <a:latin typeface="Calibri"/>
              </a:defRPr>
            </a:pPr>
            <a:r>
              <a:t>Classification:</a:t>
            </a:r>
          </a:p>
        </p:txBody>
      </p:sp>
      <p:sp>
        <p:nvSpPr>
          <p:cNvPr id="16" name="TextBox 15"/>
          <p:cNvSpPr txBox="1"/>
          <p:nvPr/>
        </p:nvSpPr>
        <p:spPr>
          <a:xfrm>
            <a:off x="3017520" y="5084064"/>
            <a:ext cx="7315200" cy="274320"/>
          </a:xfrm>
          <a:prstGeom prst="rect">
            <a:avLst/>
          </a:prstGeom>
          <a:noFill/>
        </p:spPr>
        <p:txBody>
          <a:bodyPr wrap="square"/>
          <a:lstStyle/>
          <a:p>
            <a:pPr algn="l">
              <a:defRPr sz="1100" b="0">
                <a:solidFill>
                  <a:srgbClr val="E8ECF1"/>
                </a:solidFill>
                <a:latin typeface="Calibri"/>
              </a:defRPr>
            </a:pPr>
            <a:r>
              <a:t>Confidential - Internal Use Only</a:t>
            </a:r>
          </a:p>
        </p:txBody>
      </p:sp>
      <p:sp>
        <p:nvSpPr>
          <p:cNvPr id="17" name="Rectangle 16"/>
          <p:cNvSpPr/>
          <p:nvPr/>
        </p:nvSpPr>
        <p:spPr>
          <a:xfrm>
            <a:off x="0" y="6720840"/>
            <a:ext cx="12191695" cy="13716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1/12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WEEK 6 - CLOSURE</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Executive Briefing Agenda</a:t>
            </a:r>
          </a:p>
        </p:txBody>
      </p:sp>
      <p:sp>
        <p:nvSpPr>
          <p:cNvPr id="5" name="Rectangle 4"/>
          <p:cNvSpPr/>
          <p:nvPr/>
        </p:nvSpPr>
        <p:spPr>
          <a:xfrm>
            <a:off x="731520" y="132588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0" y="1645920"/>
            <a:ext cx="457200" cy="4572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01</a:t>
            </a:r>
          </a:p>
        </p:txBody>
      </p:sp>
      <p:sp>
        <p:nvSpPr>
          <p:cNvPr id="7" name="TextBox 6"/>
          <p:cNvSpPr txBox="1"/>
          <p:nvPr/>
        </p:nvSpPr>
        <p:spPr>
          <a:xfrm>
            <a:off x="1554480" y="1627632"/>
            <a:ext cx="3657600" cy="274320"/>
          </a:xfrm>
          <a:prstGeom prst="rect">
            <a:avLst/>
          </a:prstGeom>
          <a:noFill/>
        </p:spPr>
        <p:txBody>
          <a:bodyPr wrap="square"/>
          <a:lstStyle/>
          <a:p>
            <a:pPr algn="l">
              <a:defRPr sz="1500" b="1">
                <a:solidFill>
                  <a:srgbClr val="FFFFFF"/>
                </a:solidFill>
                <a:latin typeface="Calibri"/>
              </a:defRPr>
            </a:pPr>
            <a:r>
              <a:t>Executive Summary</a:t>
            </a:r>
          </a:p>
        </p:txBody>
      </p:sp>
      <p:sp>
        <p:nvSpPr>
          <p:cNvPr id="8" name="TextBox 7"/>
          <p:cNvSpPr txBox="1"/>
          <p:nvPr/>
        </p:nvSpPr>
        <p:spPr>
          <a:xfrm>
            <a:off x="1554480" y="1874520"/>
            <a:ext cx="9144000" cy="228600"/>
          </a:xfrm>
          <a:prstGeom prst="rect">
            <a:avLst/>
          </a:prstGeom>
          <a:noFill/>
        </p:spPr>
        <p:txBody>
          <a:bodyPr wrap="square"/>
          <a:lstStyle/>
          <a:p>
            <a:pPr algn="l">
              <a:defRPr sz="1000" b="0">
                <a:solidFill>
                  <a:srgbClr val="A0AEC0"/>
                </a:solidFill>
                <a:latin typeface="Calibri"/>
              </a:defRPr>
            </a:pPr>
            <a:r>
              <a:t>Program outcomes, key achievements &amp; closure status</a:t>
            </a:r>
          </a:p>
        </p:txBody>
      </p:sp>
      <p:sp>
        <p:nvSpPr>
          <p:cNvPr id="9" name="Rectangle 8"/>
          <p:cNvSpPr/>
          <p:nvPr/>
        </p:nvSpPr>
        <p:spPr>
          <a:xfrm>
            <a:off x="1554480" y="2148840"/>
            <a:ext cx="9601200" cy="9144"/>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14400" y="2267712"/>
            <a:ext cx="457200" cy="4572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02</a:t>
            </a:r>
          </a:p>
        </p:txBody>
      </p:sp>
      <p:sp>
        <p:nvSpPr>
          <p:cNvPr id="11" name="TextBox 10"/>
          <p:cNvSpPr txBox="1"/>
          <p:nvPr/>
        </p:nvSpPr>
        <p:spPr>
          <a:xfrm>
            <a:off x="1554480" y="2249424"/>
            <a:ext cx="3657600" cy="274320"/>
          </a:xfrm>
          <a:prstGeom prst="rect">
            <a:avLst/>
          </a:prstGeom>
          <a:noFill/>
        </p:spPr>
        <p:txBody>
          <a:bodyPr wrap="square"/>
          <a:lstStyle/>
          <a:p>
            <a:pPr algn="l">
              <a:defRPr sz="1500" b="1">
                <a:solidFill>
                  <a:srgbClr val="FFFFFF"/>
                </a:solidFill>
                <a:latin typeface="Calibri"/>
              </a:defRPr>
            </a:pPr>
            <a:r>
              <a:t>Vendor Risk Profile Summary</a:t>
            </a:r>
          </a:p>
        </p:txBody>
      </p:sp>
      <p:sp>
        <p:nvSpPr>
          <p:cNvPr id="12" name="TextBox 11"/>
          <p:cNvSpPr txBox="1"/>
          <p:nvPr/>
        </p:nvSpPr>
        <p:spPr>
          <a:xfrm>
            <a:off x="1554480" y="2496312"/>
            <a:ext cx="9144000" cy="228600"/>
          </a:xfrm>
          <a:prstGeom prst="rect">
            <a:avLst/>
          </a:prstGeom>
          <a:noFill/>
        </p:spPr>
        <p:txBody>
          <a:bodyPr wrap="square"/>
          <a:lstStyle/>
          <a:p>
            <a:pPr algn="l">
              <a:defRPr sz="1000" b="0">
                <a:solidFill>
                  <a:srgbClr val="A0AEC0"/>
                </a:solidFill>
                <a:latin typeface="Calibri"/>
              </a:defRPr>
            </a:pPr>
            <a:r>
              <a:t>Final risk ratings, residual risk &amp; risk acceptance</a:t>
            </a:r>
          </a:p>
        </p:txBody>
      </p:sp>
      <p:sp>
        <p:nvSpPr>
          <p:cNvPr id="13" name="Rectangle 12"/>
          <p:cNvSpPr/>
          <p:nvPr/>
        </p:nvSpPr>
        <p:spPr>
          <a:xfrm>
            <a:off x="1554480" y="2770632"/>
            <a:ext cx="9601200" cy="9144"/>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4400" y="2889504"/>
            <a:ext cx="457200" cy="4572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03</a:t>
            </a:r>
          </a:p>
        </p:txBody>
      </p:sp>
      <p:sp>
        <p:nvSpPr>
          <p:cNvPr id="15" name="TextBox 14"/>
          <p:cNvSpPr txBox="1"/>
          <p:nvPr/>
        </p:nvSpPr>
        <p:spPr>
          <a:xfrm>
            <a:off x="1554480" y="2871216"/>
            <a:ext cx="3657600" cy="274320"/>
          </a:xfrm>
          <a:prstGeom prst="rect">
            <a:avLst/>
          </a:prstGeom>
          <a:noFill/>
        </p:spPr>
        <p:txBody>
          <a:bodyPr wrap="square"/>
          <a:lstStyle/>
          <a:p>
            <a:pPr algn="l">
              <a:defRPr sz="1500" b="1">
                <a:solidFill>
                  <a:srgbClr val="FFFFFF"/>
                </a:solidFill>
                <a:latin typeface="Calibri"/>
              </a:defRPr>
            </a:pPr>
            <a:r>
              <a:t>HIPAA Compliance Gap Analysis</a:t>
            </a:r>
          </a:p>
        </p:txBody>
      </p:sp>
      <p:sp>
        <p:nvSpPr>
          <p:cNvPr id="16" name="TextBox 15"/>
          <p:cNvSpPr txBox="1"/>
          <p:nvPr/>
        </p:nvSpPr>
        <p:spPr>
          <a:xfrm>
            <a:off x="1554480" y="3118104"/>
            <a:ext cx="9144000" cy="228600"/>
          </a:xfrm>
          <a:prstGeom prst="rect">
            <a:avLst/>
          </a:prstGeom>
          <a:noFill/>
        </p:spPr>
        <p:txBody>
          <a:bodyPr wrap="square"/>
          <a:lstStyle/>
          <a:p>
            <a:pPr algn="l">
              <a:defRPr sz="1000" b="0">
                <a:solidFill>
                  <a:srgbClr val="A0AEC0"/>
                </a:solidFill>
                <a:latin typeface="Calibri"/>
              </a:defRPr>
            </a:pPr>
            <a:r>
              <a:t>Outstanding gaps, regulatory exposure &amp; audit findings</a:t>
            </a:r>
          </a:p>
        </p:txBody>
      </p:sp>
      <p:sp>
        <p:nvSpPr>
          <p:cNvPr id="17" name="Rectangle 16"/>
          <p:cNvSpPr/>
          <p:nvPr/>
        </p:nvSpPr>
        <p:spPr>
          <a:xfrm>
            <a:off x="1554480" y="3392424"/>
            <a:ext cx="9601200" cy="9144"/>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4400" y="3511296"/>
            <a:ext cx="457200" cy="4572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04</a:t>
            </a:r>
          </a:p>
        </p:txBody>
      </p:sp>
      <p:sp>
        <p:nvSpPr>
          <p:cNvPr id="19" name="TextBox 18"/>
          <p:cNvSpPr txBox="1"/>
          <p:nvPr/>
        </p:nvSpPr>
        <p:spPr>
          <a:xfrm>
            <a:off x="1554480" y="3493008"/>
            <a:ext cx="3657600" cy="274320"/>
          </a:xfrm>
          <a:prstGeom prst="rect">
            <a:avLst/>
          </a:prstGeom>
          <a:noFill/>
        </p:spPr>
        <p:txBody>
          <a:bodyPr wrap="square"/>
          <a:lstStyle/>
          <a:p>
            <a:pPr algn="l">
              <a:defRPr sz="1500" b="1">
                <a:solidFill>
                  <a:srgbClr val="FFFFFF"/>
                </a:solidFill>
                <a:latin typeface="Calibri"/>
              </a:defRPr>
            </a:pPr>
            <a:r>
              <a:t>Remediation Status &amp; Results</a:t>
            </a:r>
          </a:p>
        </p:txBody>
      </p:sp>
      <p:sp>
        <p:nvSpPr>
          <p:cNvPr id="20" name="TextBox 19"/>
          <p:cNvSpPr txBox="1"/>
          <p:nvPr/>
        </p:nvSpPr>
        <p:spPr>
          <a:xfrm>
            <a:off x="1554480" y="3739896"/>
            <a:ext cx="9144000" cy="228600"/>
          </a:xfrm>
          <a:prstGeom prst="rect">
            <a:avLst/>
          </a:prstGeom>
          <a:noFill/>
        </p:spPr>
        <p:txBody>
          <a:bodyPr wrap="square"/>
          <a:lstStyle/>
          <a:p>
            <a:pPr algn="l">
              <a:defRPr sz="1000" b="0">
                <a:solidFill>
                  <a:srgbClr val="A0AEC0"/>
                </a:solidFill>
                <a:latin typeface="Calibri"/>
              </a:defRPr>
            </a:pPr>
            <a:r>
              <a:t>Completed actions, in-progress items &amp; closure evidence</a:t>
            </a:r>
          </a:p>
        </p:txBody>
      </p:sp>
      <p:sp>
        <p:nvSpPr>
          <p:cNvPr id="21" name="Rectangle 20"/>
          <p:cNvSpPr/>
          <p:nvPr/>
        </p:nvSpPr>
        <p:spPr>
          <a:xfrm>
            <a:off x="1554480" y="4014216"/>
            <a:ext cx="9601200" cy="9144"/>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4400" y="4133088"/>
            <a:ext cx="457200" cy="4572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05</a:t>
            </a:r>
          </a:p>
        </p:txBody>
      </p:sp>
      <p:sp>
        <p:nvSpPr>
          <p:cNvPr id="23" name="TextBox 22"/>
          <p:cNvSpPr txBox="1"/>
          <p:nvPr/>
        </p:nvSpPr>
        <p:spPr>
          <a:xfrm>
            <a:off x="1554480" y="4114800"/>
            <a:ext cx="3657600" cy="274320"/>
          </a:xfrm>
          <a:prstGeom prst="rect">
            <a:avLst/>
          </a:prstGeom>
          <a:noFill/>
        </p:spPr>
        <p:txBody>
          <a:bodyPr wrap="square"/>
          <a:lstStyle/>
          <a:p>
            <a:pPr algn="l">
              <a:defRPr sz="1500" b="1">
                <a:solidFill>
                  <a:srgbClr val="FFFFFF"/>
                </a:solidFill>
                <a:latin typeface="Calibri"/>
              </a:defRPr>
            </a:pPr>
            <a:r>
              <a:t>Process Improvements</a:t>
            </a:r>
          </a:p>
        </p:txBody>
      </p:sp>
      <p:sp>
        <p:nvSpPr>
          <p:cNvPr id="24" name="TextBox 23"/>
          <p:cNvSpPr txBox="1"/>
          <p:nvPr/>
        </p:nvSpPr>
        <p:spPr>
          <a:xfrm>
            <a:off x="1554480" y="4361688"/>
            <a:ext cx="9144000" cy="228600"/>
          </a:xfrm>
          <a:prstGeom prst="rect">
            <a:avLst/>
          </a:prstGeom>
          <a:noFill/>
        </p:spPr>
        <p:txBody>
          <a:bodyPr wrap="square"/>
          <a:lstStyle/>
          <a:p>
            <a:pPr algn="l">
              <a:defRPr sz="1000" b="0">
                <a:solidFill>
                  <a:srgbClr val="A0AEC0"/>
                </a:solidFill>
                <a:latin typeface="Calibri"/>
              </a:defRPr>
            </a:pPr>
            <a:r>
              <a:t>Onboarding, monitoring, offboarding enhancements</a:t>
            </a:r>
          </a:p>
        </p:txBody>
      </p:sp>
      <p:sp>
        <p:nvSpPr>
          <p:cNvPr id="25" name="Rectangle 24"/>
          <p:cNvSpPr/>
          <p:nvPr/>
        </p:nvSpPr>
        <p:spPr>
          <a:xfrm>
            <a:off x="1554480" y="4636008"/>
            <a:ext cx="9601200" cy="9144"/>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4400" y="4754880"/>
            <a:ext cx="457200" cy="4572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06</a:t>
            </a:r>
          </a:p>
        </p:txBody>
      </p:sp>
      <p:sp>
        <p:nvSpPr>
          <p:cNvPr id="27" name="TextBox 26"/>
          <p:cNvSpPr txBox="1"/>
          <p:nvPr/>
        </p:nvSpPr>
        <p:spPr>
          <a:xfrm>
            <a:off x="1554480" y="4736592"/>
            <a:ext cx="3657600" cy="274320"/>
          </a:xfrm>
          <a:prstGeom prst="rect">
            <a:avLst/>
          </a:prstGeom>
          <a:noFill/>
        </p:spPr>
        <p:txBody>
          <a:bodyPr wrap="square"/>
          <a:lstStyle/>
          <a:p>
            <a:pPr algn="l">
              <a:defRPr sz="1500" b="1">
                <a:solidFill>
                  <a:srgbClr val="FFFFFF"/>
                </a:solidFill>
                <a:latin typeface="Calibri"/>
              </a:defRPr>
            </a:pPr>
            <a:r>
              <a:t>Lessons Learned &amp; Year 2 Roadmap</a:t>
            </a:r>
          </a:p>
        </p:txBody>
      </p:sp>
      <p:sp>
        <p:nvSpPr>
          <p:cNvPr id="28" name="TextBox 27"/>
          <p:cNvSpPr txBox="1"/>
          <p:nvPr/>
        </p:nvSpPr>
        <p:spPr>
          <a:xfrm>
            <a:off x="1554480" y="4983480"/>
            <a:ext cx="9144000" cy="228600"/>
          </a:xfrm>
          <a:prstGeom prst="rect">
            <a:avLst/>
          </a:prstGeom>
          <a:noFill/>
        </p:spPr>
        <p:txBody>
          <a:bodyPr wrap="square"/>
          <a:lstStyle/>
          <a:p>
            <a:pPr algn="l">
              <a:defRPr sz="1000" b="0">
                <a:solidFill>
                  <a:srgbClr val="A0AEC0"/>
                </a:solidFill>
                <a:latin typeface="Calibri"/>
              </a:defRPr>
            </a:pPr>
            <a:r>
              <a:t>Key takeaways, strategic priorities &amp; Q1-Q2 2027 plan</a:t>
            </a:r>
          </a:p>
        </p:txBody>
      </p:sp>
      <p:sp>
        <p:nvSpPr>
          <p:cNvPr id="29" name="Rectangle 28"/>
          <p:cNvSpPr/>
          <p:nvPr/>
        </p:nvSpPr>
        <p:spPr>
          <a:xfrm>
            <a:off x="1554480" y="5257800"/>
            <a:ext cx="9601200" cy="9144"/>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14400" y="5376672"/>
            <a:ext cx="457200" cy="45720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07</a:t>
            </a:r>
          </a:p>
        </p:txBody>
      </p:sp>
      <p:sp>
        <p:nvSpPr>
          <p:cNvPr id="31" name="TextBox 30"/>
          <p:cNvSpPr txBox="1"/>
          <p:nvPr/>
        </p:nvSpPr>
        <p:spPr>
          <a:xfrm>
            <a:off x="1554480" y="5358384"/>
            <a:ext cx="3657600" cy="274320"/>
          </a:xfrm>
          <a:prstGeom prst="rect">
            <a:avLst/>
          </a:prstGeom>
          <a:noFill/>
        </p:spPr>
        <p:txBody>
          <a:bodyPr wrap="square"/>
          <a:lstStyle/>
          <a:p>
            <a:pPr algn="l">
              <a:defRPr sz="1500" b="1">
                <a:solidFill>
                  <a:srgbClr val="FFFFFF"/>
                </a:solidFill>
                <a:latin typeface="Calibri"/>
              </a:defRPr>
            </a:pPr>
            <a:r>
              <a:t>Final Recommendations &amp; Sign-Off</a:t>
            </a:r>
          </a:p>
        </p:txBody>
      </p:sp>
      <p:sp>
        <p:nvSpPr>
          <p:cNvPr id="32" name="TextBox 31"/>
          <p:cNvSpPr txBox="1"/>
          <p:nvPr/>
        </p:nvSpPr>
        <p:spPr>
          <a:xfrm>
            <a:off x="1554480" y="5605272"/>
            <a:ext cx="9144000" cy="228600"/>
          </a:xfrm>
          <a:prstGeom prst="rect">
            <a:avLst/>
          </a:prstGeom>
          <a:noFill/>
        </p:spPr>
        <p:txBody>
          <a:bodyPr wrap="square"/>
          <a:lstStyle/>
          <a:p>
            <a:pPr algn="l">
              <a:defRPr sz="1000" b="0">
                <a:solidFill>
                  <a:srgbClr val="A0AEC0"/>
                </a:solidFill>
                <a:latin typeface="Calibri"/>
              </a:defRPr>
            </a:pPr>
            <a:r>
              <a:t>Executive decisions, risk acceptance &amp; formal closure</a:t>
            </a:r>
          </a:p>
        </p:txBody>
      </p:sp>
      <p:sp>
        <p:nvSpPr>
          <p:cNvPr id="33" name="Rectangle 32"/>
          <p:cNvSpPr/>
          <p:nvPr/>
        </p:nvSpPr>
        <p:spPr>
          <a:xfrm>
            <a:off x="1554480" y="5879592"/>
            <a:ext cx="9601200" cy="9144"/>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2/12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EXECUTIVE OVERVIEW</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Executive Summary</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TPRM Program Year 1 - Final Status &amp; Outcomes</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2560320" cy="13716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256032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103120"/>
            <a:ext cx="2286000" cy="457200"/>
          </a:xfrm>
          <a:prstGeom prst="rect">
            <a:avLst/>
          </a:prstGeom>
          <a:noFill/>
        </p:spPr>
        <p:txBody>
          <a:bodyPr wrap="square"/>
          <a:lstStyle/>
          <a:p>
            <a:pPr algn="ctr">
              <a:defRPr sz="3000" b="1">
                <a:solidFill>
                  <a:srgbClr val="007ACC"/>
                </a:solidFill>
                <a:latin typeface="Calibri"/>
              </a:defRPr>
            </a:pPr>
            <a:r>
              <a:t>4</a:t>
            </a:r>
          </a:p>
        </p:txBody>
      </p:sp>
      <p:sp>
        <p:nvSpPr>
          <p:cNvPr id="10" name="TextBox 9"/>
          <p:cNvSpPr txBox="1"/>
          <p:nvPr/>
        </p:nvSpPr>
        <p:spPr>
          <a:xfrm>
            <a:off x="868680" y="2560320"/>
            <a:ext cx="2286000" cy="274320"/>
          </a:xfrm>
          <a:prstGeom prst="rect">
            <a:avLst/>
          </a:prstGeom>
          <a:noFill/>
        </p:spPr>
        <p:txBody>
          <a:bodyPr wrap="square"/>
          <a:lstStyle/>
          <a:p>
            <a:pPr algn="ctr">
              <a:defRPr sz="1200" b="1">
                <a:solidFill>
                  <a:srgbClr val="FFFFFF"/>
                </a:solidFill>
                <a:latin typeface="Calibri"/>
              </a:defRPr>
            </a:pPr>
            <a:r>
              <a:t>Vendors Assessed</a:t>
            </a:r>
          </a:p>
        </p:txBody>
      </p:sp>
      <p:sp>
        <p:nvSpPr>
          <p:cNvPr id="11" name="TextBox 10"/>
          <p:cNvSpPr txBox="1"/>
          <p:nvPr/>
        </p:nvSpPr>
        <p:spPr>
          <a:xfrm>
            <a:off x="868680" y="2880360"/>
            <a:ext cx="2286000" cy="365760"/>
          </a:xfrm>
          <a:prstGeom prst="rect">
            <a:avLst/>
          </a:prstGeom>
          <a:noFill/>
        </p:spPr>
        <p:txBody>
          <a:bodyPr wrap="square"/>
          <a:lstStyle/>
          <a:p>
            <a:pPr algn="ctr">
              <a:defRPr sz="900" b="0">
                <a:solidFill>
                  <a:srgbClr val="A0AEC0"/>
                </a:solidFill>
                <a:latin typeface="Calibri"/>
              </a:defRPr>
            </a:pPr>
            <a:r>
              <a:t>Critical, High, Medium &amp; Low risk tiers</a:t>
            </a:r>
          </a:p>
        </p:txBody>
      </p:sp>
      <p:sp>
        <p:nvSpPr>
          <p:cNvPr id="12" name="Rounded Rectangle 11"/>
          <p:cNvSpPr/>
          <p:nvPr/>
        </p:nvSpPr>
        <p:spPr>
          <a:xfrm>
            <a:off x="3520440" y="1920240"/>
            <a:ext cx="2560320" cy="13716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20440" y="1920240"/>
            <a:ext cx="2560320" cy="54864"/>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103120"/>
            <a:ext cx="2286000" cy="457200"/>
          </a:xfrm>
          <a:prstGeom prst="rect">
            <a:avLst/>
          </a:prstGeom>
          <a:noFill/>
        </p:spPr>
        <p:txBody>
          <a:bodyPr wrap="square"/>
          <a:lstStyle/>
          <a:p>
            <a:pPr algn="ctr">
              <a:defRPr sz="3000" b="1">
                <a:solidFill>
                  <a:srgbClr val="00C896"/>
                </a:solidFill>
                <a:latin typeface="Calibri"/>
              </a:defRPr>
            </a:pPr>
            <a:r>
              <a:t>3</a:t>
            </a:r>
          </a:p>
        </p:txBody>
      </p:sp>
      <p:sp>
        <p:nvSpPr>
          <p:cNvPr id="15" name="TextBox 14"/>
          <p:cNvSpPr txBox="1"/>
          <p:nvPr/>
        </p:nvSpPr>
        <p:spPr>
          <a:xfrm>
            <a:off x="3657600" y="2560320"/>
            <a:ext cx="2286000" cy="274320"/>
          </a:xfrm>
          <a:prstGeom prst="rect">
            <a:avLst/>
          </a:prstGeom>
          <a:noFill/>
        </p:spPr>
        <p:txBody>
          <a:bodyPr wrap="square"/>
          <a:lstStyle/>
          <a:p>
            <a:pPr algn="ctr">
              <a:defRPr sz="1200" b="1">
                <a:solidFill>
                  <a:srgbClr val="FFFFFF"/>
                </a:solidFill>
                <a:latin typeface="Calibri"/>
              </a:defRPr>
            </a:pPr>
            <a:r>
              <a:t>High-Risk Gaps Closed</a:t>
            </a:r>
          </a:p>
        </p:txBody>
      </p:sp>
      <p:sp>
        <p:nvSpPr>
          <p:cNvPr id="16" name="TextBox 15"/>
          <p:cNvSpPr txBox="1"/>
          <p:nvPr/>
        </p:nvSpPr>
        <p:spPr>
          <a:xfrm>
            <a:off x="3657600" y="2880360"/>
            <a:ext cx="2286000" cy="365760"/>
          </a:xfrm>
          <a:prstGeom prst="rect">
            <a:avLst/>
          </a:prstGeom>
          <a:noFill/>
        </p:spPr>
        <p:txBody>
          <a:bodyPr wrap="square"/>
          <a:lstStyle/>
          <a:p>
            <a:pPr algn="ctr">
              <a:defRPr sz="900" b="0">
                <a:solidFill>
                  <a:srgbClr val="A0AEC0"/>
                </a:solidFill>
                <a:latin typeface="Calibri"/>
              </a:defRPr>
            </a:pPr>
            <a:r>
              <a:t>MFA, BAA updates, access controls</a:t>
            </a:r>
          </a:p>
        </p:txBody>
      </p:sp>
      <p:sp>
        <p:nvSpPr>
          <p:cNvPr id="17" name="Rounded Rectangle 16"/>
          <p:cNvSpPr/>
          <p:nvPr/>
        </p:nvSpPr>
        <p:spPr>
          <a:xfrm>
            <a:off x="6309360" y="1920240"/>
            <a:ext cx="2560320" cy="13716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60" y="1920240"/>
            <a:ext cx="2560320" cy="54864"/>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03120"/>
            <a:ext cx="2286000" cy="457200"/>
          </a:xfrm>
          <a:prstGeom prst="rect">
            <a:avLst/>
          </a:prstGeom>
          <a:noFill/>
        </p:spPr>
        <p:txBody>
          <a:bodyPr wrap="square"/>
          <a:lstStyle/>
          <a:p>
            <a:pPr algn="ctr">
              <a:defRPr sz="3000" b="1">
                <a:solidFill>
                  <a:srgbClr val="FFB020"/>
                </a:solidFill>
                <a:latin typeface="Calibri"/>
              </a:defRPr>
            </a:pPr>
            <a:r>
              <a:t>2</a:t>
            </a:r>
          </a:p>
        </p:txBody>
      </p:sp>
      <p:sp>
        <p:nvSpPr>
          <p:cNvPr id="20" name="TextBox 19"/>
          <p:cNvSpPr txBox="1"/>
          <p:nvPr/>
        </p:nvSpPr>
        <p:spPr>
          <a:xfrm>
            <a:off x="6446520" y="2560320"/>
            <a:ext cx="2286000" cy="274320"/>
          </a:xfrm>
          <a:prstGeom prst="rect">
            <a:avLst/>
          </a:prstGeom>
          <a:noFill/>
        </p:spPr>
        <p:txBody>
          <a:bodyPr wrap="square"/>
          <a:lstStyle/>
          <a:p>
            <a:pPr algn="ctr">
              <a:defRPr sz="1200" b="1">
                <a:solidFill>
                  <a:srgbClr val="FFFFFF"/>
                </a:solidFill>
                <a:latin typeface="Calibri"/>
              </a:defRPr>
            </a:pPr>
            <a:r>
              <a:t>Medium Gaps Remaining</a:t>
            </a:r>
          </a:p>
        </p:txBody>
      </p:sp>
      <p:sp>
        <p:nvSpPr>
          <p:cNvPr id="21" name="TextBox 20"/>
          <p:cNvSpPr txBox="1"/>
          <p:nvPr/>
        </p:nvSpPr>
        <p:spPr>
          <a:xfrm>
            <a:off x="6446520" y="2880360"/>
            <a:ext cx="2286000" cy="365760"/>
          </a:xfrm>
          <a:prstGeom prst="rect">
            <a:avLst/>
          </a:prstGeom>
          <a:noFill/>
        </p:spPr>
        <p:txBody>
          <a:bodyPr wrap="square"/>
          <a:lstStyle/>
          <a:p>
            <a:pPr algn="ctr">
              <a:defRPr sz="900" b="0">
                <a:solidFill>
                  <a:srgbClr val="A0AEC0"/>
                </a:solidFill>
                <a:latin typeface="Calibri"/>
              </a:defRPr>
            </a:pPr>
            <a:r>
              <a:t>Audit logging, breach SLA - in remediation</a:t>
            </a:r>
          </a:p>
        </p:txBody>
      </p:sp>
      <p:sp>
        <p:nvSpPr>
          <p:cNvPr id="22" name="Rounded Rectangle 21"/>
          <p:cNvSpPr/>
          <p:nvPr/>
        </p:nvSpPr>
        <p:spPr>
          <a:xfrm>
            <a:off x="9098280" y="1920240"/>
            <a:ext cx="2560320" cy="13716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920240"/>
            <a:ext cx="25603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2103120"/>
            <a:ext cx="2286000" cy="457200"/>
          </a:xfrm>
          <a:prstGeom prst="rect">
            <a:avLst/>
          </a:prstGeom>
          <a:noFill/>
        </p:spPr>
        <p:txBody>
          <a:bodyPr wrap="square"/>
          <a:lstStyle/>
          <a:p>
            <a:pPr algn="ctr">
              <a:defRPr sz="3000" b="1">
                <a:solidFill>
                  <a:srgbClr val="00B4D8"/>
                </a:solidFill>
                <a:latin typeface="Calibri"/>
              </a:defRPr>
            </a:pPr>
            <a:r>
              <a:t>92%</a:t>
            </a:r>
          </a:p>
        </p:txBody>
      </p:sp>
      <p:sp>
        <p:nvSpPr>
          <p:cNvPr id="25" name="TextBox 24"/>
          <p:cNvSpPr txBox="1"/>
          <p:nvPr/>
        </p:nvSpPr>
        <p:spPr>
          <a:xfrm>
            <a:off x="9235440" y="2560320"/>
            <a:ext cx="2286000" cy="274320"/>
          </a:xfrm>
          <a:prstGeom prst="rect">
            <a:avLst/>
          </a:prstGeom>
          <a:noFill/>
        </p:spPr>
        <p:txBody>
          <a:bodyPr wrap="square"/>
          <a:lstStyle/>
          <a:p>
            <a:pPr algn="ctr">
              <a:defRPr sz="1200" b="1">
                <a:solidFill>
                  <a:srgbClr val="FFFFFF"/>
                </a:solidFill>
                <a:latin typeface="Calibri"/>
              </a:defRPr>
            </a:pPr>
            <a:r>
              <a:t>Compliance Score</a:t>
            </a:r>
          </a:p>
        </p:txBody>
      </p:sp>
      <p:sp>
        <p:nvSpPr>
          <p:cNvPr id="26" name="TextBox 25"/>
          <p:cNvSpPr txBox="1"/>
          <p:nvPr/>
        </p:nvSpPr>
        <p:spPr>
          <a:xfrm>
            <a:off x="9235440" y="2880360"/>
            <a:ext cx="2286000" cy="365760"/>
          </a:xfrm>
          <a:prstGeom prst="rect">
            <a:avLst/>
          </a:prstGeom>
          <a:noFill/>
        </p:spPr>
        <p:txBody>
          <a:bodyPr wrap="square"/>
          <a:lstStyle/>
          <a:p>
            <a:pPr algn="ctr">
              <a:defRPr sz="900" b="0">
                <a:solidFill>
                  <a:srgbClr val="A0AEC0"/>
                </a:solidFill>
                <a:latin typeface="Calibri"/>
              </a:defRPr>
            </a:pPr>
            <a:r>
              <a:t>Up from 67% at program start</a:t>
            </a:r>
          </a:p>
        </p:txBody>
      </p:sp>
      <p:sp>
        <p:nvSpPr>
          <p:cNvPr id="27" name="Rounded Rectangle 26"/>
          <p:cNvSpPr/>
          <p:nvPr/>
        </p:nvSpPr>
        <p:spPr>
          <a:xfrm>
            <a:off x="731520" y="3566160"/>
            <a:ext cx="10698480" cy="27432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1520" y="3566160"/>
            <a:ext cx="1069848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3749039"/>
            <a:ext cx="10241280" cy="2468880"/>
          </a:xfrm>
          <a:prstGeom prst="rect">
            <a:avLst/>
          </a:prstGeom>
          <a:noFill/>
        </p:spPr>
        <p:txBody>
          <a:bodyPr wrap="square"/>
          <a:lstStyle/>
          <a:p>
            <a:pPr algn="l">
              <a:defRPr sz="1400" b="1">
                <a:solidFill>
                  <a:srgbClr val="00B4D8"/>
                </a:solidFill>
                <a:latin typeface="Calibri"/>
              </a:defRPr>
            </a:pPr>
            <a:r>
              <a:t>Program Overview</a:t>
            </a:r>
          </a:p>
          <a:p>
            <a:pPr algn="l">
              <a:spcBef>
                <a:spcPts val="400"/>
              </a:spcBef>
              <a:spcAft>
                <a:spcPts val="200"/>
              </a:spcAft>
              <a:defRPr sz="600" b="0">
                <a:solidFill>
                  <a:srgbClr val="E8ECF1"/>
                </a:solidFill>
                <a:latin typeface="Calibri"/>
              </a:defRPr>
            </a:pPr>
            <a:endParaRPr/>
          </a:p>
          <a:p>
            <a:pPr algn="l">
              <a:spcBef>
                <a:spcPts val="400"/>
              </a:spcBef>
              <a:spcAft>
                <a:spcPts val="200"/>
              </a:spcAft>
              <a:defRPr sz="1100" b="0">
                <a:solidFill>
                  <a:srgbClr val="E8ECF1"/>
                </a:solidFill>
                <a:latin typeface="Calibri"/>
              </a:defRPr>
            </a:pPr>
            <a:r>
              <a:t>The Johns Hopkins Home Health (JHH) Third-Party Risk Management (TPRM) program has completed its Year 1 lifecycle, encompassing vendor onboarding, risk assessment, continuous monitoring, remediation, and formal closure. This executive report summarizes final risk positions, HIPAA compliance status, remediation outcomes, and strategic recommendations for Year 2.</a:t>
            </a:r>
          </a:p>
          <a:p>
            <a:pPr algn="l">
              <a:spcBef>
                <a:spcPts val="400"/>
              </a:spcBef>
              <a:spcAft>
                <a:spcPts val="200"/>
              </a:spcAft>
              <a:defRPr sz="600" b="0">
                <a:solidFill>
                  <a:srgbClr val="E8ECF1"/>
                </a:solidFill>
                <a:latin typeface="Calibri"/>
              </a:defRPr>
            </a:pPr>
            <a:endParaRPr/>
          </a:p>
          <a:p>
            <a:pPr algn="l">
              <a:spcBef>
                <a:spcPts val="400"/>
              </a:spcBef>
              <a:spcAft>
                <a:spcPts val="200"/>
              </a:spcAft>
              <a:defRPr sz="1200" b="1">
                <a:solidFill>
                  <a:srgbClr val="FFFFFF"/>
                </a:solidFill>
                <a:latin typeface="Calibri"/>
              </a:defRPr>
            </a:pPr>
            <a:r>
              <a:t>Key Achievements:</a:t>
            </a:r>
          </a:p>
          <a:p>
            <a:pPr algn="l">
              <a:spcBef>
                <a:spcPts val="400"/>
              </a:spcBef>
              <a:spcAft>
                <a:spcPts val="200"/>
              </a:spcAft>
              <a:defRPr sz="1000" b="0">
                <a:solidFill>
                  <a:srgbClr val="E8ECF1"/>
                </a:solidFill>
                <a:latin typeface="Calibri"/>
              </a:defRPr>
            </a:pPr>
            <a:r>
              <a:t>All four critical vendors (McKesson, Veradigm, AWS Healthcare, Epic Systems) assessed and risk-rated</a:t>
            </a:r>
          </a:p>
          <a:p>
            <a:pPr algn="l">
              <a:spcBef>
                <a:spcPts val="400"/>
              </a:spcBef>
              <a:spcAft>
                <a:spcPts val="200"/>
              </a:spcAft>
              <a:defRPr sz="1000" b="0">
                <a:solidFill>
                  <a:srgbClr val="E8ECF1"/>
                </a:solidFill>
                <a:latin typeface="Calibri"/>
              </a:defRPr>
            </a:pPr>
            <a:r>
              <a:t>Three high-risk HIPAA gaps remediated: MFA enforcement, BAA/Omnibus clause updates, access control hardening</a:t>
            </a:r>
          </a:p>
          <a:p>
            <a:pPr algn="l">
              <a:spcBef>
                <a:spcPts val="400"/>
              </a:spcBef>
              <a:spcAft>
                <a:spcPts val="200"/>
              </a:spcAft>
              <a:defRPr sz="1000" b="0">
                <a:solidFill>
                  <a:srgbClr val="E8ECF1"/>
                </a:solidFill>
                <a:latin typeface="Calibri"/>
              </a:defRPr>
            </a:pPr>
            <a:r>
              <a:t>Automated monitoring framework deployed with quarterly audit cycles and real-time alerting</a:t>
            </a:r>
          </a:p>
          <a:p>
            <a:pPr algn="l">
              <a:spcBef>
                <a:spcPts val="400"/>
              </a:spcBef>
              <a:spcAft>
                <a:spcPts val="200"/>
              </a:spcAft>
              <a:defRPr sz="1000" b="0">
                <a:solidFill>
                  <a:srgbClr val="E8ECF1"/>
                </a:solidFill>
                <a:latin typeface="Calibri"/>
              </a:defRPr>
            </a:pPr>
            <a:r>
              <a:t>Comprehensive onboarding (12-item) and offboarding (10-item) checklists institutionalized</a:t>
            </a:r>
          </a:p>
          <a:p>
            <a:pPr algn="l">
              <a:spcBef>
                <a:spcPts val="400"/>
              </a:spcBef>
              <a:spcAft>
                <a:spcPts val="200"/>
              </a:spcAft>
              <a:defRPr sz="1000" b="0">
                <a:solidFill>
                  <a:srgbClr val="E8ECF1"/>
                </a:solidFill>
                <a:latin typeface="Calibri"/>
              </a:defRPr>
            </a:pPr>
            <a:r>
              <a:t>Overall compliance posture improved from 67% to 92% across all vendor tiers</a:t>
            </a:r>
          </a:p>
          <a:p>
            <a:pPr algn="l">
              <a:spcBef>
                <a:spcPts val="400"/>
              </a:spcBef>
              <a:spcAft>
                <a:spcPts val="200"/>
              </a:spcAft>
              <a:defRPr sz="600" b="0">
                <a:solidFill>
                  <a:srgbClr val="E8ECF1"/>
                </a:solidFill>
                <a:latin typeface="Calibri"/>
              </a:defRPr>
            </a:pPr>
            <a:endParaRPr/>
          </a:p>
          <a:p>
            <a:pPr algn="l">
              <a:spcBef>
                <a:spcPts val="400"/>
              </a:spcBef>
              <a:spcAft>
                <a:spcPts val="200"/>
              </a:spcAft>
              <a:defRPr sz="1200" b="1">
                <a:solidFill>
                  <a:srgbClr val="FFB020"/>
                </a:solidFill>
                <a:latin typeface="Calibri"/>
              </a:defRPr>
            </a:pPr>
            <a:r>
              <a:t>Outstanding Items:</a:t>
            </a:r>
          </a:p>
          <a:p>
            <a:pPr algn="l">
              <a:spcBef>
                <a:spcPts val="400"/>
              </a:spcBef>
              <a:spcAft>
                <a:spcPts val="200"/>
              </a:spcAft>
              <a:defRPr sz="1000" b="0">
                <a:solidFill>
                  <a:srgbClr val="E8ECF1"/>
                </a:solidFill>
                <a:latin typeface="Calibri"/>
              </a:defRPr>
            </a:pPr>
            <a:r>
              <a:t>SIEM integration for audit logging (target: Q1 2027) | Breach notification SLA formalization (target: Q1 2027)</a:t>
            </a:r>
          </a:p>
        </p:txBody>
      </p:sp>
      <p:sp>
        <p:nvSpPr>
          <p:cNvPr id="30" name="Rectangle 29"/>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3/12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RISK ASSESSMENT</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Vendor Risk Profile Summary</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Final risk ratings, inherent vs. residual risk, and risk acceptance status</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920240"/>
            <a:ext cx="11612880" cy="4114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65960"/>
            <a:ext cx="1828800" cy="320040"/>
          </a:xfrm>
          <a:prstGeom prst="rect">
            <a:avLst/>
          </a:prstGeom>
          <a:noFill/>
        </p:spPr>
        <p:txBody>
          <a:bodyPr wrap="square"/>
          <a:lstStyle/>
          <a:p>
            <a:pPr algn="ctr">
              <a:defRPr sz="1100" b="1">
                <a:solidFill>
                  <a:srgbClr val="FFFFFF"/>
                </a:solidFill>
                <a:latin typeface="Calibri"/>
              </a:defRPr>
            </a:pPr>
            <a:r>
              <a:t>Vendor</a:t>
            </a:r>
          </a:p>
        </p:txBody>
      </p:sp>
      <p:sp>
        <p:nvSpPr>
          <p:cNvPr id="9" name="TextBox 8"/>
          <p:cNvSpPr txBox="1"/>
          <p:nvPr/>
        </p:nvSpPr>
        <p:spPr>
          <a:xfrm>
            <a:off x="2560320" y="1965960"/>
            <a:ext cx="1645920" cy="320040"/>
          </a:xfrm>
          <a:prstGeom prst="rect">
            <a:avLst/>
          </a:prstGeom>
          <a:noFill/>
        </p:spPr>
        <p:txBody>
          <a:bodyPr wrap="square"/>
          <a:lstStyle/>
          <a:p>
            <a:pPr algn="ctr">
              <a:defRPr sz="1100" b="1">
                <a:solidFill>
                  <a:srgbClr val="FFFFFF"/>
                </a:solidFill>
                <a:latin typeface="Calibri"/>
              </a:defRPr>
            </a:pPr>
            <a:r>
              <a:t>Service</a:t>
            </a:r>
          </a:p>
        </p:txBody>
      </p:sp>
      <p:sp>
        <p:nvSpPr>
          <p:cNvPr id="10" name="TextBox 9"/>
          <p:cNvSpPr txBox="1"/>
          <p:nvPr/>
        </p:nvSpPr>
        <p:spPr>
          <a:xfrm>
            <a:off x="4206240" y="1965960"/>
            <a:ext cx="1188720" cy="320040"/>
          </a:xfrm>
          <a:prstGeom prst="rect">
            <a:avLst/>
          </a:prstGeom>
          <a:noFill/>
        </p:spPr>
        <p:txBody>
          <a:bodyPr wrap="square"/>
          <a:lstStyle/>
          <a:p>
            <a:pPr algn="ctr">
              <a:defRPr sz="1100" b="1">
                <a:solidFill>
                  <a:srgbClr val="FFFFFF"/>
                </a:solidFill>
                <a:latin typeface="Calibri"/>
              </a:defRPr>
            </a:pPr>
            <a:r>
              <a:t>Inherent Risk</a:t>
            </a:r>
          </a:p>
        </p:txBody>
      </p:sp>
      <p:sp>
        <p:nvSpPr>
          <p:cNvPr id="11" name="TextBox 10"/>
          <p:cNvSpPr txBox="1"/>
          <p:nvPr/>
        </p:nvSpPr>
        <p:spPr>
          <a:xfrm>
            <a:off x="5394960" y="1965960"/>
            <a:ext cx="1188720" cy="320040"/>
          </a:xfrm>
          <a:prstGeom prst="rect">
            <a:avLst/>
          </a:prstGeom>
          <a:noFill/>
        </p:spPr>
        <p:txBody>
          <a:bodyPr wrap="square"/>
          <a:lstStyle/>
          <a:p>
            <a:pPr algn="ctr">
              <a:defRPr sz="1100" b="1">
                <a:solidFill>
                  <a:srgbClr val="FFFFFF"/>
                </a:solidFill>
                <a:latin typeface="Calibri"/>
              </a:defRPr>
            </a:pPr>
            <a:r>
              <a:t>Residual Risk</a:t>
            </a:r>
          </a:p>
        </p:txBody>
      </p:sp>
      <p:sp>
        <p:nvSpPr>
          <p:cNvPr id="12" name="TextBox 11"/>
          <p:cNvSpPr txBox="1"/>
          <p:nvPr/>
        </p:nvSpPr>
        <p:spPr>
          <a:xfrm>
            <a:off x="6446520" y="1947672"/>
            <a:ext cx="4572000" cy="320040"/>
          </a:xfrm>
          <a:prstGeom prst="rect">
            <a:avLst/>
          </a:prstGeom>
          <a:noFill/>
        </p:spPr>
        <p:txBody>
          <a:bodyPr wrap="square"/>
          <a:lstStyle/>
          <a:p>
            <a:pPr algn="ctr">
              <a:defRPr sz="1100" b="1">
                <a:solidFill>
                  <a:srgbClr val="FFFFFF"/>
                </a:solidFill>
                <a:latin typeface="Calibri"/>
              </a:defRPr>
            </a:pPr>
            <a:r>
              <a:t>Key Findings</a:t>
            </a:r>
          </a:p>
        </p:txBody>
      </p:sp>
      <p:sp>
        <p:nvSpPr>
          <p:cNvPr id="13" name="TextBox 12"/>
          <p:cNvSpPr txBox="1"/>
          <p:nvPr/>
        </p:nvSpPr>
        <p:spPr>
          <a:xfrm>
            <a:off x="11155680" y="1965960"/>
            <a:ext cx="1188720" cy="320040"/>
          </a:xfrm>
          <a:prstGeom prst="rect">
            <a:avLst/>
          </a:prstGeom>
          <a:noFill/>
        </p:spPr>
        <p:txBody>
          <a:bodyPr wrap="square"/>
          <a:lstStyle/>
          <a:p>
            <a:pPr algn="ctr">
              <a:defRPr sz="1100" b="1">
                <a:solidFill>
                  <a:srgbClr val="FFFFFF"/>
                </a:solidFill>
                <a:latin typeface="Calibri"/>
              </a:defRPr>
            </a:pPr>
            <a:r>
              <a:t>Status</a:t>
            </a:r>
          </a:p>
        </p:txBody>
      </p:sp>
      <p:sp>
        <p:nvSpPr>
          <p:cNvPr id="14" name="Rectangle 13"/>
          <p:cNvSpPr/>
          <p:nvPr/>
        </p:nvSpPr>
        <p:spPr>
          <a:xfrm>
            <a:off x="731520" y="2331720"/>
            <a:ext cx="11612880" cy="68580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404872"/>
            <a:ext cx="1828800" cy="274320"/>
          </a:xfrm>
          <a:prstGeom prst="rect">
            <a:avLst/>
          </a:prstGeom>
          <a:noFill/>
        </p:spPr>
        <p:txBody>
          <a:bodyPr wrap="square"/>
          <a:lstStyle/>
          <a:p>
            <a:pPr algn="l">
              <a:defRPr sz="1200" b="1">
                <a:solidFill>
                  <a:srgbClr val="FFFFFF"/>
                </a:solidFill>
                <a:latin typeface="Calibri"/>
              </a:defRPr>
            </a:pPr>
            <a:r>
              <a:t>McKesson</a:t>
            </a:r>
          </a:p>
        </p:txBody>
      </p:sp>
      <p:sp>
        <p:nvSpPr>
          <p:cNvPr id="16" name="TextBox 15"/>
          <p:cNvSpPr txBox="1"/>
          <p:nvPr/>
        </p:nvSpPr>
        <p:spPr>
          <a:xfrm>
            <a:off x="731520" y="2679192"/>
            <a:ext cx="1828800" cy="274320"/>
          </a:xfrm>
          <a:prstGeom prst="rect">
            <a:avLst/>
          </a:prstGeom>
          <a:noFill/>
        </p:spPr>
        <p:txBody>
          <a:bodyPr wrap="square"/>
          <a:lstStyle/>
          <a:p>
            <a:pPr algn="l">
              <a:defRPr sz="900" b="0">
                <a:solidFill>
                  <a:srgbClr val="A0AEC0"/>
                </a:solidFill>
                <a:latin typeface="Calibri"/>
              </a:defRPr>
            </a:pPr>
            <a:r>
              <a:t>Pharmacy &amp; Supply Chain</a:t>
            </a:r>
          </a:p>
        </p:txBody>
      </p:sp>
      <p:sp>
        <p:nvSpPr>
          <p:cNvPr id="17" name="Rounded Rectangle 16"/>
          <p:cNvSpPr/>
          <p:nvPr/>
        </p:nvSpPr>
        <p:spPr>
          <a:xfrm>
            <a:off x="4343400" y="2496312"/>
            <a:ext cx="914400" cy="320040"/>
          </a:xfrm>
          <a:prstGeom prst="round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HIGH</a:t>
            </a:r>
          </a:p>
        </p:txBody>
      </p:sp>
      <p:sp>
        <p:nvSpPr>
          <p:cNvPr id="18" name="Rounded Rectangle 17"/>
          <p:cNvSpPr/>
          <p:nvPr/>
        </p:nvSpPr>
        <p:spPr>
          <a:xfrm>
            <a:off x="5532120" y="2496312"/>
            <a:ext cx="914400" cy="320040"/>
          </a:xfrm>
          <a:prstGeom prst="round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MEDIUM</a:t>
            </a:r>
          </a:p>
        </p:txBody>
      </p:sp>
      <p:sp>
        <p:nvSpPr>
          <p:cNvPr id="19" name="TextBox 18"/>
          <p:cNvSpPr txBox="1"/>
          <p:nvPr/>
        </p:nvSpPr>
        <p:spPr>
          <a:xfrm>
            <a:off x="6675120" y="2404872"/>
            <a:ext cx="4389120" cy="548640"/>
          </a:xfrm>
          <a:prstGeom prst="rect">
            <a:avLst/>
          </a:prstGeom>
          <a:noFill/>
        </p:spPr>
        <p:txBody>
          <a:bodyPr wrap="square"/>
          <a:lstStyle/>
          <a:p>
            <a:pPr algn="l">
              <a:defRPr sz="1000" b="0">
                <a:solidFill>
                  <a:srgbClr val="E8ECF1"/>
                </a:solidFill>
                <a:latin typeface="Calibri"/>
              </a:defRPr>
            </a:pPr>
            <a:r>
              <a:t>Weak MFA, outdated BAA, shared credentials, no audit logging</a:t>
            </a:r>
          </a:p>
        </p:txBody>
      </p:sp>
      <p:sp>
        <p:nvSpPr>
          <p:cNvPr id="20" name="Rounded Rectangle 19"/>
          <p:cNvSpPr/>
          <p:nvPr/>
        </p:nvSpPr>
        <p:spPr>
          <a:xfrm>
            <a:off x="11247120" y="2496312"/>
            <a:ext cx="100584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Remediated</a:t>
            </a:r>
          </a:p>
        </p:txBody>
      </p:sp>
      <p:sp>
        <p:nvSpPr>
          <p:cNvPr id="21" name="Rectangle 20"/>
          <p:cNvSpPr/>
          <p:nvPr/>
        </p:nvSpPr>
        <p:spPr>
          <a:xfrm>
            <a:off x="731520" y="3063240"/>
            <a:ext cx="11612880" cy="68580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3136392"/>
            <a:ext cx="1828800" cy="274320"/>
          </a:xfrm>
          <a:prstGeom prst="rect">
            <a:avLst/>
          </a:prstGeom>
          <a:noFill/>
        </p:spPr>
        <p:txBody>
          <a:bodyPr wrap="square"/>
          <a:lstStyle/>
          <a:p>
            <a:pPr algn="l">
              <a:defRPr sz="1200" b="1">
                <a:solidFill>
                  <a:srgbClr val="FFFFFF"/>
                </a:solidFill>
                <a:latin typeface="Calibri"/>
              </a:defRPr>
            </a:pPr>
            <a:r>
              <a:t>Veradigm</a:t>
            </a:r>
          </a:p>
        </p:txBody>
      </p:sp>
      <p:sp>
        <p:nvSpPr>
          <p:cNvPr id="23" name="TextBox 22"/>
          <p:cNvSpPr txBox="1"/>
          <p:nvPr/>
        </p:nvSpPr>
        <p:spPr>
          <a:xfrm>
            <a:off x="731520" y="3410712"/>
            <a:ext cx="1828800" cy="274320"/>
          </a:xfrm>
          <a:prstGeom prst="rect">
            <a:avLst/>
          </a:prstGeom>
          <a:noFill/>
        </p:spPr>
        <p:txBody>
          <a:bodyPr wrap="square"/>
          <a:lstStyle/>
          <a:p>
            <a:pPr algn="l">
              <a:defRPr sz="900" b="0">
                <a:solidFill>
                  <a:srgbClr val="A0AEC0"/>
                </a:solidFill>
                <a:latin typeface="Calibri"/>
              </a:defRPr>
            </a:pPr>
            <a:r>
              <a:t>EHR Platform</a:t>
            </a:r>
          </a:p>
        </p:txBody>
      </p:sp>
      <p:sp>
        <p:nvSpPr>
          <p:cNvPr id="24" name="Rounded Rectangle 23"/>
          <p:cNvSpPr/>
          <p:nvPr/>
        </p:nvSpPr>
        <p:spPr>
          <a:xfrm>
            <a:off x="4343400" y="3227832"/>
            <a:ext cx="914400" cy="320040"/>
          </a:xfrm>
          <a:prstGeom prst="round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MEDIUM</a:t>
            </a:r>
          </a:p>
        </p:txBody>
      </p:sp>
      <p:sp>
        <p:nvSpPr>
          <p:cNvPr id="25" name="Rounded Rectangle 24"/>
          <p:cNvSpPr/>
          <p:nvPr/>
        </p:nvSpPr>
        <p:spPr>
          <a:xfrm>
            <a:off x="5532120" y="3227832"/>
            <a:ext cx="914400" cy="320040"/>
          </a:xfrm>
          <a:prstGeom prst="round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LOW</a:t>
            </a:r>
          </a:p>
        </p:txBody>
      </p:sp>
      <p:sp>
        <p:nvSpPr>
          <p:cNvPr id="26" name="TextBox 25"/>
          <p:cNvSpPr txBox="1"/>
          <p:nvPr/>
        </p:nvSpPr>
        <p:spPr>
          <a:xfrm>
            <a:off x="6675120" y="3136392"/>
            <a:ext cx="4389120" cy="548640"/>
          </a:xfrm>
          <a:prstGeom prst="rect">
            <a:avLst/>
          </a:prstGeom>
          <a:noFill/>
        </p:spPr>
        <p:txBody>
          <a:bodyPr wrap="square"/>
          <a:lstStyle/>
          <a:p>
            <a:pPr algn="l">
              <a:defRPr sz="1000" b="0">
                <a:solidFill>
                  <a:srgbClr val="E8ECF1"/>
                </a:solidFill>
                <a:latin typeface="Calibri"/>
              </a:defRPr>
            </a:pPr>
            <a:r>
              <a:t>Session timeout gaps, incomplete BAAs, moderate access controls</a:t>
            </a:r>
          </a:p>
        </p:txBody>
      </p:sp>
      <p:sp>
        <p:nvSpPr>
          <p:cNvPr id="27" name="Rounded Rectangle 26"/>
          <p:cNvSpPr/>
          <p:nvPr/>
        </p:nvSpPr>
        <p:spPr>
          <a:xfrm>
            <a:off x="11247120" y="3227832"/>
            <a:ext cx="100584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Remediated</a:t>
            </a:r>
          </a:p>
        </p:txBody>
      </p:sp>
      <p:sp>
        <p:nvSpPr>
          <p:cNvPr id="28" name="Rectangle 27"/>
          <p:cNvSpPr/>
          <p:nvPr/>
        </p:nvSpPr>
        <p:spPr>
          <a:xfrm>
            <a:off x="731520" y="3794760"/>
            <a:ext cx="11612880" cy="68580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3867912"/>
            <a:ext cx="1828800" cy="274320"/>
          </a:xfrm>
          <a:prstGeom prst="rect">
            <a:avLst/>
          </a:prstGeom>
          <a:noFill/>
        </p:spPr>
        <p:txBody>
          <a:bodyPr wrap="square"/>
          <a:lstStyle/>
          <a:p>
            <a:pPr algn="l">
              <a:defRPr sz="1200" b="1">
                <a:solidFill>
                  <a:srgbClr val="FFFFFF"/>
                </a:solidFill>
                <a:latin typeface="Calibri"/>
              </a:defRPr>
            </a:pPr>
            <a:r>
              <a:t>AWS Healthcare</a:t>
            </a:r>
          </a:p>
        </p:txBody>
      </p:sp>
      <p:sp>
        <p:nvSpPr>
          <p:cNvPr id="30" name="TextBox 29"/>
          <p:cNvSpPr txBox="1"/>
          <p:nvPr/>
        </p:nvSpPr>
        <p:spPr>
          <a:xfrm>
            <a:off x="731520" y="4142232"/>
            <a:ext cx="1828800" cy="274320"/>
          </a:xfrm>
          <a:prstGeom prst="rect">
            <a:avLst/>
          </a:prstGeom>
          <a:noFill/>
        </p:spPr>
        <p:txBody>
          <a:bodyPr wrap="square"/>
          <a:lstStyle/>
          <a:p>
            <a:pPr algn="l">
              <a:defRPr sz="900" b="0">
                <a:solidFill>
                  <a:srgbClr val="A0AEC0"/>
                </a:solidFill>
                <a:latin typeface="Calibri"/>
              </a:defRPr>
            </a:pPr>
            <a:r>
              <a:t>Cloud Infrastructure</a:t>
            </a:r>
          </a:p>
        </p:txBody>
      </p:sp>
      <p:sp>
        <p:nvSpPr>
          <p:cNvPr id="31" name="Rounded Rectangle 30"/>
          <p:cNvSpPr/>
          <p:nvPr/>
        </p:nvSpPr>
        <p:spPr>
          <a:xfrm>
            <a:off x="4343400" y="3959352"/>
            <a:ext cx="914400" cy="320040"/>
          </a:xfrm>
          <a:prstGeom prst="round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LOW</a:t>
            </a:r>
          </a:p>
        </p:txBody>
      </p:sp>
      <p:sp>
        <p:nvSpPr>
          <p:cNvPr id="32" name="Rounded Rectangle 31"/>
          <p:cNvSpPr/>
          <p:nvPr/>
        </p:nvSpPr>
        <p:spPr>
          <a:xfrm>
            <a:off x="5532120" y="3959352"/>
            <a:ext cx="914400" cy="320040"/>
          </a:xfrm>
          <a:prstGeom prst="round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LOW</a:t>
            </a:r>
          </a:p>
        </p:txBody>
      </p:sp>
      <p:sp>
        <p:nvSpPr>
          <p:cNvPr id="33" name="TextBox 32"/>
          <p:cNvSpPr txBox="1"/>
          <p:nvPr/>
        </p:nvSpPr>
        <p:spPr>
          <a:xfrm>
            <a:off x="6675120" y="3867912"/>
            <a:ext cx="4389120" cy="548640"/>
          </a:xfrm>
          <a:prstGeom prst="rect">
            <a:avLst/>
          </a:prstGeom>
          <a:noFill/>
        </p:spPr>
        <p:txBody>
          <a:bodyPr wrap="square"/>
          <a:lstStyle/>
          <a:p>
            <a:pPr algn="l">
              <a:defRPr sz="1000" b="0">
                <a:solidFill>
                  <a:srgbClr val="E8ECF1"/>
                </a:solidFill>
                <a:latin typeface="Calibri"/>
              </a:defRPr>
            </a:pPr>
            <a:r>
              <a:t>Strong SOC 2, HIPAA-ready, encryption at rest, robust IAM</a:t>
            </a:r>
          </a:p>
        </p:txBody>
      </p:sp>
      <p:sp>
        <p:nvSpPr>
          <p:cNvPr id="34" name="Rounded Rectangle 33"/>
          <p:cNvSpPr/>
          <p:nvPr/>
        </p:nvSpPr>
        <p:spPr>
          <a:xfrm>
            <a:off x="11247120" y="3959352"/>
            <a:ext cx="1005840" cy="32004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Accepted</a:t>
            </a:r>
          </a:p>
        </p:txBody>
      </p:sp>
      <p:sp>
        <p:nvSpPr>
          <p:cNvPr id="35" name="Rectangle 34"/>
          <p:cNvSpPr/>
          <p:nvPr/>
        </p:nvSpPr>
        <p:spPr>
          <a:xfrm>
            <a:off x="731520" y="4526280"/>
            <a:ext cx="11612880" cy="68580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599432"/>
            <a:ext cx="1828800" cy="274320"/>
          </a:xfrm>
          <a:prstGeom prst="rect">
            <a:avLst/>
          </a:prstGeom>
          <a:noFill/>
        </p:spPr>
        <p:txBody>
          <a:bodyPr wrap="square"/>
          <a:lstStyle/>
          <a:p>
            <a:pPr algn="l">
              <a:defRPr sz="1200" b="1">
                <a:solidFill>
                  <a:srgbClr val="FFFFFF"/>
                </a:solidFill>
                <a:latin typeface="Calibri"/>
              </a:defRPr>
            </a:pPr>
            <a:r>
              <a:t>Epic Systems</a:t>
            </a:r>
          </a:p>
        </p:txBody>
      </p:sp>
      <p:sp>
        <p:nvSpPr>
          <p:cNvPr id="37" name="TextBox 36"/>
          <p:cNvSpPr txBox="1"/>
          <p:nvPr/>
        </p:nvSpPr>
        <p:spPr>
          <a:xfrm>
            <a:off x="731520" y="4873752"/>
            <a:ext cx="1828800" cy="274320"/>
          </a:xfrm>
          <a:prstGeom prst="rect">
            <a:avLst/>
          </a:prstGeom>
          <a:noFill/>
        </p:spPr>
        <p:txBody>
          <a:bodyPr wrap="square"/>
          <a:lstStyle/>
          <a:p>
            <a:pPr algn="l">
              <a:defRPr sz="900" b="0">
                <a:solidFill>
                  <a:srgbClr val="A0AEC0"/>
                </a:solidFill>
                <a:latin typeface="Calibri"/>
              </a:defRPr>
            </a:pPr>
            <a:r>
              <a:t>EHR Integration</a:t>
            </a:r>
          </a:p>
        </p:txBody>
      </p:sp>
      <p:sp>
        <p:nvSpPr>
          <p:cNvPr id="38" name="Rounded Rectangle 37"/>
          <p:cNvSpPr/>
          <p:nvPr/>
        </p:nvSpPr>
        <p:spPr>
          <a:xfrm>
            <a:off x="4343400" y="4690872"/>
            <a:ext cx="914400" cy="320040"/>
          </a:xfrm>
          <a:prstGeom prst="round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LOW</a:t>
            </a:r>
          </a:p>
        </p:txBody>
      </p:sp>
      <p:sp>
        <p:nvSpPr>
          <p:cNvPr id="39" name="Rounded Rectangle 38"/>
          <p:cNvSpPr/>
          <p:nvPr/>
        </p:nvSpPr>
        <p:spPr>
          <a:xfrm>
            <a:off x="5532120" y="4690872"/>
            <a:ext cx="914400" cy="320040"/>
          </a:xfrm>
          <a:prstGeom prst="round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LOW</a:t>
            </a:r>
          </a:p>
        </p:txBody>
      </p:sp>
      <p:sp>
        <p:nvSpPr>
          <p:cNvPr id="40" name="TextBox 39"/>
          <p:cNvSpPr txBox="1"/>
          <p:nvPr/>
        </p:nvSpPr>
        <p:spPr>
          <a:xfrm>
            <a:off x="6675120" y="4599432"/>
            <a:ext cx="4389120" cy="548640"/>
          </a:xfrm>
          <a:prstGeom prst="rect">
            <a:avLst/>
          </a:prstGeom>
          <a:noFill/>
        </p:spPr>
        <p:txBody>
          <a:bodyPr wrap="square"/>
          <a:lstStyle/>
          <a:p>
            <a:pPr algn="l">
              <a:defRPr sz="1000" b="0">
                <a:solidFill>
                  <a:srgbClr val="E8ECF1"/>
                </a:solidFill>
                <a:latin typeface="Calibri"/>
              </a:defRPr>
            </a:pPr>
            <a:r>
              <a:t>Compliant BAA, MFA enforced, audit trails, breach notification SLA</a:t>
            </a:r>
          </a:p>
        </p:txBody>
      </p:sp>
      <p:sp>
        <p:nvSpPr>
          <p:cNvPr id="41" name="Rounded Rectangle 40"/>
          <p:cNvSpPr/>
          <p:nvPr/>
        </p:nvSpPr>
        <p:spPr>
          <a:xfrm>
            <a:off x="11247120" y="4690872"/>
            <a:ext cx="1005840" cy="32004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Accepted</a:t>
            </a:r>
          </a:p>
        </p:txBody>
      </p:sp>
      <p:sp>
        <p:nvSpPr>
          <p:cNvPr id="42" name="Rounded Rectangle 41"/>
          <p:cNvSpPr/>
          <p:nvPr/>
        </p:nvSpPr>
        <p:spPr>
          <a:xfrm>
            <a:off x="731520" y="5212080"/>
            <a:ext cx="11612880" cy="109728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31520" y="5212080"/>
            <a:ext cx="1161288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05840" y="5349240"/>
            <a:ext cx="11155680" cy="914400"/>
          </a:xfrm>
          <a:prstGeom prst="rect">
            <a:avLst/>
          </a:prstGeom>
          <a:noFill/>
        </p:spPr>
        <p:txBody>
          <a:bodyPr wrap="square"/>
          <a:lstStyle/>
          <a:p>
            <a:pPr algn="l">
              <a:defRPr sz="1200" b="1">
                <a:solidFill>
                  <a:srgbClr val="00B4D8"/>
                </a:solidFill>
                <a:latin typeface="Calibri"/>
              </a:defRPr>
            </a:pPr>
            <a:r>
              <a:t>Risk Acceptance &amp; Residual Risk Statement</a:t>
            </a:r>
          </a:p>
          <a:p>
            <a:pPr algn="l">
              <a:spcBef>
                <a:spcPts val="400"/>
              </a:spcBef>
              <a:spcAft>
                <a:spcPts val="200"/>
              </a:spcAft>
              <a:defRPr sz="1000" b="0">
                <a:solidFill>
                  <a:srgbClr val="E8ECF1"/>
                </a:solidFill>
                <a:latin typeface="Calibri"/>
              </a:defRPr>
            </a:pPr>
            <a:r>
              <a:t>All residual risks have been reviewed and formally accepted by the CISO and Compliance Officer. McKesson's residual Medium risk is mitigated through enhanced monitoring and quarterly reassessment. AWS Healthcare and Epic Systems present Low residual risk with no further action required. Veradigm's risk has been reduced to Low following session timeout enforcement and BAA updates.</a:t>
            </a:r>
          </a:p>
        </p:txBody>
      </p:sp>
      <p:sp>
        <p:nvSpPr>
          <p:cNvPr id="45" name="Rectangle 44"/>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4/12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COMPLIANCE ASSESSMENT</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HIPAA Compliance Gap Analysis</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Identified gaps, regulatory exposure, remediation status &amp; compliance scoring</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011680"/>
            <a:ext cx="5303520" cy="201168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011680"/>
            <a:ext cx="54864" cy="201168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103120"/>
            <a:ext cx="4983480" cy="320040"/>
          </a:xfrm>
          <a:prstGeom prst="rect">
            <a:avLst/>
          </a:prstGeom>
          <a:noFill/>
        </p:spPr>
        <p:txBody>
          <a:bodyPr wrap="square"/>
          <a:lstStyle/>
          <a:p>
            <a:pPr algn="l">
              <a:defRPr sz="1300" b="1">
                <a:solidFill>
                  <a:srgbClr val="FFFFFF"/>
                </a:solidFill>
                <a:latin typeface="Calibri"/>
              </a:defRPr>
            </a:pPr>
            <a:r>
              <a:t>Gaps Remediated (3 of 5)</a:t>
            </a:r>
          </a:p>
        </p:txBody>
      </p:sp>
      <p:sp>
        <p:nvSpPr>
          <p:cNvPr id="10" name="TextBox 9"/>
          <p:cNvSpPr txBox="1"/>
          <p:nvPr/>
        </p:nvSpPr>
        <p:spPr>
          <a:xfrm>
            <a:off x="960120" y="2423160"/>
            <a:ext cx="4983480" cy="1508760"/>
          </a:xfrm>
          <a:prstGeom prst="rect">
            <a:avLst/>
          </a:prstGeom>
          <a:noFill/>
        </p:spPr>
        <p:txBody>
          <a:bodyPr wrap="square">
            <a:spAutoFit/>
          </a:bodyPr>
          <a:lstStyle/>
          <a:p>
            <a:pPr>
              <a:spcBef>
                <a:spcPts val="300"/>
              </a:spcBef>
              <a:spcAft>
                <a:spcPts val="200"/>
              </a:spcAft>
              <a:defRPr sz="1000">
                <a:solidFill>
                  <a:srgbClr val="E8ECF1"/>
                </a:solidFill>
                <a:latin typeface="Calibri"/>
              </a:defRPr>
            </a:pPr>
            <a:r>
              <a:t>• MFA Enforcement - McKesson: MFA now mandatory for all remote and privileged access; aligned with NIST 800-63B</a:t>
            </a:r>
          </a:p>
          <a:p>
            <a:pPr>
              <a:spcBef>
                <a:spcPts val="300"/>
              </a:spcBef>
              <a:spcAft>
                <a:spcPts val="200"/>
              </a:spcAft>
              <a:defRPr sz="1000">
                <a:solidFill>
                  <a:srgbClr val="E8ECF1"/>
                </a:solidFill>
                <a:latin typeface="Calibri"/>
              </a:defRPr>
            </a:pPr>
            <a:r>
              <a:t>• BAA/Omnibus Clause Updates - McKesson &amp; Veradigm: BAAs updated with Omnibus Rule provisions, breach notification timelines, and subcontractor flow-down requirements</a:t>
            </a:r>
          </a:p>
          <a:p>
            <a:pPr>
              <a:spcBef>
                <a:spcPts val="300"/>
              </a:spcBef>
              <a:spcAft>
                <a:spcPts val="200"/>
              </a:spcAft>
              <a:defRPr sz="1000">
                <a:solidFill>
                  <a:srgbClr val="E8ECF1"/>
                </a:solidFill>
                <a:latin typeface="Calibri"/>
              </a:defRPr>
            </a:pPr>
            <a:r>
              <a:t>• Access Control Hardening - Role-based access controls (RBAC) implemented; shared credentials eliminated; session timeout set to 15 minutes</a:t>
            </a:r>
          </a:p>
        </p:txBody>
      </p:sp>
      <p:sp>
        <p:nvSpPr>
          <p:cNvPr id="11" name="Rounded Rectangle 10"/>
          <p:cNvSpPr/>
          <p:nvPr/>
        </p:nvSpPr>
        <p:spPr>
          <a:xfrm>
            <a:off x="6309360" y="2011680"/>
            <a:ext cx="5120640" cy="201168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2011680"/>
            <a:ext cx="54864" cy="201168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2103120"/>
            <a:ext cx="4800600" cy="320040"/>
          </a:xfrm>
          <a:prstGeom prst="rect">
            <a:avLst/>
          </a:prstGeom>
          <a:noFill/>
        </p:spPr>
        <p:txBody>
          <a:bodyPr wrap="square"/>
          <a:lstStyle/>
          <a:p>
            <a:pPr algn="l">
              <a:defRPr sz="1300" b="1">
                <a:solidFill>
                  <a:srgbClr val="FFFFFF"/>
                </a:solidFill>
                <a:latin typeface="Calibri"/>
              </a:defRPr>
            </a:pPr>
            <a:r>
              <a:t>Gaps In Progress (2 of 5)</a:t>
            </a:r>
          </a:p>
        </p:txBody>
      </p:sp>
      <p:sp>
        <p:nvSpPr>
          <p:cNvPr id="14" name="TextBox 13"/>
          <p:cNvSpPr txBox="1"/>
          <p:nvPr/>
        </p:nvSpPr>
        <p:spPr>
          <a:xfrm>
            <a:off x="6537960" y="2423160"/>
            <a:ext cx="4800600" cy="1508760"/>
          </a:xfrm>
          <a:prstGeom prst="rect">
            <a:avLst/>
          </a:prstGeom>
          <a:noFill/>
        </p:spPr>
        <p:txBody>
          <a:bodyPr wrap="square">
            <a:spAutoFit/>
          </a:bodyPr>
          <a:lstStyle/>
          <a:p>
            <a:pPr>
              <a:spcBef>
                <a:spcPts val="300"/>
              </a:spcBef>
              <a:spcAft>
                <a:spcPts val="200"/>
              </a:spcAft>
              <a:defRPr sz="1000">
                <a:solidFill>
                  <a:srgbClr val="E8ECF1"/>
                </a:solidFill>
                <a:latin typeface="Calibri"/>
              </a:defRPr>
            </a:pPr>
            <a:r>
              <a:t>• SIEM Integration &amp; Audit Logging - Centralized logging not yet deployed; vendor audit trails remain siloed; target: Q1 2027</a:t>
            </a:r>
          </a:p>
          <a:p>
            <a:pPr>
              <a:spcBef>
                <a:spcPts val="300"/>
              </a:spcBef>
              <a:spcAft>
                <a:spcPts val="200"/>
              </a:spcAft>
              <a:defRPr sz="1000">
                <a:solidFill>
                  <a:srgbClr val="E8ECF1"/>
                </a:solidFill>
                <a:latin typeface="Calibri"/>
              </a:defRPr>
            </a:pPr>
            <a:r>
              <a:t>• Breach Notification SLA - Formal SLA with 24-hour notification window not yet contractually binding for all vendors; target: Q1 2027</a:t>
            </a:r>
          </a:p>
        </p:txBody>
      </p:sp>
      <p:sp>
        <p:nvSpPr>
          <p:cNvPr id="15" name="Rounded Rectangle 14"/>
          <p:cNvSpPr/>
          <p:nvPr/>
        </p:nvSpPr>
        <p:spPr>
          <a:xfrm>
            <a:off x="731520" y="4251960"/>
            <a:ext cx="10698480" cy="210312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251960"/>
            <a:ext cx="10698480" cy="457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389120"/>
            <a:ext cx="10241280" cy="320040"/>
          </a:xfrm>
          <a:prstGeom prst="rect">
            <a:avLst/>
          </a:prstGeom>
          <a:noFill/>
        </p:spPr>
        <p:txBody>
          <a:bodyPr wrap="square"/>
          <a:lstStyle/>
          <a:p>
            <a:pPr algn="l">
              <a:defRPr sz="1300" b="1">
                <a:solidFill>
                  <a:srgbClr val="00B4D8"/>
                </a:solidFill>
                <a:latin typeface="Calibri"/>
              </a:defRPr>
            </a:pPr>
            <a:r>
              <a:t>Compliance Score by HIPAA Safeguard Category</a:t>
            </a:r>
          </a:p>
        </p:txBody>
      </p:sp>
      <p:sp>
        <p:nvSpPr>
          <p:cNvPr id="18" name="Rounded Rectangle 17"/>
          <p:cNvSpPr/>
          <p:nvPr/>
        </p:nvSpPr>
        <p:spPr>
          <a:xfrm>
            <a:off x="1005840" y="4846320"/>
            <a:ext cx="192024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05840" y="4846320"/>
            <a:ext cx="1920240" cy="4572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4983480"/>
            <a:ext cx="1737360" cy="457200"/>
          </a:xfrm>
          <a:prstGeom prst="rect">
            <a:avLst/>
          </a:prstGeom>
          <a:noFill/>
        </p:spPr>
        <p:txBody>
          <a:bodyPr wrap="square"/>
          <a:lstStyle/>
          <a:p>
            <a:pPr algn="ctr">
              <a:defRPr sz="2600" b="1">
                <a:solidFill>
                  <a:srgbClr val="00C896"/>
                </a:solidFill>
                <a:latin typeface="Calibri"/>
              </a:defRPr>
            </a:pPr>
            <a:r>
              <a:t>95%</a:t>
            </a:r>
          </a:p>
        </p:txBody>
      </p:sp>
      <p:sp>
        <p:nvSpPr>
          <p:cNvPr id="21" name="TextBox 20"/>
          <p:cNvSpPr txBox="1"/>
          <p:nvPr/>
        </p:nvSpPr>
        <p:spPr>
          <a:xfrm>
            <a:off x="1097280" y="5440680"/>
            <a:ext cx="1737360" cy="548640"/>
          </a:xfrm>
          <a:prstGeom prst="rect">
            <a:avLst/>
          </a:prstGeom>
          <a:noFill/>
        </p:spPr>
        <p:txBody>
          <a:bodyPr wrap="square"/>
          <a:lstStyle/>
          <a:p>
            <a:pPr algn="ctr">
              <a:defRPr sz="1000" b="0">
                <a:solidFill>
                  <a:srgbClr val="E8ECF1"/>
                </a:solidFill>
                <a:latin typeface="Calibri"/>
              </a:defRPr>
            </a:pPr>
            <a:r>
              <a:t>Administrative Safeguards</a:t>
            </a:r>
          </a:p>
        </p:txBody>
      </p:sp>
      <p:sp>
        <p:nvSpPr>
          <p:cNvPr id="22" name="Rounded Rectangle 21"/>
          <p:cNvSpPr/>
          <p:nvPr/>
        </p:nvSpPr>
        <p:spPr>
          <a:xfrm>
            <a:off x="3108960" y="4846320"/>
            <a:ext cx="192024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108960" y="4846320"/>
            <a:ext cx="1920240" cy="4572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0" y="4983480"/>
            <a:ext cx="1737360" cy="457200"/>
          </a:xfrm>
          <a:prstGeom prst="rect">
            <a:avLst/>
          </a:prstGeom>
          <a:noFill/>
        </p:spPr>
        <p:txBody>
          <a:bodyPr wrap="square"/>
          <a:lstStyle/>
          <a:p>
            <a:pPr algn="ctr">
              <a:defRPr sz="2600" b="1">
                <a:solidFill>
                  <a:srgbClr val="00C896"/>
                </a:solidFill>
                <a:latin typeface="Calibri"/>
              </a:defRPr>
            </a:pPr>
            <a:r>
              <a:t>88%</a:t>
            </a:r>
          </a:p>
        </p:txBody>
      </p:sp>
      <p:sp>
        <p:nvSpPr>
          <p:cNvPr id="25" name="TextBox 24"/>
          <p:cNvSpPr txBox="1"/>
          <p:nvPr/>
        </p:nvSpPr>
        <p:spPr>
          <a:xfrm>
            <a:off x="3200400" y="5440680"/>
            <a:ext cx="1737360" cy="548640"/>
          </a:xfrm>
          <a:prstGeom prst="rect">
            <a:avLst/>
          </a:prstGeom>
          <a:noFill/>
        </p:spPr>
        <p:txBody>
          <a:bodyPr wrap="square"/>
          <a:lstStyle/>
          <a:p>
            <a:pPr algn="ctr">
              <a:defRPr sz="1000" b="0">
                <a:solidFill>
                  <a:srgbClr val="E8ECF1"/>
                </a:solidFill>
                <a:latin typeface="Calibri"/>
              </a:defRPr>
            </a:pPr>
            <a:r>
              <a:t>Physical Safeguards</a:t>
            </a:r>
          </a:p>
        </p:txBody>
      </p:sp>
      <p:sp>
        <p:nvSpPr>
          <p:cNvPr id="26" name="Rounded Rectangle 25"/>
          <p:cNvSpPr/>
          <p:nvPr/>
        </p:nvSpPr>
        <p:spPr>
          <a:xfrm>
            <a:off x="5212080" y="4846320"/>
            <a:ext cx="192024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212080" y="4846320"/>
            <a:ext cx="192024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0" y="4983480"/>
            <a:ext cx="1737360" cy="457200"/>
          </a:xfrm>
          <a:prstGeom prst="rect">
            <a:avLst/>
          </a:prstGeom>
          <a:noFill/>
        </p:spPr>
        <p:txBody>
          <a:bodyPr wrap="square"/>
          <a:lstStyle/>
          <a:p>
            <a:pPr algn="ctr">
              <a:defRPr sz="2600" b="1">
                <a:solidFill>
                  <a:srgbClr val="00B4D8"/>
                </a:solidFill>
                <a:latin typeface="Calibri"/>
              </a:defRPr>
            </a:pPr>
            <a:r>
              <a:t>85%</a:t>
            </a:r>
          </a:p>
        </p:txBody>
      </p:sp>
      <p:sp>
        <p:nvSpPr>
          <p:cNvPr id="29" name="TextBox 28"/>
          <p:cNvSpPr txBox="1"/>
          <p:nvPr/>
        </p:nvSpPr>
        <p:spPr>
          <a:xfrm>
            <a:off x="5303520" y="5440680"/>
            <a:ext cx="1737360" cy="548640"/>
          </a:xfrm>
          <a:prstGeom prst="rect">
            <a:avLst/>
          </a:prstGeom>
          <a:noFill/>
        </p:spPr>
        <p:txBody>
          <a:bodyPr wrap="square"/>
          <a:lstStyle/>
          <a:p>
            <a:pPr algn="ctr">
              <a:defRPr sz="1000" b="0">
                <a:solidFill>
                  <a:srgbClr val="E8ECF1"/>
                </a:solidFill>
                <a:latin typeface="Calibri"/>
              </a:defRPr>
            </a:pPr>
            <a:r>
              <a:t>Technical Safeguards</a:t>
            </a:r>
          </a:p>
        </p:txBody>
      </p:sp>
      <p:sp>
        <p:nvSpPr>
          <p:cNvPr id="30" name="Rounded Rectangle 29"/>
          <p:cNvSpPr/>
          <p:nvPr/>
        </p:nvSpPr>
        <p:spPr>
          <a:xfrm>
            <a:off x="7315200" y="4846320"/>
            <a:ext cx="192024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315200" y="4846320"/>
            <a:ext cx="1920240" cy="4572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06640" y="4983480"/>
            <a:ext cx="1737360" cy="457200"/>
          </a:xfrm>
          <a:prstGeom prst="rect">
            <a:avLst/>
          </a:prstGeom>
          <a:noFill/>
        </p:spPr>
        <p:txBody>
          <a:bodyPr wrap="square"/>
          <a:lstStyle/>
          <a:p>
            <a:pPr algn="ctr">
              <a:defRPr sz="2600" b="1">
                <a:solidFill>
                  <a:srgbClr val="FFB020"/>
                </a:solidFill>
                <a:latin typeface="Calibri"/>
              </a:defRPr>
            </a:pPr>
            <a:r>
              <a:t>78%</a:t>
            </a:r>
          </a:p>
        </p:txBody>
      </p:sp>
      <p:sp>
        <p:nvSpPr>
          <p:cNvPr id="33" name="TextBox 32"/>
          <p:cNvSpPr txBox="1"/>
          <p:nvPr/>
        </p:nvSpPr>
        <p:spPr>
          <a:xfrm>
            <a:off x="7406640" y="5440680"/>
            <a:ext cx="1737360" cy="548640"/>
          </a:xfrm>
          <a:prstGeom prst="rect">
            <a:avLst/>
          </a:prstGeom>
          <a:noFill/>
        </p:spPr>
        <p:txBody>
          <a:bodyPr wrap="square"/>
          <a:lstStyle/>
          <a:p>
            <a:pPr algn="ctr">
              <a:defRPr sz="1000" b="0">
                <a:solidFill>
                  <a:srgbClr val="E8ECF1"/>
                </a:solidFill>
                <a:latin typeface="Calibri"/>
              </a:defRPr>
            </a:pPr>
            <a:r>
              <a:t>Breach Notification Rule</a:t>
            </a:r>
          </a:p>
        </p:txBody>
      </p:sp>
      <p:sp>
        <p:nvSpPr>
          <p:cNvPr id="34" name="Rounded Rectangle 33"/>
          <p:cNvSpPr/>
          <p:nvPr/>
        </p:nvSpPr>
        <p:spPr>
          <a:xfrm>
            <a:off x="9418320" y="4846320"/>
            <a:ext cx="192024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418320" y="4846320"/>
            <a:ext cx="1920240" cy="4572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509760" y="4983480"/>
            <a:ext cx="1737360" cy="457200"/>
          </a:xfrm>
          <a:prstGeom prst="rect">
            <a:avLst/>
          </a:prstGeom>
          <a:noFill/>
        </p:spPr>
        <p:txBody>
          <a:bodyPr wrap="square"/>
          <a:lstStyle/>
          <a:p>
            <a:pPr algn="ctr">
              <a:defRPr sz="2600" b="1">
                <a:solidFill>
                  <a:srgbClr val="00C896"/>
                </a:solidFill>
                <a:latin typeface="Calibri"/>
              </a:defRPr>
            </a:pPr>
            <a:r>
              <a:t>92%</a:t>
            </a:r>
          </a:p>
        </p:txBody>
      </p:sp>
      <p:sp>
        <p:nvSpPr>
          <p:cNvPr id="37" name="TextBox 36"/>
          <p:cNvSpPr txBox="1"/>
          <p:nvPr/>
        </p:nvSpPr>
        <p:spPr>
          <a:xfrm>
            <a:off x="9509760" y="5440680"/>
            <a:ext cx="1737360" cy="548640"/>
          </a:xfrm>
          <a:prstGeom prst="rect">
            <a:avLst/>
          </a:prstGeom>
          <a:noFill/>
        </p:spPr>
        <p:txBody>
          <a:bodyPr wrap="square"/>
          <a:lstStyle/>
          <a:p>
            <a:pPr algn="ctr">
              <a:defRPr sz="1000" b="0">
                <a:solidFill>
                  <a:srgbClr val="E8ECF1"/>
                </a:solidFill>
                <a:latin typeface="Calibri"/>
              </a:defRPr>
            </a:pPr>
            <a:r>
              <a:t>Overall Compliance Score</a:t>
            </a:r>
          </a:p>
        </p:txBody>
      </p:sp>
      <p:sp>
        <p:nvSpPr>
          <p:cNvPr id="38" name="Rectangle 37"/>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5/12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REMEDIATION TRACKING</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Remediation Status &amp; Results</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Action items, closure evidence, and outstanding remediation plan</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920240"/>
            <a:ext cx="11155680" cy="36576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65960"/>
            <a:ext cx="457200" cy="274320"/>
          </a:xfrm>
          <a:prstGeom prst="rect">
            <a:avLst/>
          </a:prstGeom>
          <a:noFill/>
        </p:spPr>
        <p:txBody>
          <a:bodyPr wrap="square"/>
          <a:lstStyle/>
          <a:p>
            <a:pPr algn="ctr">
              <a:defRPr sz="1000" b="1">
                <a:solidFill>
                  <a:srgbClr val="FFFFFF"/>
                </a:solidFill>
                <a:latin typeface="Calibri"/>
              </a:defRPr>
            </a:pPr>
            <a:r>
              <a:t>#</a:t>
            </a:r>
          </a:p>
        </p:txBody>
      </p:sp>
      <p:sp>
        <p:nvSpPr>
          <p:cNvPr id="9" name="TextBox 8"/>
          <p:cNvSpPr txBox="1"/>
          <p:nvPr/>
        </p:nvSpPr>
        <p:spPr>
          <a:xfrm>
            <a:off x="1188720" y="1965960"/>
            <a:ext cx="3200400" cy="274320"/>
          </a:xfrm>
          <a:prstGeom prst="rect">
            <a:avLst/>
          </a:prstGeom>
          <a:noFill/>
        </p:spPr>
        <p:txBody>
          <a:bodyPr wrap="square"/>
          <a:lstStyle/>
          <a:p>
            <a:pPr algn="ctr">
              <a:defRPr sz="1000" b="1">
                <a:solidFill>
                  <a:srgbClr val="FFFFFF"/>
                </a:solidFill>
                <a:latin typeface="Calibri"/>
              </a:defRPr>
            </a:pPr>
            <a:r>
              <a:t>Remediation Action</a:t>
            </a:r>
          </a:p>
        </p:txBody>
      </p:sp>
      <p:sp>
        <p:nvSpPr>
          <p:cNvPr id="10" name="TextBox 9"/>
          <p:cNvSpPr txBox="1"/>
          <p:nvPr/>
        </p:nvSpPr>
        <p:spPr>
          <a:xfrm>
            <a:off x="4389120" y="1965960"/>
            <a:ext cx="1645920" cy="274320"/>
          </a:xfrm>
          <a:prstGeom prst="rect">
            <a:avLst/>
          </a:prstGeom>
          <a:noFill/>
        </p:spPr>
        <p:txBody>
          <a:bodyPr wrap="square"/>
          <a:lstStyle/>
          <a:p>
            <a:pPr algn="ctr">
              <a:defRPr sz="1000" b="1">
                <a:solidFill>
                  <a:srgbClr val="FFFFFF"/>
                </a:solidFill>
                <a:latin typeface="Calibri"/>
              </a:defRPr>
            </a:pPr>
            <a:r>
              <a:t>Vendor</a:t>
            </a:r>
          </a:p>
        </p:txBody>
      </p:sp>
      <p:sp>
        <p:nvSpPr>
          <p:cNvPr id="11" name="TextBox 10"/>
          <p:cNvSpPr txBox="1"/>
          <p:nvPr/>
        </p:nvSpPr>
        <p:spPr>
          <a:xfrm>
            <a:off x="6035040" y="1965960"/>
            <a:ext cx="914400" cy="274320"/>
          </a:xfrm>
          <a:prstGeom prst="rect">
            <a:avLst/>
          </a:prstGeom>
          <a:noFill/>
        </p:spPr>
        <p:txBody>
          <a:bodyPr wrap="square"/>
          <a:lstStyle/>
          <a:p>
            <a:pPr algn="ctr">
              <a:defRPr sz="1000" b="1">
                <a:solidFill>
                  <a:srgbClr val="FFFFFF"/>
                </a:solidFill>
                <a:latin typeface="Calibri"/>
              </a:defRPr>
            </a:pPr>
            <a:r>
              <a:t>Priority</a:t>
            </a:r>
          </a:p>
        </p:txBody>
      </p:sp>
      <p:sp>
        <p:nvSpPr>
          <p:cNvPr id="12" name="TextBox 11"/>
          <p:cNvSpPr txBox="1"/>
          <p:nvPr/>
        </p:nvSpPr>
        <p:spPr>
          <a:xfrm>
            <a:off x="6949440" y="1965960"/>
            <a:ext cx="1097280" cy="274320"/>
          </a:xfrm>
          <a:prstGeom prst="rect">
            <a:avLst/>
          </a:prstGeom>
          <a:noFill/>
        </p:spPr>
        <p:txBody>
          <a:bodyPr wrap="square"/>
          <a:lstStyle/>
          <a:p>
            <a:pPr algn="ctr">
              <a:defRPr sz="1000" b="1">
                <a:solidFill>
                  <a:srgbClr val="FFFFFF"/>
                </a:solidFill>
                <a:latin typeface="Calibri"/>
              </a:defRPr>
            </a:pPr>
            <a:r>
              <a:t>Status</a:t>
            </a:r>
          </a:p>
        </p:txBody>
      </p:sp>
      <p:sp>
        <p:nvSpPr>
          <p:cNvPr id="13" name="TextBox 12"/>
          <p:cNvSpPr txBox="1"/>
          <p:nvPr/>
        </p:nvSpPr>
        <p:spPr>
          <a:xfrm>
            <a:off x="8046720" y="1965960"/>
            <a:ext cx="2468880" cy="274320"/>
          </a:xfrm>
          <a:prstGeom prst="rect">
            <a:avLst/>
          </a:prstGeom>
          <a:noFill/>
        </p:spPr>
        <p:txBody>
          <a:bodyPr wrap="square"/>
          <a:lstStyle/>
          <a:p>
            <a:pPr algn="ctr">
              <a:defRPr sz="1000" b="1">
                <a:solidFill>
                  <a:srgbClr val="FFFFFF"/>
                </a:solidFill>
                <a:latin typeface="Calibri"/>
              </a:defRPr>
            </a:pPr>
            <a:r>
              <a:t>Evidence</a:t>
            </a:r>
          </a:p>
        </p:txBody>
      </p:sp>
      <p:sp>
        <p:nvSpPr>
          <p:cNvPr id="14" name="TextBox 13"/>
          <p:cNvSpPr txBox="1"/>
          <p:nvPr/>
        </p:nvSpPr>
        <p:spPr>
          <a:xfrm>
            <a:off x="10515600" y="1965960"/>
            <a:ext cx="1371600" cy="274320"/>
          </a:xfrm>
          <a:prstGeom prst="rect">
            <a:avLst/>
          </a:prstGeom>
          <a:noFill/>
        </p:spPr>
        <p:txBody>
          <a:bodyPr wrap="square"/>
          <a:lstStyle/>
          <a:p>
            <a:pPr algn="ctr">
              <a:defRPr sz="1000" b="1">
                <a:solidFill>
                  <a:srgbClr val="FFFFFF"/>
                </a:solidFill>
                <a:latin typeface="Calibri"/>
              </a:defRPr>
            </a:pPr>
            <a:r>
              <a:t>Target Date</a:t>
            </a:r>
          </a:p>
        </p:txBody>
      </p:sp>
      <p:sp>
        <p:nvSpPr>
          <p:cNvPr id="15" name="Rectangle 14"/>
          <p:cNvSpPr/>
          <p:nvPr/>
        </p:nvSpPr>
        <p:spPr>
          <a:xfrm>
            <a:off x="731520" y="2286000"/>
            <a:ext cx="11155680" cy="50292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2331720"/>
            <a:ext cx="365760" cy="411480"/>
          </a:xfrm>
          <a:prstGeom prst="rect">
            <a:avLst/>
          </a:prstGeom>
          <a:noFill/>
        </p:spPr>
        <p:txBody>
          <a:bodyPr wrap="square"/>
          <a:lstStyle/>
          <a:p>
            <a:pPr algn="ctr">
              <a:defRPr sz="900" b="0">
                <a:solidFill>
                  <a:srgbClr val="E8ECF1"/>
                </a:solidFill>
                <a:latin typeface="Calibri"/>
              </a:defRPr>
            </a:pPr>
            <a:r>
              <a:t>1</a:t>
            </a:r>
          </a:p>
        </p:txBody>
      </p:sp>
      <p:sp>
        <p:nvSpPr>
          <p:cNvPr id="17" name="TextBox 16"/>
          <p:cNvSpPr txBox="1"/>
          <p:nvPr/>
        </p:nvSpPr>
        <p:spPr>
          <a:xfrm>
            <a:off x="1234440" y="2331720"/>
            <a:ext cx="3108960" cy="411480"/>
          </a:xfrm>
          <a:prstGeom prst="rect">
            <a:avLst/>
          </a:prstGeom>
          <a:noFill/>
        </p:spPr>
        <p:txBody>
          <a:bodyPr wrap="square"/>
          <a:lstStyle/>
          <a:p>
            <a:pPr algn="l">
              <a:defRPr sz="900" b="0">
                <a:solidFill>
                  <a:srgbClr val="E8ECF1"/>
                </a:solidFill>
                <a:latin typeface="Calibri"/>
              </a:defRPr>
            </a:pPr>
            <a:r>
              <a:t>Enforce MFA for all remote access</a:t>
            </a:r>
          </a:p>
        </p:txBody>
      </p:sp>
      <p:sp>
        <p:nvSpPr>
          <p:cNvPr id="18" name="TextBox 17"/>
          <p:cNvSpPr txBox="1"/>
          <p:nvPr/>
        </p:nvSpPr>
        <p:spPr>
          <a:xfrm>
            <a:off x="4434840" y="2331720"/>
            <a:ext cx="1554480" cy="411480"/>
          </a:xfrm>
          <a:prstGeom prst="rect">
            <a:avLst/>
          </a:prstGeom>
          <a:noFill/>
        </p:spPr>
        <p:txBody>
          <a:bodyPr wrap="square"/>
          <a:lstStyle/>
          <a:p>
            <a:pPr algn="ctr">
              <a:defRPr sz="900" b="0">
                <a:solidFill>
                  <a:srgbClr val="E8ECF1"/>
                </a:solidFill>
                <a:latin typeface="Calibri"/>
              </a:defRPr>
            </a:pPr>
            <a:r>
              <a:t>McKesson</a:t>
            </a:r>
          </a:p>
        </p:txBody>
      </p:sp>
      <p:sp>
        <p:nvSpPr>
          <p:cNvPr id="19" name="TextBox 18"/>
          <p:cNvSpPr txBox="1"/>
          <p:nvPr/>
        </p:nvSpPr>
        <p:spPr>
          <a:xfrm>
            <a:off x="6080760" y="2331720"/>
            <a:ext cx="822960" cy="411480"/>
          </a:xfrm>
          <a:prstGeom prst="rect">
            <a:avLst/>
          </a:prstGeom>
          <a:noFill/>
        </p:spPr>
        <p:txBody>
          <a:bodyPr wrap="square"/>
          <a:lstStyle/>
          <a:p>
            <a:pPr algn="ctr">
              <a:defRPr sz="900" b="0">
                <a:solidFill>
                  <a:srgbClr val="FF4D4D"/>
                </a:solidFill>
                <a:latin typeface="Calibri"/>
              </a:defRPr>
            </a:pPr>
            <a:r>
              <a:t>HIGH</a:t>
            </a:r>
          </a:p>
        </p:txBody>
      </p:sp>
      <p:sp>
        <p:nvSpPr>
          <p:cNvPr id="20" name="TextBox 19"/>
          <p:cNvSpPr txBox="1"/>
          <p:nvPr/>
        </p:nvSpPr>
        <p:spPr>
          <a:xfrm>
            <a:off x="6995160" y="2331720"/>
            <a:ext cx="1005840" cy="411480"/>
          </a:xfrm>
          <a:prstGeom prst="rect">
            <a:avLst/>
          </a:prstGeom>
          <a:noFill/>
        </p:spPr>
        <p:txBody>
          <a:bodyPr wrap="square"/>
          <a:lstStyle/>
          <a:p>
            <a:pPr algn="ctr">
              <a:defRPr sz="900" b="0">
                <a:solidFill>
                  <a:srgbClr val="00C896"/>
                </a:solidFill>
                <a:latin typeface="Calibri"/>
              </a:defRPr>
            </a:pPr>
            <a:r>
              <a:t>Closed</a:t>
            </a:r>
          </a:p>
        </p:txBody>
      </p:sp>
      <p:sp>
        <p:nvSpPr>
          <p:cNvPr id="21" name="TextBox 20"/>
          <p:cNvSpPr txBox="1"/>
          <p:nvPr/>
        </p:nvSpPr>
        <p:spPr>
          <a:xfrm>
            <a:off x="8092440" y="2331720"/>
            <a:ext cx="2377440" cy="411480"/>
          </a:xfrm>
          <a:prstGeom prst="rect">
            <a:avLst/>
          </a:prstGeom>
          <a:noFill/>
        </p:spPr>
        <p:txBody>
          <a:bodyPr wrap="square"/>
          <a:lstStyle/>
          <a:p>
            <a:pPr algn="ctr">
              <a:defRPr sz="900" b="0">
                <a:solidFill>
                  <a:srgbClr val="E8ECF1"/>
                </a:solidFill>
                <a:latin typeface="Calibri"/>
              </a:defRPr>
            </a:pPr>
            <a:r>
              <a:t>MFA policy doc, screenshots</a:t>
            </a:r>
          </a:p>
        </p:txBody>
      </p:sp>
      <p:sp>
        <p:nvSpPr>
          <p:cNvPr id="22" name="TextBox 21"/>
          <p:cNvSpPr txBox="1"/>
          <p:nvPr/>
        </p:nvSpPr>
        <p:spPr>
          <a:xfrm>
            <a:off x="10561320" y="2331720"/>
            <a:ext cx="1280160" cy="411480"/>
          </a:xfrm>
          <a:prstGeom prst="rect">
            <a:avLst/>
          </a:prstGeom>
          <a:noFill/>
        </p:spPr>
        <p:txBody>
          <a:bodyPr wrap="square"/>
          <a:lstStyle/>
          <a:p>
            <a:pPr algn="ctr">
              <a:defRPr sz="900" b="0">
                <a:solidFill>
                  <a:srgbClr val="E8ECF1"/>
                </a:solidFill>
                <a:latin typeface="Calibri"/>
              </a:defRPr>
            </a:pPr>
            <a:r>
              <a:t>Completed</a:t>
            </a:r>
          </a:p>
        </p:txBody>
      </p:sp>
      <p:sp>
        <p:nvSpPr>
          <p:cNvPr id="23" name="Rectangle 22"/>
          <p:cNvSpPr/>
          <p:nvPr/>
        </p:nvSpPr>
        <p:spPr>
          <a:xfrm>
            <a:off x="731520" y="2816352"/>
            <a:ext cx="11155680" cy="50292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2862072"/>
            <a:ext cx="365760" cy="411480"/>
          </a:xfrm>
          <a:prstGeom prst="rect">
            <a:avLst/>
          </a:prstGeom>
          <a:noFill/>
        </p:spPr>
        <p:txBody>
          <a:bodyPr wrap="square"/>
          <a:lstStyle/>
          <a:p>
            <a:pPr algn="ctr">
              <a:defRPr sz="900" b="0">
                <a:solidFill>
                  <a:srgbClr val="E8ECF1"/>
                </a:solidFill>
                <a:latin typeface="Calibri"/>
              </a:defRPr>
            </a:pPr>
            <a:r>
              <a:t>2</a:t>
            </a:r>
          </a:p>
        </p:txBody>
      </p:sp>
      <p:sp>
        <p:nvSpPr>
          <p:cNvPr id="25" name="TextBox 24"/>
          <p:cNvSpPr txBox="1"/>
          <p:nvPr/>
        </p:nvSpPr>
        <p:spPr>
          <a:xfrm>
            <a:off x="1234440" y="2862072"/>
            <a:ext cx="3108960" cy="411480"/>
          </a:xfrm>
          <a:prstGeom prst="rect">
            <a:avLst/>
          </a:prstGeom>
          <a:noFill/>
        </p:spPr>
        <p:txBody>
          <a:bodyPr wrap="square"/>
          <a:lstStyle/>
          <a:p>
            <a:pPr algn="l">
              <a:defRPr sz="900" b="0">
                <a:solidFill>
                  <a:srgbClr val="E8ECF1"/>
                </a:solidFill>
                <a:latin typeface="Calibri"/>
              </a:defRPr>
            </a:pPr>
            <a:r>
              <a:t>Update BAA with Omnibus clauses</a:t>
            </a:r>
          </a:p>
        </p:txBody>
      </p:sp>
      <p:sp>
        <p:nvSpPr>
          <p:cNvPr id="26" name="TextBox 25"/>
          <p:cNvSpPr txBox="1"/>
          <p:nvPr/>
        </p:nvSpPr>
        <p:spPr>
          <a:xfrm>
            <a:off x="4434840" y="2862072"/>
            <a:ext cx="1554480" cy="411480"/>
          </a:xfrm>
          <a:prstGeom prst="rect">
            <a:avLst/>
          </a:prstGeom>
          <a:noFill/>
        </p:spPr>
        <p:txBody>
          <a:bodyPr wrap="square"/>
          <a:lstStyle/>
          <a:p>
            <a:pPr algn="ctr">
              <a:defRPr sz="900" b="0">
                <a:solidFill>
                  <a:srgbClr val="E8ECF1"/>
                </a:solidFill>
                <a:latin typeface="Calibri"/>
              </a:defRPr>
            </a:pPr>
            <a:r>
              <a:t>McKesson, Veradigm</a:t>
            </a:r>
          </a:p>
        </p:txBody>
      </p:sp>
      <p:sp>
        <p:nvSpPr>
          <p:cNvPr id="27" name="TextBox 26"/>
          <p:cNvSpPr txBox="1"/>
          <p:nvPr/>
        </p:nvSpPr>
        <p:spPr>
          <a:xfrm>
            <a:off x="6080760" y="2862072"/>
            <a:ext cx="822960" cy="411480"/>
          </a:xfrm>
          <a:prstGeom prst="rect">
            <a:avLst/>
          </a:prstGeom>
          <a:noFill/>
        </p:spPr>
        <p:txBody>
          <a:bodyPr wrap="square"/>
          <a:lstStyle/>
          <a:p>
            <a:pPr algn="ctr">
              <a:defRPr sz="900" b="0">
                <a:solidFill>
                  <a:srgbClr val="FF4D4D"/>
                </a:solidFill>
                <a:latin typeface="Calibri"/>
              </a:defRPr>
            </a:pPr>
            <a:r>
              <a:t>HIGH</a:t>
            </a:r>
          </a:p>
        </p:txBody>
      </p:sp>
      <p:sp>
        <p:nvSpPr>
          <p:cNvPr id="28" name="TextBox 27"/>
          <p:cNvSpPr txBox="1"/>
          <p:nvPr/>
        </p:nvSpPr>
        <p:spPr>
          <a:xfrm>
            <a:off x="6995160" y="2862072"/>
            <a:ext cx="1005840" cy="411480"/>
          </a:xfrm>
          <a:prstGeom prst="rect">
            <a:avLst/>
          </a:prstGeom>
          <a:noFill/>
        </p:spPr>
        <p:txBody>
          <a:bodyPr wrap="square"/>
          <a:lstStyle/>
          <a:p>
            <a:pPr algn="ctr">
              <a:defRPr sz="900" b="0">
                <a:solidFill>
                  <a:srgbClr val="00C896"/>
                </a:solidFill>
                <a:latin typeface="Calibri"/>
              </a:defRPr>
            </a:pPr>
            <a:r>
              <a:t>Closed</a:t>
            </a:r>
          </a:p>
        </p:txBody>
      </p:sp>
      <p:sp>
        <p:nvSpPr>
          <p:cNvPr id="29" name="TextBox 28"/>
          <p:cNvSpPr txBox="1"/>
          <p:nvPr/>
        </p:nvSpPr>
        <p:spPr>
          <a:xfrm>
            <a:off x="8092440" y="2862072"/>
            <a:ext cx="2377440" cy="411480"/>
          </a:xfrm>
          <a:prstGeom prst="rect">
            <a:avLst/>
          </a:prstGeom>
          <a:noFill/>
        </p:spPr>
        <p:txBody>
          <a:bodyPr wrap="square"/>
          <a:lstStyle/>
          <a:p>
            <a:pPr algn="ctr">
              <a:defRPr sz="900" b="0">
                <a:solidFill>
                  <a:srgbClr val="E8ECF1"/>
                </a:solidFill>
                <a:latin typeface="Calibri"/>
              </a:defRPr>
            </a:pPr>
            <a:r>
              <a:t>Executed BAAs, legal review</a:t>
            </a:r>
          </a:p>
        </p:txBody>
      </p:sp>
      <p:sp>
        <p:nvSpPr>
          <p:cNvPr id="30" name="TextBox 29"/>
          <p:cNvSpPr txBox="1"/>
          <p:nvPr/>
        </p:nvSpPr>
        <p:spPr>
          <a:xfrm>
            <a:off x="10561320" y="2862072"/>
            <a:ext cx="1280160" cy="411480"/>
          </a:xfrm>
          <a:prstGeom prst="rect">
            <a:avLst/>
          </a:prstGeom>
          <a:noFill/>
        </p:spPr>
        <p:txBody>
          <a:bodyPr wrap="square"/>
          <a:lstStyle/>
          <a:p>
            <a:pPr algn="ctr">
              <a:defRPr sz="900" b="0">
                <a:solidFill>
                  <a:srgbClr val="E8ECF1"/>
                </a:solidFill>
                <a:latin typeface="Calibri"/>
              </a:defRPr>
            </a:pPr>
            <a:r>
              <a:t>Completed</a:t>
            </a:r>
          </a:p>
        </p:txBody>
      </p:sp>
      <p:sp>
        <p:nvSpPr>
          <p:cNvPr id="31" name="Rectangle 30"/>
          <p:cNvSpPr/>
          <p:nvPr/>
        </p:nvSpPr>
        <p:spPr>
          <a:xfrm>
            <a:off x="731520" y="3346704"/>
            <a:ext cx="11155680" cy="50292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3392424"/>
            <a:ext cx="365760" cy="411480"/>
          </a:xfrm>
          <a:prstGeom prst="rect">
            <a:avLst/>
          </a:prstGeom>
          <a:noFill/>
        </p:spPr>
        <p:txBody>
          <a:bodyPr wrap="square"/>
          <a:lstStyle/>
          <a:p>
            <a:pPr algn="ctr">
              <a:defRPr sz="900" b="0">
                <a:solidFill>
                  <a:srgbClr val="E8ECF1"/>
                </a:solidFill>
                <a:latin typeface="Calibri"/>
              </a:defRPr>
            </a:pPr>
            <a:r>
              <a:t>3</a:t>
            </a:r>
          </a:p>
        </p:txBody>
      </p:sp>
      <p:sp>
        <p:nvSpPr>
          <p:cNvPr id="33" name="TextBox 32"/>
          <p:cNvSpPr txBox="1"/>
          <p:nvPr/>
        </p:nvSpPr>
        <p:spPr>
          <a:xfrm>
            <a:off x="1234440" y="3392424"/>
            <a:ext cx="3108960" cy="411480"/>
          </a:xfrm>
          <a:prstGeom prst="rect">
            <a:avLst/>
          </a:prstGeom>
          <a:noFill/>
        </p:spPr>
        <p:txBody>
          <a:bodyPr wrap="square"/>
          <a:lstStyle/>
          <a:p>
            <a:pPr algn="l">
              <a:defRPr sz="900" b="0">
                <a:solidFill>
                  <a:srgbClr val="E8ECF1"/>
                </a:solidFill>
                <a:latin typeface="Calibri"/>
              </a:defRPr>
            </a:pPr>
            <a:r>
              <a:t>Implement RBAC &amp; eliminate shared creds</a:t>
            </a:r>
          </a:p>
        </p:txBody>
      </p:sp>
      <p:sp>
        <p:nvSpPr>
          <p:cNvPr id="34" name="TextBox 33"/>
          <p:cNvSpPr txBox="1"/>
          <p:nvPr/>
        </p:nvSpPr>
        <p:spPr>
          <a:xfrm>
            <a:off x="4434840" y="3392424"/>
            <a:ext cx="1554480" cy="411480"/>
          </a:xfrm>
          <a:prstGeom prst="rect">
            <a:avLst/>
          </a:prstGeom>
          <a:noFill/>
        </p:spPr>
        <p:txBody>
          <a:bodyPr wrap="square"/>
          <a:lstStyle/>
          <a:p>
            <a:pPr algn="ctr">
              <a:defRPr sz="900" b="0">
                <a:solidFill>
                  <a:srgbClr val="E8ECF1"/>
                </a:solidFill>
                <a:latin typeface="Calibri"/>
              </a:defRPr>
            </a:pPr>
            <a:r>
              <a:t>McKesson</a:t>
            </a:r>
          </a:p>
        </p:txBody>
      </p:sp>
      <p:sp>
        <p:nvSpPr>
          <p:cNvPr id="35" name="TextBox 34"/>
          <p:cNvSpPr txBox="1"/>
          <p:nvPr/>
        </p:nvSpPr>
        <p:spPr>
          <a:xfrm>
            <a:off x="6080760" y="3392424"/>
            <a:ext cx="822960" cy="411480"/>
          </a:xfrm>
          <a:prstGeom prst="rect">
            <a:avLst/>
          </a:prstGeom>
          <a:noFill/>
        </p:spPr>
        <p:txBody>
          <a:bodyPr wrap="square"/>
          <a:lstStyle/>
          <a:p>
            <a:pPr algn="ctr">
              <a:defRPr sz="900" b="0">
                <a:solidFill>
                  <a:srgbClr val="FF4D4D"/>
                </a:solidFill>
                <a:latin typeface="Calibri"/>
              </a:defRPr>
            </a:pPr>
            <a:r>
              <a:t>HIGH</a:t>
            </a:r>
          </a:p>
        </p:txBody>
      </p:sp>
      <p:sp>
        <p:nvSpPr>
          <p:cNvPr id="36" name="TextBox 35"/>
          <p:cNvSpPr txBox="1"/>
          <p:nvPr/>
        </p:nvSpPr>
        <p:spPr>
          <a:xfrm>
            <a:off x="6995160" y="3392424"/>
            <a:ext cx="1005840" cy="411480"/>
          </a:xfrm>
          <a:prstGeom prst="rect">
            <a:avLst/>
          </a:prstGeom>
          <a:noFill/>
        </p:spPr>
        <p:txBody>
          <a:bodyPr wrap="square"/>
          <a:lstStyle/>
          <a:p>
            <a:pPr algn="ctr">
              <a:defRPr sz="900" b="0">
                <a:solidFill>
                  <a:srgbClr val="00C896"/>
                </a:solidFill>
                <a:latin typeface="Calibri"/>
              </a:defRPr>
            </a:pPr>
            <a:r>
              <a:t>Closed</a:t>
            </a:r>
          </a:p>
        </p:txBody>
      </p:sp>
      <p:sp>
        <p:nvSpPr>
          <p:cNvPr id="37" name="TextBox 36"/>
          <p:cNvSpPr txBox="1"/>
          <p:nvPr/>
        </p:nvSpPr>
        <p:spPr>
          <a:xfrm>
            <a:off x="8092440" y="3392424"/>
            <a:ext cx="2377440" cy="411480"/>
          </a:xfrm>
          <a:prstGeom prst="rect">
            <a:avLst/>
          </a:prstGeom>
          <a:noFill/>
        </p:spPr>
        <p:txBody>
          <a:bodyPr wrap="square"/>
          <a:lstStyle/>
          <a:p>
            <a:pPr algn="ctr">
              <a:defRPr sz="900" b="0">
                <a:solidFill>
                  <a:srgbClr val="E8ECF1"/>
                </a:solidFill>
                <a:latin typeface="Calibri"/>
              </a:defRPr>
            </a:pPr>
            <a:r>
              <a:t>Access matrix, IAM config</a:t>
            </a:r>
          </a:p>
        </p:txBody>
      </p:sp>
      <p:sp>
        <p:nvSpPr>
          <p:cNvPr id="38" name="TextBox 37"/>
          <p:cNvSpPr txBox="1"/>
          <p:nvPr/>
        </p:nvSpPr>
        <p:spPr>
          <a:xfrm>
            <a:off x="10561320" y="3392424"/>
            <a:ext cx="1280160" cy="411480"/>
          </a:xfrm>
          <a:prstGeom prst="rect">
            <a:avLst/>
          </a:prstGeom>
          <a:noFill/>
        </p:spPr>
        <p:txBody>
          <a:bodyPr wrap="square"/>
          <a:lstStyle/>
          <a:p>
            <a:pPr algn="ctr">
              <a:defRPr sz="900" b="0">
                <a:solidFill>
                  <a:srgbClr val="E8ECF1"/>
                </a:solidFill>
                <a:latin typeface="Calibri"/>
              </a:defRPr>
            </a:pPr>
            <a:r>
              <a:t>Completed</a:t>
            </a:r>
          </a:p>
        </p:txBody>
      </p:sp>
      <p:sp>
        <p:nvSpPr>
          <p:cNvPr id="39" name="Rectangle 38"/>
          <p:cNvSpPr/>
          <p:nvPr/>
        </p:nvSpPr>
        <p:spPr>
          <a:xfrm>
            <a:off x="731520" y="3877056"/>
            <a:ext cx="11155680" cy="50292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7240" y="3922776"/>
            <a:ext cx="365760" cy="411480"/>
          </a:xfrm>
          <a:prstGeom prst="rect">
            <a:avLst/>
          </a:prstGeom>
          <a:noFill/>
        </p:spPr>
        <p:txBody>
          <a:bodyPr wrap="square"/>
          <a:lstStyle/>
          <a:p>
            <a:pPr algn="ctr">
              <a:defRPr sz="900" b="0">
                <a:solidFill>
                  <a:srgbClr val="E8ECF1"/>
                </a:solidFill>
                <a:latin typeface="Calibri"/>
              </a:defRPr>
            </a:pPr>
            <a:r>
              <a:t>4</a:t>
            </a:r>
          </a:p>
        </p:txBody>
      </p:sp>
      <p:sp>
        <p:nvSpPr>
          <p:cNvPr id="41" name="TextBox 40"/>
          <p:cNvSpPr txBox="1"/>
          <p:nvPr/>
        </p:nvSpPr>
        <p:spPr>
          <a:xfrm>
            <a:off x="1234440" y="3922776"/>
            <a:ext cx="3108960" cy="411480"/>
          </a:xfrm>
          <a:prstGeom prst="rect">
            <a:avLst/>
          </a:prstGeom>
          <a:noFill/>
        </p:spPr>
        <p:txBody>
          <a:bodyPr wrap="square"/>
          <a:lstStyle/>
          <a:p>
            <a:pPr algn="l">
              <a:defRPr sz="900" b="0">
                <a:solidFill>
                  <a:srgbClr val="E8ECF1"/>
                </a:solidFill>
                <a:latin typeface="Calibri"/>
              </a:defRPr>
            </a:pPr>
            <a:r>
              <a:t>Enforce 15-min session timeout</a:t>
            </a:r>
          </a:p>
        </p:txBody>
      </p:sp>
      <p:sp>
        <p:nvSpPr>
          <p:cNvPr id="42" name="TextBox 41"/>
          <p:cNvSpPr txBox="1"/>
          <p:nvPr/>
        </p:nvSpPr>
        <p:spPr>
          <a:xfrm>
            <a:off x="4434840" y="3922776"/>
            <a:ext cx="1554480" cy="411480"/>
          </a:xfrm>
          <a:prstGeom prst="rect">
            <a:avLst/>
          </a:prstGeom>
          <a:noFill/>
        </p:spPr>
        <p:txBody>
          <a:bodyPr wrap="square"/>
          <a:lstStyle/>
          <a:p>
            <a:pPr algn="ctr">
              <a:defRPr sz="900" b="0">
                <a:solidFill>
                  <a:srgbClr val="E8ECF1"/>
                </a:solidFill>
                <a:latin typeface="Calibri"/>
              </a:defRPr>
            </a:pPr>
            <a:r>
              <a:t>Veradigm</a:t>
            </a:r>
          </a:p>
        </p:txBody>
      </p:sp>
      <p:sp>
        <p:nvSpPr>
          <p:cNvPr id="43" name="TextBox 42"/>
          <p:cNvSpPr txBox="1"/>
          <p:nvPr/>
        </p:nvSpPr>
        <p:spPr>
          <a:xfrm>
            <a:off x="6080760" y="3922776"/>
            <a:ext cx="822960" cy="411480"/>
          </a:xfrm>
          <a:prstGeom prst="rect">
            <a:avLst/>
          </a:prstGeom>
          <a:noFill/>
        </p:spPr>
        <p:txBody>
          <a:bodyPr wrap="square"/>
          <a:lstStyle/>
          <a:p>
            <a:pPr algn="ctr">
              <a:defRPr sz="900" b="0">
                <a:solidFill>
                  <a:srgbClr val="FFB020"/>
                </a:solidFill>
                <a:latin typeface="Calibri"/>
              </a:defRPr>
            </a:pPr>
            <a:r>
              <a:t>MEDIUM</a:t>
            </a:r>
          </a:p>
        </p:txBody>
      </p:sp>
      <p:sp>
        <p:nvSpPr>
          <p:cNvPr id="44" name="TextBox 43"/>
          <p:cNvSpPr txBox="1"/>
          <p:nvPr/>
        </p:nvSpPr>
        <p:spPr>
          <a:xfrm>
            <a:off x="6995160" y="3922776"/>
            <a:ext cx="1005840" cy="411480"/>
          </a:xfrm>
          <a:prstGeom prst="rect">
            <a:avLst/>
          </a:prstGeom>
          <a:noFill/>
        </p:spPr>
        <p:txBody>
          <a:bodyPr wrap="square"/>
          <a:lstStyle/>
          <a:p>
            <a:pPr algn="ctr">
              <a:defRPr sz="900" b="0">
                <a:solidFill>
                  <a:srgbClr val="00C896"/>
                </a:solidFill>
                <a:latin typeface="Calibri"/>
              </a:defRPr>
            </a:pPr>
            <a:r>
              <a:t>Closed</a:t>
            </a:r>
          </a:p>
        </p:txBody>
      </p:sp>
      <p:sp>
        <p:nvSpPr>
          <p:cNvPr id="45" name="TextBox 44"/>
          <p:cNvSpPr txBox="1"/>
          <p:nvPr/>
        </p:nvSpPr>
        <p:spPr>
          <a:xfrm>
            <a:off x="8092440" y="3922776"/>
            <a:ext cx="2377440" cy="411480"/>
          </a:xfrm>
          <a:prstGeom prst="rect">
            <a:avLst/>
          </a:prstGeom>
          <a:noFill/>
        </p:spPr>
        <p:txBody>
          <a:bodyPr wrap="square"/>
          <a:lstStyle/>
          <a:p>
            <a:pPr algn="ctr">
              <a:defRPr sz="900" b="0">
                <a:solidFill>
                  <a:srgbClr val="E8ECF1"/>
                </a:solidFill>
                <a:latin typeface="Calibri"/>
              </a:defRPr>
            </a:pPr>
            <a:r>
              <a:t>Config screenshot, policy</a:t>
            </a:r>
          </a:p>
        </p:txBody>
      </p:sp>
      <p:sp>
        <p:nvSpPr>
          <p:cNvPr id="46" name="TextBox 45"/>
          <p:cNvSpPr txBox="1"/>
          <p:nvPr/>
        </p:nvSpPr>
        <p:spPr>
          <a:xfrm>
            <a:off x="10561320" y="3922776"/>
            <a:ext cx="1280160" cy="411480"/>
          </a:xfrm>
          <a:prstGeom prst="rect">
            <a:avLst/>
          </a:prstGeom>
          <a:noFill/>
        </p:spPr>
        <p:txBody>
          <a:bodyPr wrap="square"/>
          <a:lstStyle/>
          <a:p>
            <a:pPr algn="ctr">
              <a:defRPr sz="900" b="0">
                <a:solidFill>
                  <a:srgbClr val="E8ECF1"/>
                </a:solidFill>
                <a:latin typeface="Calibri"/>
              </a:defRPr>
            </a:pPr>
            <a:r>
              <a:t>Completed</a:t>
            </a:r>
          </a:p>
        </p:txBody>
      </p:sp>
      <p:sp>
        <p:nvSpPr>
          <p:cNvPr id="47" name="Rectangle 46"/>
          <p:cNvSpPr/>
          <p:nvPr/>
        </p:nvSpPr>
        <p:spPr>
          <a:xfrm>
            <a:off x="731520" y="4407408"/>
            <a:ext cx="11155680" cy="50292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7240" y="4453128"/>
            <a:ext cx="365760" cy="411480"/>
          </a:xfrm>
          <a:prstGeom prst="rect">
            <a:avLst/>
          </a:prstGeom>
          <a:noFill/>
        </p:spPr>
        <p:txBody>
          <a:bodyPr wrap="square"/>
          <a:lstStyle/>
          <a:p>
            <a:pPr algn="ctr">
              <a:defRPr sz="900" b="0">
                <a:solidFill>
                  <a:srgbClr val="E8ECF1"/>
                </a:solidFill>
                <a:latin typeface="Calibri"/>
              </a:defRPr>
            </a:pPr>
            <a:r>
              <a:t>5</a:t>
            </a:r>
          </a:p>
        </p:txBody>
      </p:sp>
      <p:sp>
        <p:nvSpPr>
          <p:cNvPr id="49" name="TextBox 48"/>
          <p:cNvSpPr txBox="1"/>
          <p:nvPr/>
        </p:nvSpPr>
        <p:spPr>
          <a:xfrm>
            <a:off x="1234440" y="4453128"/>
            <a:ext cx="3108960" cy="411480"/>
          </a:xfrm>
          <a:prstGeom prst="rect">
            <a:avLst/>
          </a:prstGeom>
          <a:noFill/>
        </p:spPr>
        <p:txBody>
          <a:bodyPr wrap="square"/>
          <a:lstStyle/>
          <a:p>
            <a:pPr algn="l">
              <a:defRPr sz="900" b="0">
                <a:solidFill>
                  <a:srgbClr val="E8ECF1"/>
                </a:solidFill>
                <a:latin typeface="Calibri"/>
              </a:defRPr>
            </a:pPr>
            <a:r>
              <a:t>Deploy SIEM for centralized logging</a:t>
            </a:r>
          </a:p>
        </p:txBody>
      </p:sp>
      <p:sp>
        <p:nvSpPr>
          <p:cNvPr id="50" name="TextBox 49"/>
          <p:cNvSpPr txBox="1"/>
          <p:nvPr/>
        </p:nvSpPr>
        <p:spPr>
          <a:xfrm>
            <a:off x="4434840" y="4453128"/>
            <a:ext cx="1554480" cy="411480"/>
          </a:xfrm>
          <a:prstGeom prst="rect">
            <a:avLst/>
          </a:prstGeom>
          <a:noFill/>
        </p:spPr>
        <p:txBody>
          <a:bodyPr wrap="square"/>
          <a:lstStyle/>
          <a:p>
            <a:pPr algn="ctr">
              <a:defRPr sz="900" b="0">
                <a:solidFill>
                  <a:srgbClr val="E8ECF1"/>
                </a:solidFill>
                <a:latin typeface="Calibri"/>
              </a:defRPr>
            </a:pPr>
            <a:r>
              <a:t>All Vendors</a:t>
            </a:r>
          </a:p>
        </p:txBody>
      </p:sp>
      <p:sp>
        <p:nvSpPr>
          <p:cNvPr id="51" name="TextBox 50"/>
          <p:cNvSpPr txBox="1"/>
          <p:nvPr/>
        </p:nvSpPr>
        <p:spPr>
          <a:xfrm>
            <a:off x="6080760" y="4453128"/>
            <a:ext cx="822960" cy="411480"/>
          </a:xfrm>
          <a:prstGeom prst="rect">
            <a:avLst/>
          </a:prstGeom>
          <a:noFill/>
        </p:spPr>
        <p:txBody>
          <a:bodyPr wrap="square"/>
          <a:lstStyle/>
          <a:p>
            <a:pPr algn="ctr">
              <a:defRPr sz="900" b="0">
                <a:solidFill>
                  <a:srgbClr val="FFB020"/>
                </a:solidFill>
                <a:latin typeface="Calibri"/>
              </a:defRPr>
            </a:pPr>
            <a:r>
              <a:t>MEDIUM</a:t>
            </a:r>
          </a:p>
        </p:txBody>
      </p:sp>
      <p:sp>
        <p:nvSpPr>
          <p:cNvPr id="52" name="TextBox 51"/>
          <p:cNvSpPr txBox="1"/>
          <p:nvPr/>
        </p:nvSpPr>
        <p:spPr>
          <a:xfrm>
            <a:off x="6995160" y="4453128"/>
            <a:ext cx="1005840" cy="411480"/>
          </a:xfrm>
          <a:prstGeom prst="rect">
            <a:avLst/>
          </a:prstGeom>
          <a:noFill/>
        </p:spPr>
        <p:txBody>
          <a:bodyPr wrap="square"/>
          <a:lstStyle/>
          <a:p>
            <a:pPr algn="ctr">
              <a:defRPr sz="900" b="0">
                <a:solidFill>
                  <a:srgbClr val="FFB020"/>
                </a:solidFill>
                <a:latin typeface="Calibri"/>
              </a:defRPr>
            </a:pPr>
            <a:r>
              <a:t>In Progress</a:t>
            </a:r>
          </a:p>
        </p:txBody>
      </p:sp>
      <p:sp>
        <p:nvSpPr>
          <p:cNvPr id="53" name="TextBox 52"/>
          <p:cNvSpPr txBox="1"/>
          <p:nvPr/>
        </p:nvSpPr>
        <p:spPr>
          <a:xfrm>
            <a:off x="8092440" y="4453128"/>
            <a:ext cx="2377440" cy="411480"/>
          </a:xfrm>
          <a:prstGeom prst="rect">
            <a:avLst/>
          </a:prstGeom>
          <a:noFill/>
        </p:spPr>
        <p:txBody>
          <a:bodyPr wrap="square"/>
          <a:lstStyle/>
          <a:p>
            <a:pPr algn="ctr">
              <a:defRPr sz="900" b="0">
                <a:solidFill>
                  <a:srgbClr val="E8ECF1"/>
                </a:solidFill>
                <a:latin typeface="Calibri"/>
              </a:defRPr>
            </a:pPr>
            <a:r>
              <a:t>Architecture design approved</a:t>
            </a:r>
          </a:p>
        </p:txBody>
      </p:sp>
      <p:sp>
        <p:nvSpPr>
          <p:cNvPr id="54" name="TextBox 53"/>
          <p:cNvSpPr txBox="1"/>
          <p:nvPr/>
        </p:nvSpPr>
        <p:spPr>
          <a:xfrm>
            <a:off x="10561320" y="4453128"/>
            <a:ext cx="1280160" cy="411480"/>
          </a:xfrm>
          <a:prstGeom prst="rect">
            <a:avLst/>
          </a:prstGeom>
          <a:noFill/>
        </p:spPr>
        <p:txBody>
          <a:bodyPr wrap="square"/>
          <a:lstStyle/>
          <a:p>
            <a:pPr algn="ctr">
              <a:defRPr sz="900" b="0">
                <a:solidFill>
                  <a:srgbClr val="E8ECF1"/>
                </a:solidFill>
                <a:latin typeface="Calibri"/>
              </a:defRPr>
            </a:pPr>
            <a:r>
              <a:t>Q1 2027</a:t>
            </a:r>
          </a:p>
        </p:txBody>
      </p:sp>
      <p:sp>
        <p:nvSpPr>
          <p:cNvPr id="55" name="Rectangle 54"/>
          <p:cNvSpPr/>
          <p:nvPr/>
        </p:nvSpPr>
        <p:spPr>
          <a:xfrm>
            <a:off x="731520" y="4937760"/>
            <a:ext cx="11155680" cy="502920"/>
          </a:xfrm>
          <a:prstGeom prst="rect">
            <a:avLst/>
          </a:prstGeom>
          <a:solidFill>
            <a:srgbClr val="152240"/>
          </a:solidFill>
          <a:ln w="635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77240" y="4983480"/>
            <a:ext cx="365760" cy="411480"/>
          </a:xfrm>
          <a:prstGeom prst="rect">
            <a:avLst/>
          </a:prstGeom>
          <a:noFill/>
        </p:spPr>
        <p:txBody>
          <a:bodyPr wrap="square"/>
          <a:lstStyle/>
          <a:p>
            <a:pPr algn="ctr">
              <a:defRPr sz="900" b="0">
                <a:solidFill>
                  <a:srgbClr val="E8ECF1"/>
                </a:solidFill>
                <a:latin typeface="Calibri"/>
              </a:defRPr>
            </a:pPr>
            <a:r>
              <a:t>6</a:t>
            </a:r>
          </a:p>
        </p:txBody>
      </p:sp>
      <p:sp>
        <p:nvSpPr>
          <p:cNvPr id="57" name="TextBox 56"/>
          <p:cNvSpPr txBox="1"/>
          <p:nvPr/>
        </p:nvSpPr>
        <p:spPr>
          <a:xfrm>
            <a:off x="1234440" y="4983480"/>
            <a:ext cx="3108960" cy="411480"/>
          </a:xfrm>
          <a:prstGeom prst="rect">
            <a:avLst/>
          </a:prstGeom>
          <a:noFill/>
        </p:spPr>
        <p:txBody>
          <a:bodyPr wrap="square"/>
          <a:lstStyle/>
          <a:p>
            <a:pPr algn="l">
              <a:defRPr sz="900" b="0">
                <a:solidFill>
                  <a:srgbClr val="E8ECF1"/>
                </a:solidFill>
                <a:latin typeface="Calibri"/>
              </a:defRPr>
            </a:pPr>
            <a:r>
              <a:t>Formalize breach notification SLA</a:t>
            </a:r>
          </a:p>
        </p:txBody>
      </p:sp>
      <p:sp>
        <p:nvSpPr>
          <p:cNvPr id="58" name="TextBox 57"/>
          <p:cNvSpPr txBox="1"/>
          <p:nvPr/>
        </p:nvSpPr>
        <p:spPr>
          <a:xfrm>
            <a:off x="4434840" y="4983480"/>
            <a:ext cx="1554480" cy="411480"/>
          </a:xfrm>
          <a:prstGeom prst="rect">
            <a:avLst/>
          </a:prstGeom>
          <a:noFill/>
        </p:spPr>
        <p:txBody>
          <a:bodyPr wrap="square"/>
          <a:lstStyle/>
          <a:p>
            <a:pPr algn="ctr">
              <a:defRPr sz="900" b="0">
                <a:solidFill>
                  <a:srgbClr val="E8ECF1"/>
                </a:solidFill>
                <a:latin typeface="Calibri"/>
              </a:defRPr>
            </a:pPr>
            <a:r>
              <a:t>All Vendors</a:t>
            </a:r>
          </a:p>
        </p:txBody>
      </p:sp>
      <p:sp>
        <p:nvSpPr>
          <p:cNvPr id="59" name="TextBox 58"/>
          <p:cNvSpPr txBox="1"/>
          <p:nvPr/>
        </p:nvSpPr>
        <p:spPr>
          <a:xfrm>
            <a:off x="6080760" y="4983480"/>
            <a:ext cx="822960" cy="411480"/>
          </a:xfrm>
          <a:prstGeom prst="rect">
            <a:avLst/>
          </a:prstGeom>
          <a:noFill/>
        </p:spPr>
        <p:txBody>
          <a:bodyPr wrap="square"/>
          <a:lstStyle/>
          <a:p>
            <a:pPr algn="ctr">
              <a:defRPr sz="900" b="0">
                <a:solidFill>
                  <a:srgbClr val="FFB020"/>
                </a:solidFill>
                <a:latin typeface="Calibri"/>
              </a:defRPr>
            </a:pPr>
            <a:r>
              <a:t>MEDIUM</a:t>
            </a:r>
          </a:p>
        </p:txBody>
      </p:sp>
      <p:sp>
        <p:nvSpPr>
          <p:cNvPr id="60" name="TextBox 59"/>
          <p:cNvSpPr txBox="1"/>
          <p:nvPr/>
        </p:nvSpPr>
        <p:spPr>
          <a:xfrm>
            <a:off x="6995160" y="4983480"/>
            <a:ext cx="1005840" cy="411480"/>
          </a:xfrm>
          <a:prstGeom prst="rect">
            <a:avLst/>
          </a:prstGeom>
          <a:noFill/>
        </p:spPr>
        <p:txBody>
          <a:bodyPr wrap="square"/>
          <a:lstStyle/>
          <a:p>
            <a:pPr algn="ctr">
              <a:defRPr sz="900" b="0">
                <a:solidFill>
                  <a:srgbClr val="FFB020"/>
                </a:solidFill>
                <a:latin typeface="Calibri"/>
              </a:defRPr>
            </a:pPr>
            <a:r>
              <a:t>In Progress</a:t>
            </a:r>
          </a:p>
        </p:txBody>
      </p:sp>
      <p:sp>
        <p:nvSpPr>
          <p:cNvPr id="61" name="TextBox 60"/>
          <p:cNvSpPr txBox="1"/>
          <p:nvPr/>
        </p:nvSpPr>
        <p:spPr>
          <a:xfrm>
            <a:off x="8092440" y="4983480"/>
            <a:ext cx="2377440" cy="411480"/>
          </a:xfrm>
          <a:prstGeom prst="rect">
            <a:avLst/>
          </a:prstGeom>
          <a:noFill/>
        </p:spPr>
        <p:txBody>
          <a:bodyPr wrap="square"/>
          <a:lstStyle/>
          <a:p>
            <a:pPr algn="ctr">
              <a:defRPr sz="900" b="0">
                <a:solidFill>
                  <a:srgbClr val="E8ECF1"/>
                </a:solidFill>
                <a:latin typeface="Calibri"/>
              </a:defRPr>
            </a:pPr>
            <a:r>
              <a:t>Draft SLA under legal review</a:t>
            </a:r>
          </a:p>
        </p:txBody>
      </p:sp>
      <p:sp>
        <p:nvSpPr>
          <p:cNvPr id="62" name="TextBox 61"/>
          <p:cNvSpPr txBox="1"/>
          <p:nvPr/>
        </p:nvSpPr>
        <p:spPr>
          <a:xfrm>
            <a:off x="10561320" y="4983480"/>
            <a:ext cx="1280160" cy="411480"/>
          </a:xfrm>
          <a:prstGeom prst="rect">
            <a:avLst/>
          </a:prstGeom>
          <a:noFill/>
        </p:spPr>
        <p:txBody>
          <a:bodyPr wrap="square"/>
          <a:lstStyle/>
          <a:p>
            <a:pPr algn="ctr">
              <a:defRPr sz="900" b="0">
                <a:solidFill>
                  <a:srgbClr val="E8ECF1"/>
                </a:solidFill>
                <a:latin typeface="Calibri"/>
              </a:defRPr>
            </a:pPr>
            <a:r>
              <a:t>Q1 2027</a:t>
            </a:r>
          </a:p>
        </p:txBody>
      </p:sp>
      <p:sp>
        <p:nvSpPr>
          <p:cNvPr id="63" name="Rounded Rectangle 62"/>
          <p:cNvSpPr/>
          <p:nvPr/>
        </p:nvSpPr>
        <p:spPr>
          <a:xfrm>
            <a:off x="731520" y="5440680"/>
            <a:ext cx="5120640" cy="9144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31520" y="5440680"/>
            <a:ext cx="5120640" cy="4572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05840" y="5577840"/>
            <a:ext cx="4663440" cy="731520"/>
          </a:xfrm>
          <a:prstGeom prst="rect">
            <a:avLst/>
          </a:prstGeom>
          <a:noFill/>
        </p:spPr>
        <p:txBody>
          <a:bodyPr wrap="square"/>
          <a:lstStyle/>
          <a:p>
            <a:pPr algn="l">
              <a:defRPr sz="1200" b="1">
                <a:solidFill>
                  <a:srgbClr val="00C896"/>
                </a:solidFill>
                <a:latin typeface="Calibri"/>
              </a:defRPr>
            </a:pPr>
            <a:r>
              <a:t>Remediation Completion Rate</a:t>
            </a:r>
          </a:p>
          <a:p>
            <a:pPr algn="l">
              <a:spcBef>
                <a:spcPts val="400"/>
              </a:spcBef>
              <a:spcAft>
                <a:spcPts val="200"/>
              </a:spcAft>
              <a:defRPr sz="1800" b="1">
                <a:solidFill>
                  <a:srgbClr val="FFFFFF"/>
                </a:solidFill>
                <a:latin typeface="Calibri"/>
              </a:defRPr>
            </a:pPr>
            <a:r>
              <a:t>4 of 6 actions closed (67%)</a:t>
            </a:r>
          </a:p>
          <a:p>
            <a:pPr algn="l">
              <a:spcBef>
                <a:spcPts val="200"/>
              </a:spcBef>
              <a:spcAft>
                <a:spcPts val="200"/>
              </a:spcAft>
              <a:defRPr sz="1000" b="0">
                <a:solidFill>
                  <a:srgbClr val="A0AEC0"/>
                </a:solidFill>
                <a:latin typeface="Calibri"/>
              </a:defRPr>
            </a:pPr>
            <a:r>
              <a:t>2 actions on track for Q1 2027</a:t>
            </a:r>
          </a:p>
        </p:txBody>
      </p:sp>
      <p:sp>
        <p:nvSpPr>
          <p:cNvPr id="66" name="Rounded Rectangle 65"/>
          <p:cNvSpPr/>
          <p:nvPr/>
        </p:nvSpPr>
        <p:spPr>
          <a:xfrm>
            <a:off x="6126480" y="5440680"/>
            <a:ext cx="5760720" cy="9144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126480" y="5440680"/>
            <a:ext cx="576072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400800" y="5577840"/>
            <a:ext cx="5303520" cy="731520"/>
          </a:xfrm>
          <a:prstGeom prst="rect">
            <a:avLst/>
          </a:prstGeom>
          <a:noFill/>
        </p:spPr>
        <p:txBody>
          <a:bodyPr wrap="square"/>
          <a:lstStyle/>
          <a:p>
            <a:pPr algn="l">
              <a:defRPr sz="1200" b="1">
                <a:solidFill>
                  <a:srgbClr val="00B4D8"/>
                </a:solidFill>
                <a:latin typeface="Calibri"/>
              </a:defRPr>
            </a:pPr>
            <a:r>
              <a:t>Closure Evidence Repository</a:t>
            </a:r>
          </a:p>
          <a:p>
            <a:pPr algn="l">
              <a:spcBef>
                <a:spcPts val="400"/>
              </a:spcBef>
              <a:spcAft>
                <a:spcPts val="200"/>
              </a:spcAft>
              <a:defRPr sz="1000" b="0">
                <a:solidFill>
                  <a:srgbClr val="E8ECF1"/>
                </a:solidFill>
                <a:latin typeface="Calibri"/>
              </a:defRPr>
            </a:pPr>
            <a:r>
              <a:t>All closure evidence documented in TPRM repository: policy documents, executed BAAs, IAM configurations, screenshots, and legal review sign-offs.</a:t>
            </a:r>
          </a:p>
        </p:txBody>
      </p:sp>
      <p:sp>
        <p:nvSpPr>
          <p:cNvPr id="69" name="Rectangle 68"/>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6/12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PROCESS IMPROVEMENT</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Enhanced Vendor Onboarding Process</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12-item onboarding checklist - standardized, risk-based, and compliance-integrated</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6583680" cy="13716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6583680" cy="457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57400"/>
            <a:ext cx="6126480" cy="274320"/>
          </a:xfrm>
          <a:prstGeom prst="rect">
            <a:avLst/>
          </a:prstGeom>
          <a:noFill/>
        </p:spPr>
        <p:txBody>
          <a:bodyPr wrap="square"/>
          <a:lstStyle/>
          <a:p>
            <a:pPr algn="l">
              <a:defRPr sz="1200" b="1">
                <a:solidFill>
                  <a:srgbClr val="007ACC"/>
                </a:solidFill>
                <a:latin typeface="Calibri"/>
              </a:defRPr>
            </a:pPr>
            <a:r>
              <a:t>Phase 1: Pre-Onboarding</a:t>
            </a:r>
          </a:p>
        </p:txBody>
      </p:sp>
      <p:sp>
        <p:nvSpPr>
          <p:cNvPr id="10" name="TextBox 9"/>
          <p:cNvSpPr txBox="1"/>
          <p:nvPr/>
        </p:nvSpPr>
        <p:spPr>
          <a:xfrm>
            <a:off x="1005840" y="2331720"/>
            <a:ext cx="6126480" cy="868680"/>
          </a:xfrm>
          <a:prstGeom prst="rect">
            <a:avLst/>
          </a:prstGeom>
          <a:noFill/>
        </p:spPr>
        <p:txBody>
          <a:bodyPr wrap="square">
            <a:spAutoFit/>
          </a:bodyPr>
          <a:lstStyle/>
          <a:p>
            <a:pPr>
              <a:spcBef>
                <a:spcPts val="200"/>
              </a:spcBef>
              <a:spcAft>
                <a:spcPts val="100"/>
              </a:spcAft>
              <a:defRPr sz="1000">
                <a:solidFill>
                  <a:srgbClr val="E8ECF1"/>
                </a:solidFill>
                <a:latin typeface="Calibri"/>
              </a:defRPr>
            </a:pPr>
            <a:r>
              <a:t>  Vendor intake form completed with service classification</a:t>
            </a:r>
          </a:p>
          <a:p>
            <a:pPr>
              <a:spcBef>
                <a:spcPts val="200"/>
              </a:spcBef>
              <a:spcAft>
                <a:spcPts val="100"/>
              </a:spcAft>
              <a:defRPr sz="1000">
                <a:solidFill>
                  <a:srgbClr val="E8ECF1"/>
                </a:solidFill>
                <a:latin typeface="Calibri"/>
              </a:defRPr>
            </a:pPr>
            <a:r>
              <a:t>  Initial risk tier assignment (Critical/High/Medium/Low)</a:t>
            </a:r>
          </a:p>
          <a:p>
            <a:pPr>
              <a:spcBef>
                <a:spcPts val="200"/>
              </a:spcBef>
              <a:spcAft>
                <a:spcPts val="100"/>
              </a:spcAft>
              <a:defRPr sz="1000">
                <a:solidFill>
                  <a:srgbClr val="E8ECF1"/>
                </a:solidFill>
                <a:latin typeface="Calibri"/>
              </a:defRPr>
            </a:pPr>
            <a:r>
              <a:t>  BAA executed before any PHI access is granted</a:t>
            </a:r>
          </a:p>
          <a:p>
            <a:pPr>
              <a:spcBef>
                <a:spcPts val="200"/>
              </a:spcBef>
              <a:spcAft>
                <a:spcPts val="100"/>
              </a:spcAft>
              <a:defRPr sz="1000">
                <a:solidFill>
                  <a:srgbClr val="E8ECF1"/>
                </a:solidFill>
                <a:latin typeface="Calibri"/>
              </a:defRPr>
            </a:pPr>
            <a:r>
              <a:t>  Security questionnaire (SIG Lite or CAIQ) distributed</a:t>
            </a:r>
          </a:p>
        </p:txBody>
      </p:sp>
      <p:sp>
        <p:nvSpPr>
          <p:cNvPr id="11" name="Rounded Rectangle 10"/>
          <p:cNvSpPr/>
          <p:nvPr/>
        </p:nvSpPr>
        <p:spPr>
          <a:xfrm>
            <a:off x="731520" y="3383280"/>
            <a:ext cx="6583680" cy="13716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3383280"/>
            <a:ext cx="658368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3520440"/>
            <a:ext cx="6126480" cy="274320"/>
          </a:xfrm>
          <a:prstGeom prst="rect">
            <a:avLst/>
          </a:prstGeom>
          <a:noFill/>
        </p:spPr>
        <p:txBody>
          <a:bodyPr wrap="square"/>
          <a:lstStyle/>
          <a:p>
            <a:pPr algn="l">
              <a:defRPr sz="1200" b="1">
                <a:solidFill>
                  <a:srgbClr val="00B4D8"/>
                </a:solidFill>
                <a:latin typeface="Calibri"/>
              </a:defRPr>
            </a:pPr>
            <a:r>
              <a:t>Phase 2: Assessment &amp; Validation</a:t>
            </a:r>
          </a:p>
        </p:txBody>
      </p:sp>
      <p:sp>
        <p:nvSpPr>
          <p:cNvPr id="14" name="TextBox 13"/>
          <p:cNvSpPr txBox="1"/>
          <p:nvPr/>
        </p:nvSpPr>
        <p:spPr>
          <a:xfrm>
            <a:off x="1005840" y="3794760"/>
            <a:ext cx="6126480" cy="868680"/>
          </a:xfrm>
          <a:prstGeom prst="rect">
            <a:avLst/>
          </a:prstGeom>
          <a:noFill/>
        </p:spPr>
        <p:txBody>
          <a:bodyPr wrap="square">
            <a:spAutoFit/>
          </a:bodyPr>
          <a:lstStyle/>
          <a:p>
            <a:pPr>
              <a:spcBef>
                <a:spcPts val="200"/>
              </a:spcBef>
              <a:spcAft>
                <a:spcPts val="100"/>
              </a:spcAft>
              <a:defRPr sz="1000">
                <a:solidFill>
                  <a:srgbClr val="E8ECF1"/>
                </a:solidFill>
                <a:latin typeface="Calibri"/>
              </a:defRPr>
            </a:pPr>
            <a:r>
              <a:t>  Third-party security assessment completed</a:t>
            </a:r>
          </a:p>
          <a:p>
            <a:pPr>
              <a:spcBef>
                <a:spcPts val="200"/>
              </a:spcBef>
              <a:spcAft>
                <a:spcPts val="100"/>
              </a:spcAft>
              <a:defRPr sz="1000">
                <a:solidFill>
                  <a:srgbClr val="E8ECF1"/>
                </a:solidFill>
                <a:latin typeface="Calibri"/>
              </a:defRPr>
            </a:pPr>
            <a:r>
              <a:t>  SOC 2 Type II / ISO 27001 certificate verification</a:t>
            </a:r>
          </a:p>
          <a:p>
            <a:pPr>
              <a:spcBef>
                <a:spcPts val="200"/>
              </a:spcBef>
              <a:spcAft>
                <a:spcPts val="100"/>
              </a:spcAft>
              <a:defRPr sz="1000">
                <a:solidFill>
                  <a:srgbClr val="E8ECF1"/>
                </a:solidFill>
                <a:latin typeface="Calibri"/>
              </a:defRPr>
            </a:pPr>
            <a:r>
              <a:t>  HIPAA safeguard alignment review (Admin/Physical/Technical)</a:t>
            </a:r>
          </a:p>
          <a:p>
            <a:pPr>
              <a:spcBef>
                <a:spcPts val="200"/>
              </a:spcBef>
              <a:spcAft>
                <a:spcPts val="100"/>
              </a:spcAft>
              <a:defRPr sz="1000">
                <a:solidFill>
                  <a:srgbClr val="E8ECF1"/>
                </a:solidFill>
                <a:latin typeface="Calibri"/>
              </a:defRPr>
            </a:pPr>
            <a:r>
              <a:t>  Penetration test results reviewed (for Critical/High vendors)</a:t>
            </a:r>
          </a:p>
        </p:txBody>
      </p:sp>
      <p:sp>
        <p:nvSpPr>
          <p:cNvPr id="15" name="Rounded Rectangle 14"/>
          <p:cNvSpPr/>
          <p:nvPr/>
        </p:nvSpPr>
        <p:spPr>
          <a:xfrm>
            <a:off x="731520" y="4846320"/>
            <a:ext cx="6583680" cy="13716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846320"/>
            <a:ext cx="6583680" cy="4572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983480"/>
            <a:ext cx="6126480" cy="274320"/>
          </a:xfrm>
          <a:prstGeom prst="rect">
            <a:avLst/>
          </a:prstGeom>
          <a:noFill/>
        </p:spPr>
        <p:txBody>
          <a:bodyPr wrap="square"/>
          <a:lstStyle/>
          <a:p>
            <a:pPr algn="l">
              <a:defRPr sz="1200" b="1">
                <a:solidFill>
                  <a:srgbClr val="00C896"/>
                </a:solidFill>
                <a:latin typeface="Calibri"/>
              </a:defRPr>
            </a:pPr>
            <a:r>
              <a:t>Phase 3: Approval &amp; Integration</a:t>
            </a:r>
          </a:p>
        </p:txBody>
      </p:sp>
      <p:sp>
        <p:nvSpPr>
          <p:cNvPr id="18" name="TextBox 17"/>
          <p:cNvSpPr txBox="1"/>
          <p:nvPr/>
        </p:nvSpPr>
        <p:spPr>
          <a:xfrm>
            <a:off x="1005840" y="5257800"/>
            <a:ext cx="6126480" cy="868680"/>
          </a:xfrm>
          <a:prstGeom prst="rect">
            <a:avLst/>
          </a:prstGeom>
          <a:noFill/>
        </p:spPr>
        <p:txBody>
          <a:bodyPr wrap="square">
            <a:spAutoFit/>
          </a:bodyPr>
          <a:lstStyle/>
          <a:p>
            <a:pPr>
              <a:spcBef>
                <a:spcPts val="200"/>
              </a:spcBef>
              <a:spcAft>
                <a:spcPts val="100"/>
              </a:spcAft>
              <a:defRPr sz="1000">
                <a:solidFill>
                  <a:srgbClr val="E8ECF1"/>
                </a:solidFill>
                <a:latin typeface="Calibri"/>
              </a:defRPr>
            </a:pPr>
            <a:r>
              <a:t>  Risk assessment report presented to TPRM committee</a:t>
            </a:r>
          </a:p>
          <a:p>
            <a:pPr>
              <a:spcBef>
                <a:spcPts val="200"/>
              </a:spcBef>
              <a:spcAft>
                <a:spcPts val="100"/>
              </a:spcAft>
              <a:defRPr sz="1000">
                <a:solidFill>
                  <a:srgbClr val="E8ECF1"/>
                </a:solidFill>
                <a:latin typeface="Calibri"/>
              </a:defRPr>
            </a:pPr>
            <a:r>
              <a:t>  Formal approval from CISO, Compliance Officer, and business owner</a:t>
            </a:r>
          </a:p>
          <a:p>
            <a:pPr>
              <a:spcBef>
                <a:spcPts val="200"/>
              </a:spcBef>
              <a:spcAft>
                <a:spcPts val="100"/>
              </a:spcAft>
              <a:defRPr sz="1000">
                <a:solidFill>
                  <a:srgbClr val="E8ECF1"/>
                </a:solidFill>
                <a:latin typeface="Calibri"/>
              </a:defRPr>
            </a:pPr>
            <a:r>
              <a:t>  Vendor added to continuous monitoring schedule</a:t>
            </a:r>
          </a:p>
          <a:p>
            <a:pPr>
              <a:spcBef>
                <a:spcPts val="200"/>
              </a:spcBef>
              <a:spcAft>
                <a:spcPts val="100"/>
              </a:spcAft>
              <a:defRPr sz="1000">
                <a:solidFill>
                  <a:srgbClr val="E8ECF1"/>
                </a:solidFill>
                <a:latin typeface="Calibri"/>
              </a:defRPr>
            </a:pPr>
            <a:r>
              <a:t>  Access credentials provisioned with least-privilege principle</a:t>
            </a:r>
          </a:p>
        </p:txBody>
      </p:sp>
      <p:sp>
        <p:nvSpPr>
          <p:cNvPr id="19" name="Rounded Rectangle 18"/>
          <p:cNvSpPr/>
          <p:nvPr/>
        </p:nvSpPr>
        <p:spPr>
          <a:xfrm>
            <a:off x="7589520" y="1920240"/>
            <a:ext cx="3840480" cy="438912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89520" y="1920240"/>
            <a:ext cx="3840480" cy="4572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63840" y="2057400"/>
            <a:ext cx="3383280" cy="274320"/>
          </a:xfrm>
          <a:prstGeom prst="rect">
            <a:avLst/>
          </a:prstGeom>
          <a:noFill/>
        </p:spPr>
        <p:txBody>
          <a:bodyPr wrap="square"/>
          <a:lstStyle/>
          <a:p>
            <a:pPr algn="l">
              <a:defRPr sz="1200" b="1">
                <a:solidFill>
                  <a:srgbClr val="FFB020"/>
                </a:solidFill>
                <a:latin typeface="Calibri"/>
              </a:defRPr>
            </a:pPr>
            <a:r>
              <a:t>Key Improvements vs. Prior Process</a:t>
            </a:r>
          </a:p>
        </p:txBody>
      </p:sp>
      <p:sp>
        <p:nvSpPr>
          <p:cNvPr id="22" name="TextBox 21"/>
          <p:cNvSpPr txBox="1"/>
          <p:nvPr/>
        </p:nvSpPr>
        <p:spPr>
          <a:xfrm>
            <a:off x="7863840" y="2423160"/>
            <a:ext cx="3383280" cy="3749039"/>
          </a:xfrm>
          <a:prstGeom prst="rect">
            <a:avLst/>
          </a:prstGeom>
          <a:noFill/>
        </p:spPr>
        <p:txBody>
          <a:bodyPr wrap="square">
            <a:spAutoFit/>
          </a:bodyPr>
          <a:lstStyle/>
          <a:p>
            <a:pPr>
              <a:spcBef>
                <a:spcPts val="600"/>
              </a:spcBef>
              <a:spcAft>
                <a:spcPts val="200"/>
              </a:spcAft>
              <a:defRPr sz="900">
                <a:solidFill>
                  <a:srgbClr val="E8ECF1"/>
                </a:solidFill>
                <a:latin typeface="Calibri"/>
              </a:defRPr>
            </a:pPr>
            <a:r>
              <a:t>&gt;&gt;  Risk-tiered assessment depth - Critical/High vendors receive full SIG + pen test review; Medium/Low receive SIG Lite</a:t>
            </a:r>
          </a:p>
          <a:p>
            <a:pPr>
              <a:spcBef>
                <a:spcPts val="600"/>
              </a:spcBef>
              <a:spcAft>
                <a:spcPts val="200"/>
              </a:spcAft>
              <a:defRPr sz="900">
                <a:solidFill>
                  <a:srgbClr val="E8ECF1"/>
                </a:solidFill>
                <a:latin typeface="Calibri"/>
              </a:defRPr>
            </a:pPr>
            <a:r>
              <a:t>&gt;&gt;  Mandatory BAA execution before any system access - eliminates pre-BAA PHI exposure gap identified in McKesson assessment</a:t>
            </a:r>
          </a:p>
          <a:p>
            <a:pPr>
              <a:spcBef>
                <a:spcPts val="600"/>
              </a:spcBef>
              <a:spcAft>
                <a:spcPts val="200"/>
              </a:spcAft>
              <a:defRPr sz="900">
                <a:solidFill>
                  <a:srgbClr val="E8ECF1"/>
                </a:solidFill>
                <a:latin typeface="Calibri"/>
              </a:defRPr>
            </a:pPr>
            <a:r>
              <a:t>&gt;&gt;  Automated compliance scoring - each vendor receives a compliance score (0-100) that triggers escalation if below 75%</a:t>
            </a:r>
          </a:p>
          <a:p>
            <a:pPr>
              <a:spcBef>
                <a:spcPts val="600"/>
              </a:spcBef>
              <a:spcAft>
                <a:spcPts val="200"/>
              </a:spcAft>
              <a:defRPr sz="900">
                <a:solidFill>
                  <a:srgbClr val="E8ECF1"/>
                </a:solidFill>
                <a:latin typeface="Calibri"/>
              </a:defRPr>
            </a:pPr>
            <a:r>
              <a:t>&gt;&gt;  Executive sign-off requirement - CISO and Compliance Officer must approve all Critical and High-risk vendors</a:t>
            </a:r>
          </a:p>
          <a:p>
            <a:pPr>
              <a:spcBef>
                <a:spcPts val="600"/>
              </a:spcBef>
              <a:spcAft>
                <a:spcPts val="200"/>
              </a:spcAft>
              <a:defRPr sz="900">
                <a:solidFill>
                  <a:srgbClr val="E8ECF1"/>
                </a:solidFill>
                <a:latin typeface="Calibri"/>
              </a:defRPr>
            </a:pPr>
            <a:r>
              <a:t>&gt;&gt;  Integration with continuous monitoring - onboarding directly feeds into quarterly monitoring schedule</a:t>
            </a:r>
          </a:p>
          <a:p>
            <a:pPr>
              <a:spcBef>
                <a:spcPts val="600"/>
              </a:spcBef>
              <a:spcAft>
                <a:spcPts val="200"/>
              </a:spcAft>
              <a:defRPr sz="900">
                <a:solidFill>
                  <a:srgbClr val="E8ECF1"/>
                </a:solidFill>
                <a:latin typeface="Calibri"/>
              </a:defRPr>
            </a:pPr>
            <a:r>
              <a:t>&gt;&gt;  Standardized evidence repository - all onboarding artifacts stored in centralized TPRM platform with audit trail</a:t>
            </a:r>
          </a:p>
        </p:txBody>
      </p:sp>
      <p:sp>
        <p:nvSpPr>
          <p:cNvPr id="23" name="Rectangle 22"/>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7/12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PROCESS IMPROVEMENT</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Continuous Monitoring Framework</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Automated monitoring tools, quarterly audit cycles, and real-time alerting</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3474720" cy="420624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347472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057400"/>
            <a:ext cx="3200400" cy="320040"/>
          </a:xfrm>
          <a:prstGeom prst="rect">
            <a:avLst/>
          </a:prstGeom>
          <a:noFill/>
        </p:spPr>
        <p:txBody>
          <a:bodyPr wrap="square"/>
          <a:lstStyle/>
          <a:p>
            <a:pPr algn="l">
              <a:defRPr sz="1300" b="1">
                <a:solidFill>
                  <a:srgbClr val="007ACC"/>
                </a:solidFill>
                <a:latin typeface="Calibri"/>
              </a:defRPr>
            </a:pPr>
            <a:r>
              <a:t>Automated Tools</a:t>
            </a:r>
          </a:p>
        </p:txBody>
      </p:sp>
      <p:sp>
        <p:nvSpPr>
          <p:cNvPr id="10" name="TextBox 9"/>
          <p:cNvSpPr txBox="1"/>
          <p:nvPr/>
        </p:nvSpPr>
        <p:spPr>
          <a:xfrm>
            <a:off x="868680" y="2423160"/>
            <a:ext cx="3200400" cy="3474720"/>
          </a:xfrm>
          <a:prstGeom prst="rect">
            <a:avLst/>
          </a:prstGeom>
          <a:noFill/>
        </p:spPr>
        <p:txBody>
          <a:bodyPr wrap="square">
            <a:spAutoFit/>
          </a:bodyPr>
          <a:lstStyle/>
          <a:p>
            <a:pPr>
              <a:spcBef>
                <a:spcPts val="400"/>
              </a:spcBef>
              <a:spcAft>
                <a:spcPts val="200"/>
              </a:spcAft>
              <a:defRPr sz="900">
                <a:solidFill>
                  <a:srgbClr val="E8ECF1"/>
                </a:solidFill>
                <a:latin typeface="Calibri"/>
              </a:defRPr>
            </a:pPr>
            <a:r>
              <a:t>  Security ratings platform (BitSight / SecurityScorecard) for continuous external posture monitoring</a:t>
            </a:r>
          </a:p>
          <a:p>
            <a:pPr>
              <a:spcBef>
                <a:spcPts val="400"/>
              </a:spcBef>
              <a:spcAft>
                <a:spcPts val="200"/>
              </a:spcAft>
              <a:defRPr sz="900">
                <a:solidFill>
                  <a:srgbClr val="E8ECF1"/>
                </a:solidFill>
                <a:latin typeface="Calibri"/>
              </a:defRPr>
            </a:pPr>
            <a:r>
              <a:t>  Vulnerability scanning integration with vendor-hosted systems (quarterly scans, critical findings within 48hrs)</a:t>
            </a:r>
          </a:p>
          <a:p>
            <a:pPr>
              <a:spcBef>
                <a:spcPts val="400"/>
              </a:spcBef>
              <a:spcAft>
                <a:spcPts val="200"/>
              </a:spcAft>
              <a:defRPr sz="900">
                <a:solidFill>
                  <a:srgbClr val="E8ECF1"/>
                </a:solidFill>
                <a:latin typeface="Calibri"/>
              </a:defRPr>
            </a:pPr>
            <a:r>
              <a:t>  Certificate expiry monitoring for all vendor TLS/SSL certificates</a:t>
            </a:r>
          </a:p>
          <a:p>
            <a:pPr>
              <a:spcBef>
                <a:spcPts val="400"/>
              </a:spcBef>
              <a:spcAft>
                <a:spcPts val="200"/>
              </a:spcAft>
              <a:defRPr sz="900">
                <a:solidFill>
                  <a:srgbClr val="E8ECF1"/>
                </a:solidFill>
                <a:latin typeface="Calibri"/>
              </a:defRPr>
            </a:pPr>
            <a:r>
              <a:t>  Breach notification feed monitoring (Have I Been Pwned, dark web monitoring)</a:t>
            </a:r>
          </a:p>
        </p:txBody>
      </p:sp>
      <p:sp>
        <p:nvSpPr>
          <p:cNvPr id="11" name="Rounded Rectangle 10"/>
          <p:cNvSpPr/>
          <p:nvPr/>
        </p:nvSpPr>
        <p:spPr>
          <a:xfrm>
            <a:off x="4434840" y="1920240"/>
            <a:ext cx="3474720" cy="420624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920240"/>
            <a:ext cx="34747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2057400"/>
            <a:ext cx="3200400" cy="320040"/>
          </a:xfrm>
          <a:prstGeom prst="rect">
            <a:avLst/>
          </a:prstGeom>
          <a:noFill/>
        </p:spPr>
        <p:txBody>
          <a:bodyPr wrap="square"/>
          <a:lstStyle/>
          <a:p>
            <a:pPr algn="l">
              <a:defRPr sz="1300" b="1">
                <a:solidFill>
                  <a:srgbClr val="00B4D8"/>
                </a:solidFill>
                <a:latin typeface="Calibri"/>
              </a:defRPr>
            </a:pPr>
            <a:r>
              <a:t>Quarterly Audit Cycle</a:t>
            </a:r>
          </a:p>
        </p:txBody>
      </p:sp>
      <p:sp>
        <p:nvSpPr>
          <p:cNvPr id="14" name="TextBox 13"/>
          <p:cNvSpPr txBox="1"/>
          <p:nvPr/>
        </p:nvSpPr>
        <p:spPr>
          <a:xfrm>
            <a:off x="4572000" y="2423160"/>
            <a:ext cx="3200400" cy="3474720"/>
          </a:xfrm>
          <a:prstGeom prst="rect">
            <a:avLst/>
          </a:prstGeom>
          <a:noFill/>
        </p:spPr>
        <p:txBody>
          <a:bodyPr wrap="square">
            <a:spAutoFit/>
          </a:bodyPr>
          <a:lstStyle/>
          <a:p>
            <a:pPr>
              <a:spcBef>
                <a:spcPts val="400"/>
              </a:spcBef>
              <a:spcAft>
                <a:spcPts val="200"/>
              </a:spcAft>
              <a:defRPr sz="900">
                <a:solidFill>
                  <a:srgbClr val="E8ECF1"/>
                </a:solidFill>
                <a:latin typeface="Calibri"/>
              </a:defRPr>
            </a:pPr>
            <a:r>
              <a:t>  Q1: Full risk reassessment + BAA compliance review</a:t>
            </a:r>
          </a:p>
          <a:p>
            <a:pPr>
              <a:spcBef>
                <a:spcPts val="400"/>
              </a:spcBef>
              <a:spcAft>
                <a:spcPts val="200"/>
              </a:spcAft>
              <a:defRPr sz="900">
                <a:solidFill>
                  <a:srgbClr val="E8ECF1"/>
                </a:solidFill>
                <a:latin typeface="Calibri"/>
              </a:defRPr>
            </a:pPr>
            <a:r>
              <a:t>  Q2: Access control audit + MFA enforcement verification</a:t>
            </a:r>
          </a:p>
          <a:p>
            <a:pPr>
              <a:spcBef>
                <a:spcPts val="400"/>
              </a:spcBef>
              <a:spcAft>
                <a:spcPts val="200"/>
              </a:spcAft>
              <a:defRPr sz="900">
                <a:solidFill>
                  <a:srgbClr val="E8ECF1"/>
                </a:solidFill>
                <a:latin typeface="Calibri"/>
              </a:defRPr>
            </a:pPr>
            <a:r>
              <a:t>  Q3: Incident response tabletop exercise with vendor participation</a:t>
            </a:r>
          </a:p>
          <a:p>
            <a:pPr>
              <a:spcBef>
                <a:spcPts val="400"/>
              </a:spcBef>
              <a:spcAft>
                <a:spcPts val="200"/>
              </a:spcAft>
              <a:defRPr sz="900">
                <a:solidFill>
                  <a:srgbClr val="E8ECF1"/>
                </a:solidFill>
                <a:latin typeface="Calibri"/>
              </a:defRPr>
            </a:pPr>
            <a:r>
              <a:t>  Q4: Annual compliance scoring + Year 2 planning input</a:t>
            </a:r>
          </a:p>
        </p:txBody>
      </p:sp>
      <p:sp>
        <p:nvSpPr>
          <p:cNvPr id="15" name="Rounded Rectangle 14"/>
          <p:cNvSpPr/>
          <p:nvPr/>
        </p:nvSpPr>
        <p:spPr>
          <a:xfrm>
            <a:off x="8138160" y="1920240"/>
            <a:ext cx="3474720" cy="420624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920240"/>
            <a:ext cx="3474720" cy="54864"/>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2057400"/>
            <a:ext cx="3200400" cy="320040"/>
          </a:xfrm>
          <a:prstGeom prst="rect">
            <a:avLst/>
          </a:prstGeom>
          <a:noFill/>
        </p:spPr>
        <p:txBody>
          <a:bodyPr wrap="square"/>
          <a:lstStyle/>
          <a:p>
            <a:pPr algn="l">
              <a:defRPr sz="1300" b="1">
                <a:solidFill>
                  <a:srgbClr val="00C896"/>
                </a:solidFill>
                <a:latin typeface="Calibri"/>
              </a:defRPr>
            </a:pPr>
            <a:r>
              <a:t>Real-Time Alerting</a:t>
            </a:r>
          </a:p>
        </p:txBody>
      </p:sp>
      <p:sp>
        <p:nvSpPr>
          <p:cNvPr id="18" name="TextBox 17"/>
          <p:cNvSpPr txBox="1"/>
          <p:nvPr/>
        </p:nvSpPr>
        <p:spPr>
          <a:xfrm>
            <a:off x="8275320" y="2423160"/>
            <a:ext cx="3200400" cy="3474720"/>
          </a:xfrm>
          <a:prstGeom prst="rect">
            <a:avLst/>
          </a:prstGeom>
          <a:noFill/>
        </p:spPr>
        <p:txBody>
          <a:bodyPr wrap="square">
            <a:spAutoFit/>
          </a:bodyPr>
          <a:lstStyle/>
          <a:p>
            <a:pPr>
              <a:spcBef>
                <a:spcPts val="400"/>
              </a:spcBef>
              <a:spcAft>
                <a:spcPts val="200"/>
              </a:spcAft>
              <a:defRPr sz="900">
                <a:solidFill>
                  <a:srgbClr val="E8ECF1"/>
                </a:solidFill>
                <a:latin typeface="Calibri"/>
              </a:defRPr>
            </a:pPr>
            <a:r>
              <a:t>  Automated alerts for security rating drops below threshold (700 BitSight / 75 SecurityScorecard)</a:t>
            </a:r>
          </a:p>
          <a:p>
            <a:pPr>
              <a:spcBef>
                <a:spcPts val="400"/>
              </a:spcBef>
              <a:spcAft>
                <a:spcPts val="200"/>
              </a:spcAft>
              <a:defRPr sz="900">
                <a:solidFill>
                  <a:srgbClr val="E8ECF1"/>
                </a:solidFill>
                <a:latin typeface="Calibri"/>
              </a:defRPr>
            </a:pPr>
            <a:r>
              <a:t>  Immediate notification of vendor data breach or security incident</a:t>
            </a:r>
          </a:p>
          <a:p>
            <a:pPr>
              <a:spcBef>
                <a:spcPts val="400"/>
              </a:spcBef>
              <a:spcAft>
                <a:spcPts val="200"/>
              </a:spcAft>
              <a:defRPr sz="900">
                <a:solidFill>
                  <a:srgbClr val="E8ECF1"/>
                </a:solidFill>
                <a:latin typeface="Calibri"/>
              </a:defRPr>
            </a:pPr>
            <a:r>
              <a:t>  BAA expiration alerts (90-day, 60-day, 30-day advance warnings)</a:t>
            </a:r>
          </a:p>
          <a:p>
            <a:pPr>
              <a:spcBef>
                <a:spcPts val="400"/>
              </a:spcBef>
              <a:spcAft>
                <a:spcPts val="200"/>
              </a:spcAft>
              <a:defRPr sz="900">
                <a:solidFill>
                  <a:srgbClr val="E8ECF1"/>
                </a:solidFill>
                <a:latin typeface="Calibri"/>
              </a:defRPr>
            </a:pPr>
            <a:r>
              <a:t>  Compliance score degradation alerts (below 80% triggers escalation)</a:t>
            </a:r>
          </a:p>
        </p:txBody>
      </p:sp>
      <p:sp>
        <p:nvSpPr>
          <p:cNvPr id="19" name="Rounded Rectangle 18"/>
          <p:cNvSpPr/>
          <p:nvPr/>
        </p:nvSpPr>
        <p:spPr>
          <a:xfrm>
            <a:off x="731520" y="5486400"/>
            <a:ext cx="10698480" cy="9144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5486400"/>
            <a:ext cx="10698480" cy="4572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623560"/>
            <a:ext cx="10241280" cy="731520"/>
          </a:xfrm>
          <a:prstGeom prst="rect">
            <a:avLst/>
          </a:prstGeom>
          <a:noFill/>
        </p:spPr>
        <p:txBody>
          <a:bodyPr wrap="square"/>
          <a:lstStyle/>
          <a:p>
            <a:pPr algn="l">
              <a:defRPr sz="1200" b="1">
                <a:solidFill>
                  <a:srgbClr val="FF4D4D"/>
                </a:solidFill>
                <a:latin typeface="Calibri"/>
              </a:defRPr>
            </a:pPr>
            <a:r>
              <a:t>Escalation Matrix</a:t>
            </a:r>
          </a:p>
          <a:p>
            <a:pPr algn="l">
              <a:spcBef>
                <a:spcPts val="400"/>
              </a:spcBef>
              <a:spcAft>
                <a:spcPts val="200"/>
              </a:spcAft>
              <a:defRPr sz="1000" b="0">
                <a:solidFill>
                  <a:srgbClr val="E8ECF1"/>
                </a:solidFill>
                <a:latin typeface="Calibri"/>
              </a:defRPr>
            </a:pPr>
            <a:r>
              <a:t>Critical Alert &gt;&gt; CISO notified within 1 hour  |  High Alert &gt;&gt; TPRM Lead notified within 4 hours  |  Medium Alert &gt;&gt; Reviewed in weekly TPRM standup  |  Low Alert &gt;&gt; Logged and reviewed in quarterly audit</a:t>
            </a:r>
          </a:p>
        </p:txBody>
      </p:sp>
      <p:sp>
        <p:nvSpPr>
          <p:cNvPr id="22" name="Rectangle 21"/>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8/12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PROCESS IMPROVEMENT</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Vendor Offboarding Process</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10-item offboarding checklist - ensuring secure, compliant, and complete vendor exit</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658368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6583680" cy="4572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29968"/>
            <a:ext cx="6126480" cy="274320"/>
          </a:xfrm>
          <a:prstGeom prst="rect">
            <a:avLst/>
          </a:prstGeom>
          <a:noFill/>
        </p:spPr>
        <p:txBody>
          <a:bodyPr wrap="square"/>
          <a:lstStyle/>
          <a:p>
            <a:pPr algn="l">
              <a:defRPr sz="1200" b="1">
                <a:solidFill>
                  <a:srgbClr val="FF4D4D"/>
                </a:solidFill>
                <a:latin typeface="Calibri"/>
              </a:defRPr>
            </a:pPr>
            <a:r>
              <a:t>Phase 1: Access Revocation</a:t>
            </a:r>
          </a:p>
        </p:txBody>
      </p:sp>
      <p:sp>
        <p:nvSpPr>
          <p:cNvPr id="10" name="TextBox 9"/>
          <p:cNvSpPr txBox="1"/>
          <p:nvPr/>
        </p:nvSpPr>
        <p:spPr>
          <a:xfrm>
            <a:off x="1005840" y="2304288"/>
            <a:ext cx="6126480" cy="822960"/>
          </a:xfrm>
          <a:prstGeom prst="rect">
            <a:avLst/>
          </a:prstGeom>
          <a:noFill/>
        </p:spPr>
        <p:txBody>
          <a:bodyPr wrap="square">
            <a:spAutoFit/>
          </a:bodyPr>
          <a:lstStyle/>
          <a:p>
            <a:pPr>
              <a:spcBef>
                <a:spcPts val="200"/>
              </a:spcBef>
              <a:spcAft>
                <a:spcPts val="100"/>
              </a:spcAft>
              <a:defRPr sz="1000">
                <a:solidFill>
                  <a:srgbClr val="E8ECF1"/>
                </a:solidFill>
                <a:latin typeface="Calibri"/>
              </a:defRPr>
            </a:pPr>
            <a:r>
              <a:t>  All vendor user accounts disabled within 24 hours of termination notice</a:t>
            </a:r>
          </a:p>
          <a:p>
            <a:pPr>
              <a:spcBef>
                <a:spcPts val="200"/>
              </a:spcBef>
              <a:spcAft>
                <a:spcPts val="100"/>
              </a:spcAft>
              <a:defRPr sz="1000">
                <a:solidFill>
                  <a:srgbClr val="E8ECF1"/>
                </a:solidFill>
                <a:latin typeface="Calibri"/>
              </a:defRPr>
            </a:pPr>
            <a:r>
              <a:t>  API keys, service accounts, and integration tokens revoked</a:t>
            </a:r>
          </a:p>
          <a:p>
            <a:pPr>
              <a:spcBef>
                <a:spcPts val="200"/>
              </a:spcBef>
              <a:spcAft>
                <a:spcPts val="100"/>
              </a:spcAft>
              <a:defRPr sz="1000">
                <a:solidFill>
                  <a:srgbClr val="E8ECF1"/>
                </a:solidFill>
                <a:latin typeface="Calibri"/>
              </a:defRPr>
            </a:pPr>
            <a:r>
              <a:t>  VPN and remote access credentials terminated</a:t>
            </a:r>
          </a:p>
          <a:p>
            <a:pPr>
              <a:spcBef>
                <a:spcPts val="200"/>
              </a:spcBef>
              <a:spcAft>
                <a:spcPts val="100"/>
              </a:spcAft>
              <a:defRPr sz="1000">
                <a:solidFill>
                  <a:srgbClr val="E8ECF1"/>
                </a:solidFill>
                <a:latin typeface="Calibri"/>
              </a:defRPr>
            </a:pPr>
            <a:r>
              <a:t>  Shared credentials rotated and access logs reviewed for anomalies</a:t>
            </a:r>
          </a:p>
        </p:txBody>
      </p:sp>
      <p:sp>
        <p:nvSpPr>
          <p:cNvPr id="11" name="Rounded Rectangle 10"/>
          <p:cNvSpPr/>
          <p:nvPr/>
        </p:nvSpPr>
        <p:spPr>
          <a:xfrm>
            <a:off x="731520" y="3291840"/>
            <a:ext cx="658368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3291840"/>
            <a:ext cx="6583680" cy="4572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3401568"/>
            <a:ext cx="6126480" cy="274320"/>
          </a:xfrm>
          <a:prstGeom prst="rect">
            <a:avLst/>
          </a:prstGeom>
          <a:noFill/>
        </p:spPr>
        <p:txBody>
          <a:bodyPr wrap="square"/>
          <a:lstStyle/>
          <a:p>
            <a:pPr algn="l">
              <a:defRPr sz="1200" b="1">
                <a:solidFill>
                  <a:srgbClr val="FFB020"/>
                </a:solidFill>
                <a:latin typeface="Calibri"/>
              </a:defRPr>
            </a:pPr>
            <a:r>
              <a:t>Phase 2: Data &amp; Asset Recovery</a:t>
            </a:r>
          </a:p>
        </p:txBody>
      </p:sp>
      <p:sp>
        <p:nvSpPr>
          <p:cNvPr id="14" name="TextBox 13"/>
          <p:cNvSpPr txBox="1"/>
          <p:nvPr/>
        </p:nvSpPr>
        <p:spPr>
          <a:xfrm>
            <a:off x="1005840" y="3675888"/>
            <a:ext cx="6126480" cy="822960"/>
          </a:xfrm>
          <a:prstGeom prst="rect">
            <a:avLst/>
          </a:prstGeom>
          <a:noFill/>
        </p:spPr>
        <p:txBody>
          <a:bodyPr wrap="square">
            <a:spAutoFit/>
          </a:bodyPr>
          <a:lstStyle/>
          <a:p>
            <a:pPr>
              <a:spcBef>
                <a:spcPts val="200"/>
              </a:spcBef>
              <a:spcAft>
                <a:spcPts val="100"/>
              </a:spcAft>
              <a:defRPr sz="1000">
                <a:solidFill>
                  <a:srgbClr val="E8ECF1"/>
                </a:solidFill>
                <a:latin typeface="Calibri"/>
              </a:defRPr>
            </a:pPr>
            <a:r>
              <a:t>  All PHI/PII data returned or certified destroyed (with Certificate of Destruction)</a:t>
            </a:r>
          </a:p>
          <a:p>
            <a:pPr>
              <a:spcBef>
                <a:spcPts val="200"/>
              </a:spcBef>
              <a:spcAft>
                <a:spcPts val="100"/>
              </a:spcAft>
              <a:defRPr sz="1000">
                <a:solidFill>
                  <a:srgbClr val="E8ECF1"/>
                </a:solidFill>
                <a:latin typeface="Calibri"/>
              </a:defRPr>
            </a:pPr>
            <a:r>
              <a:t>  Company-issued assets (laptops, badges, tokens) collected</a:t>
            </a:r>
          </a:p>
          <a:p>
            <a:pPr>
              <a:spcBef>
                <a:spcPts val="200"/>
              </a:spcBef>
              <a:spcAft>
                <a:spcPts val="100"/>
              </a:spcAft>
              <a:defRPr sz="1000">
                <a:solidFill>
                  <a:srgbClr val="E8ECF1"/>
                </a:solidFill>
                <a:latin typeface="Calibri"/>
              </a:defRPr>
            </a:pPr>
            <a:r>
              <a:t>  Cloud storage access revoked; data export completed and verified</a:t>
            </a:r>
          </a:p>
        </p:txBody>
      </p:sp>
      <p:sp>
        <p:nvSpPr>
          <p:cNvPr id="15" name="Rounded Rectangle 14"/>
          <p:cNvSpPr/>
          <p:nvPr/>
        </p:nvSpPr>
        <p:spPr>
          <a:xfrm>
            <a:off x="731520" y="4663440"/>
            <a:ext cx="658368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663440"/>
            <a:ext cx="6583680" cy="4572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773168"/>
            <a:ext cx="6126480" cy="274320"/>
          </a:xfrm>
          <a:prstGeom prst="rect">
            <a:avLst/>
          </a:prstGeom>
          <a:noFill/>
        </p:spPr>
        <p:txBody>
          <a:bodyPr wrap="square"/>
          <a:lstStyle/>
          <a:p>
            <a:pPr algn="l">
              <a:defRPr sz="1200" b="1">
                <a:solidFill>
                  <a:srgbClr val="00C896"/>
                </a:solidFill>
                <a:latin typeface="Calibri"/>
              </a:defRPr>
            </a:pPr>
            <a:r>
              <a:t>Phase 3: Compliance &amp; Closure</a:t>
            </a:r>
          </a:p>
        </p:txBody>
      </p:sp>
      <p:sp>
        <p:nvSpPr>
          <p:cNvPr id="18" name="TextBox 17"/>
          <p:cNvSpPr txBox="1"/>
          <p:nvPr/>
        </p:nvSpPr>
        <p:spPr>
          <a:xfrm>
            <a:off x="1005840" y="5047488"/>
            <a:ext cx="6126480" cy="822960"/>
          </a:xfrm>
          <a:prstGeom prst="rect">
            <a:avLst/>
          </a:prstGeom>
          <a:noFill/>
        </p:spPr>
        <p:txBody>
          <a:bodyPr wrap="square">
            <a:spAutoFit/>
          </a:bodyPr>
          <a:lstStyle/>
          <a:p>
            <a:pPr>
              <a:spcBef>
                <a:spcPts val="200"/>
              </a:spcBef>
              <a:spcAft>
                <a:spcPts val="100"/>
              </a:spcAft>
              <a:defRPr sz="1000">
                <a:solidFill>
                  <a:srgbClr val="E8ECF1"/>
                </a:solidFill>
                <a:latin typeface="Calibri"/>
              </a:defRPr>
            </a:pPr>
            <a:r>
              <a:t>  Final BAA termination notice sent; obligations survive per contract terms</a:t>
            </a:r>
          </a:p>
          <a:p>
            <a:pPr>
              <a:spcBef>
                <a:spcPts val="200"/>
              </a:spcBef>
              <a:spcAft>
                <a:spcPts val="100"/>
              </a:spcAft>
              <a:defRPr sz="1000">
                <a:solidFill>
                  <a:srgbClr val="E8ECF1"/>
                </a:solidFill>
                <a:latin typeface="Calibri"/>
              </a:defRPr>
            </a:pPr>
            <a:r>
              <a:t>  Post-offboarding security review completed within 30 days</a:t>
            </a:r>
          </a:p>
          <a:p>
            <a:pPr>
              <a:spcBef>
                <a:spcPts val="200"/>
              </a:spcBef>
              <a:spcAft>
                <a:spcPts val="100"/>
              </a:spcAft>
              <a:defRPr sz="1000">
                <a:solidFill>
                  <a:srgbClr val="E8ECF1"/>
                </a:solidFill>
                <a:latin typeface="Calibri"/>
              </a:defRPr>
            </a:pPr>
            <a:r>
              <a:t>  Vendor removed from monitoring schedule and asset inventory</a:t>
            </a:r>
          </a:p>
        </p:txBody>
      </p:sp>
      <p:sp>
        <p:nvSpPr>
          <p:cNvPr id="19" name="Rounded Rectangle 18"/>
          <p:cNvSpPr/>
          <p:nvPr/>
        </p:nvSpPr>
        <p:spPr>
          <a:xfrm>
            <a:off x="7589520" y="1920240"/>
            <a:ext cx="3840480" cy="438912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89520" y="1920240"/>
            <a:ext cx="384048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63840" y="2057400"/>
            <a:ext cx="3383280" cy="274320"/>
          </a:xfrm>
          <a:prstGeom prst="rect">
            <a:avLst/>
          </a:prstGeom>
          <a:noFill/>
        </p:spPr>
        <p:txBody>
          <a:bodyPr wrap="square"/>
          <a:lstStyle/>
          <a:p>
            <a:pPr algn="l">
              <a:defRPr sz="1200" b="1">
                <a:solidFill>
                  <a:srgbClr val="00B4D8"/>
                </a:solidFill>
                <a:latin typeface="Calibri"/>
              </a:defRPr>
            </a:pPr>
            <a:r>
              <a:t>Offboarding Lessons Learned</a:t>
            </a:r>
          </a:p>
        </p:txBody>
      </p:sp>
      <p:sp>
        <p:nvSpPr>
          <p:cNvPr id="22" name="TextBox 21"/>
          <p:cNvSpPr txBox="1"/>
          <p:nvPr/>
        </p:nvSpPr>
        <p:spPr>
          <a:xfrm>
            <a:off x="7863840" y="2423160"/>
            <a:ext cx="3383280" cy="3749039"/>
          </a:xfrm>
          <a:prstGeom prst="rect">
            <a:avLst/>
          </a:prstGeom>
          <a:noFill/>
        </p:spPr>
        <p:txBody>
          <a:bodyPr wrap="square">
            <a:spAutoFit/>
          </a:bodyPr>
          <a:lstStyle/>
          <a:p>
            <a:pPr>
              <a:spcBef>
                <a:spcPts val="600"/>
              </a:spcBef>
              <a:spcAft>
                <a:spcPts val="200"/>
              </a:spcAft>
              <a:defRPr sz="900">
                <a:solidFill>
                  <a:srgbClr val="E8ECF1"/>
                </a:solidFill>
                <a:latin typeface="Calibri"/>
              </a:defRPr>
            </a:pPr>
            <a:r>
              <a:t>&gt;&gt;  Orphaned accounts discovered during McKesson offboarding - led to mandatory 24-hour revocation SLA</a:t>
            </a:r>
          </a:p>
          <a:p>
            <a:pPr>
              <a:spcBef>
                <a:spcPts val="600"/>
              </a:spcBef>
              <a:spcAft>
                <a:spcPts val="200"/>
              </a:spcAft>
              <a:defRPr sz="900">
                <a:solidFill>
                  <a:srgbClr val="E8ECF1"/>
                </a:solidFill>
                <a:latin typeface="Calibri"/>
              </a:defRPr>
            </a:pPr>
            <a:r>
              <a:t>&gt;&gt;  Certificate of Destruction was missing from prior vendor exit - now a mandatory closure artifact</a:t>
            </a:r>
          </a:p>
          <a:p>
            <a:pPr>
              <a:spcBef>
                <a:spcPts val="600"/>
              </a:spcBef>
              <a:spcAft>
                <a:spcPts val="200"/>
              </a:spcAft>
              <a:defRPr sz="900">
                <a:solidFill>
                  <a:srgbClr val="E8ECF1"/>
                </a:solidFill>
                <a:latin typeface="Calibri"/>
              </a:defRPr>
            </a:pPr>
            <a:r>
              <a:t>&gt;&gt;  BAA survival clauses were not tracked - post-termination obligations now logged in compliance calendar</a:t>
            </a:r>
          </a:p>
          <a:p>
            <a:pPr>
              <a:spcBef>
                <a:spcPts val="600"/>
              </a:spcBef>
              <a:spcAft>
                <a:spcPts val="200"/>
              </a:spcAft>
              <a:defRPr sz="900">
                <a:solidFill>
                  <a:srgbClr val="E8ECF1"/>
                </a:solidFill>
                <a:latin typeface="Calibri"/>
              </a:defRPr>
            </a:pPr>
            <a:r>
              <a:t>&gt;&gt;  Asset recovery took 2+ weeks without formal process - now requires 5-business-day return window</a:t>
            </a:r>
          </a:p>
          <a:p>
            <a:pPr>
              <a:spcBef>
                <a:spcPts val="600"/>
              </a:spcBef>
              <a:spcAft>
                <a:spcPts val="200"/>
              </a:spcAft>
              <a:defRPr sz="900">
                <a:solidFill>
                  <a:srgbClr val="E8ECF1"/>
                </a:solidFill>
                <a:latin typeface="Calibri"/>
              </a:defRPr>
            </a:pPr>
            <a:r>
              <a:t>&gt;&gt;  Post-offboarding security review was never conducted - now scheduled at 30 days post-exit</a:t>
            </a:r>
          </a:p>
          <a:p>
            <a:pPr>
              <a:spcBef>
                <a:spcPts val="600"/>
              </a:spcBef>
              <a:spcAft>
                <a:spcPts val="200"/>
              </a:spcAft>
              <a:defRPr sz="900">
                <a:solidFill>
                  <a:srgbClr val="E8ECF1"/>
                </a:solidFill>
                <a:latin typeface="Calibri"/>
              </a:defRPr>
            </a:pPr>
            <a:r>
              <a:t>&gt;&gt;  Monitoring schedule was not updated - automated removal from monitoring now triggered by offboarding workflow</a:t>
            </a:r>
          </a:p>
        </p:txBody>
      </p:sp>
      <p:sp>
        <p:nvSpPr>
          <p:cNvPr id="23" name="Rectangle 22"/>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9/12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RETROSPECTIVE</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Lessons Learned - Year 1 TPRM Program</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Key takeaways, process gaps identified, and institutional knowledge captured</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10698480" cy="6858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73152" cy="6858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10241280" cy="228600"/>
          </a:xfrm>
          <a:prstGeom prst="rect">
            <a:avLst/>
          </a:prstGeom>
          <a:noFill/>
        </p:spPr>
        <p:txBody>
          <a:bodyPr wrap="square"/>
          <a:lstStyle/>
          <a:p>
            <a:pPr algn="l">
              <a:defRPr sz="1100" b="1">
                <a:solidFill>
                  <a:srgbClr val="FF4D4D"/>
                </a:solidFill>
                <a:latin typeface="Calibri"/>
              </a:defRPr>
            </a:pPr>
            <a:r>
              <a:t>Early BAA Execution is Critical</a:t>
            </a:r>
          </a:p>
        </p:txBody>
      </p:sp>
      <p:sp>
        <p:nvSpPr>
          <p:cNvPr id="10" name="TextBox 9"/>
          <p:cNvSpPr txBox="1"/>
          <p:nvPr/>
        </p:nvSpPr>
        <p:spPr>
          <a:xfrm>
            <a:off x="1005840" y="2194560"/>
            <a:ext cx="10241280" cy="365760"/>
          </a:xfrm>
          <a:prstGeom prst="rect">
            <a:avLst/>
          </a:prstGeom>
          <a:noFill/>
        </p:spPr>
        <p:txBody>
          <a:bodyPr wrap="square"/>
          <a:lstStyle/>
          <a:p>
            <a:pPr algn="l">
              <a:defRPr sz="900" b="0">
                <a:solidFill>
                  <a:srgbClr val="E8ECF1"/>
                </a:solidFill>
                <a:latin typeface="Calibri"/>
              </a:defRPr>
            </a:pPr>
            <a:r>
              <a:t>McKesson operated for 3 months without an executed BAA containing Omnibus Rule provisions. All future vendors must have a fully executed BAA before any PHI access is provisioned. Legal review should be initiated during vendor intake, not after onboarding approval.</a:t>
            </a:r>
          </a:p>
        </p:txBody>
      </p:sp>
      <p:sp>
        <p:nvSpPr>
          <p:cNvPr id="11" name="Rounded Rectangle 10"/>
          <p:cNvSpPr/>
          <p:nvPr/>
        </p:nvSpPr>
        <p:spPr>
          <a:xfrm>
            <a:off x="731520" y="2670048"/>
            <a:ext cx="10698480" cy="6858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2670048"/>
            <a:ext cx="73152" cy="6858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2715768"/>
            <a:ext cx="10241280" cy="228600"/>
          </a:xfrm>
          <a:prstGeom prst="rect">
            <a:avLst/>
          </a:prstGeom>
          <a:noFill/>
        </p:spPr>
        <p:txBody>
          <a:bodyPr wrap="square"/>
          <a:lstStyle/>
          <a:p>
            <a:pPr algn="l">
              <a:defRPr sz="1100" b="1">
                <a:solidFill>
                  <a:srgbClr val="007ACC"/>
                </a:solidFill>
                <a:latin typeface="Calibri"/>
              </a:defRPr>
            </a:pPr>
            <a:r>
              <a:t>Risk-Tiered Assessments Save Resources</a:t>
            </a:r>
          </a:p>
        </p:txBody>
      </p:sp>
      <p:sp>
        <p:nvSpPr>
          <p:cNvPr id="14" name="TextBox 13"/>
          <p:cNvSpPr txBox="1"/>
          <p:nvPr/>
        </p:nvSpPr>
        <p:spPr>
          <a:xfrm>
            <a:off x="1005840" y="2944368"/>
            <a:ext cx="10241280" cy="365760"/>
          </a:xfrm>
          <a:prstGeom prst="rect">
            <a:avLst/>
          </a:prstGeom>
          <a:noFill/>
        </p:spPr>
        <p:txBody>
          <a:bodyPr wrap="square"/>
          <a:lstStyle/>
          <a:p>
            <a:pPr algn="l">
              <a:defRPr sz="900" b="0">
                <a:solidFill>
                  <a:srgbClr val="E8ECF1"/>
                </a:solidFill>
                <a:latin typeface="Calibri"/>
              </a:defRPr>
            </a:pPr>
            <a:r>
              <a:t>Applying full assessment depth to all vendors created bottlenecks. The new tiered approach (Critical/High = full SIG + pen test; Medium/Low = SIG Lite) reduced assessment time by 40% while maintaining appropriate rigor for high-risk vendors.</a:t>
            </a:r>
          </a:p>
        </p:txBody>
      </p:sp>
      <p:sp>
        <p:nvSpPr>
          <p:cNvPr id="15" name="Rounded Rectangle 14"/>
          <p:cNvSpPr/>
          <p:nvPr/>
        </p:nvSpPr>
        <p:spPr>
          <a:xfrm>
            <a:off x="731520" y="3419856"/>
            <a:ext cx="10698480" cy="6858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419856"/>
            <a:ext cx="73152" cy="685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465576"/>
            <a:ext cx="10241280" cy="228600"/>
          </a:xfrm>
          <a:prstGeom prst="rect">
            <a:avLst/>
          </a:prstGeom>
          <a:noFill/>
        </p:spPr>
        <p:txBody>
          <a:bodyPr wrap="square"/>
          <a:lstStyle/>
          <a:p>
            <a:pPr algn="l">
              <a:defRPr sz="1100" b="1">
                <a:solidFill>
                  <a:srgbClr val="00B4D8"/>
                </a:solidFill>
                <a:latin typeface="Calibri"/>
              </a:defRPr>
            </a:pPr>
            <a:r>
              <a:t>Continuous Monitoring &gt; Point-in-Time Audits</a:t>
            </a:r>
          </a:p>
        </p:txBody>
      </p:sp>
      <p:sp>
        <p:nvSpPr>
          <p:cNvPr id="18" name="TextBox 17"/>
          <p:cNvSpPr txBox="1"/>
          <p:nvPr/>
        </p:nvSpPr>
        <p:spPr>
          <a:xfrm>
            <a:off x="1005840" y="3694176"/>
            <a:ext cx="10241280" cy="365760"/>
          </a:xfrm>
          <a:prstGeom prst="rect">
            <a:avLst/>
          </a:prstGeom>
          <a:noFill/>
        </p:spPr>
        <p:txBody>
          <a:bodyPr wrap="square"/>
          <a:lstStyle/>
          <a:p>
            <a:pPr algn="l">
              <a:defRPr sz="900" b="0">
                <a:solidFill>
                  <a:srgbClr val="E8ECF1"/>
                </a:solidFill>
                <a:latin typeface="Calibri"/>
              </a:defRPr>
            </a:pPr>
            <a:r>
              <a:t>Quarterly point-in-time audits missed several security posture changes between cycles. The shift to continuous monitoring with automated alerting provides real-time visibility and faster incident response.</a:t>
            </a:r>
          </a:p>
        </p:txBody>
      </p:sp>
      <p:sp>
        <p:nvSpPr>
          <p:cNvPr id="19" name="Rounded Rectangle 18"/>
          <p:cNvSpPr/>
          <p:nvPr/>
        </p:nvSpPr>
        <p:spPr>
          <a:xfrm>
            <a:off x="731520" y="4169664"/>
            <a:ext cx="10698480" cy="6858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4169664"/>
            <a:ext cx="73152" cy="68580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4215384"/>
            <a:ext cx="10241280" cy="228600"/>
          </a:xfrm>
          <a:prstGeom prst="rect">
            <a:avLst/>
          </a:prstGeom>
          <a:noFill/>
        </p:spPr>
        <p:txBody>
          <a:bodyPr wrap="square"/>
          <a:lstStyle/>
          <a:p>
            <a:pPr algn="l">
              <a:defRPr sz="1100" b="1">
                <a:solidFill>
                  <a:srgbClr val="00C896"/>
                </a:solidFill>
                <a:latin typeface="Calibri"/>
              </a:defRPr>
            </a:pPr>
            <a:r>
              <a:t>Executive Sponsorship Drives Remediation</a:t>
            </a:r>
          </a:p>
        </p:txBody>
      </p:sp>
      <p:sp>
        <p:nvSpPr>
          <p:cNvPr id="22" name="TextBox 21"/>
          <p:cNvSpPr txBox="1"/>
          <p:nvPr/>
        </p:nvSpPr>
        <p:spPr>
          <a:xfrm>
            <a:off x="1005840" y="4443984"/>
            <a:ext cx="10241280" cy="365760"/>
          </a:xfrm>
          <a:prstGeom prst="rect">
            <a:avLst/>
          </a:prstGeom>
          <a:noFill/>
        </p:spPr>
        <p:txBody>
          <a:bodyPr wrap="square"/>
          <a:lstStyle/>
          <a:p>
            <a:pPr algn="l">
              <a:defRPr sz="900" b="0">
                <a:solidFill>
                  <a:srgbClr val="E8ECF1"/>
                </a:solidFill>
                <a:latin typeface="Calibri"/>
              </a:defRPr>
            </a:pPr>
            <a:r>
              <a:t>Vendors with direct CISO/Compliance Officer engagement remediated gaps 2x faster than those managed solely by the TPRM team. Executive escalation should be triggered for any gap open beyond 60 days.</a:t>
            </a:r>
          </a:p>
        </p:txBody>
      </p:sp>
      <p:sp>
        <p:nvSpPr>
          <p:cNvPr id="23" name="Rounded Rectangle 22"/>
          <p:cNvSpPr/>
          <p:nvPr/>
        </p:nvSpPr>
        <p:spPr>
          <a:xfrm>
            <a:off x="731520" y="4919472"/>
            <a:ext cx="10698480" cy="6858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 y="4919472"/>
            <a:ext cx="73152" cy="68580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4965192"/>
            <a:ext cx="10241280" cy="228600"/>
          </a:xfrm>
          <a:prstGeom prst="rect">
            <a:avLst/>
          </a:prstGeom>
          <a:noFill/>
        </p:spPr>
        <p:txBody>
          <a:bodyPr wrap="square"/>
          <a:lstStyle/>
          <a:p>
            <a:pPr algn="l">
              <a:defRPr sz="1100" b="1">
                <a:solidFill>
                  <a:srgbClr val="FFB020"/>
                </a:solidFill>
                <a:latin typeface="Calibri"/>
              </a:defRPr>
            </a:pPr>
            <a:r>
              <a:t>Documentation is as Important as Remediation</a:t>
            </a:r>
          </a:p>
        </p:txBody>
      </p:sp>
      <p:sp>
        <p:nvSpPr>
          <p:cNvPr id="26" name="TextBox 25"/>
          <p:cNvSpPr txBox="1"/>
          <p:nvPr/>
        </p:nvSpPr>
        <p:spPr>
          <a:xfrm>
            <a:off x="1005840" y="5193792"/>
            <a:ext cx="10241280" cy="365760"/>
          </a:xfrm>
          <a:prstGeom prst="rect">
            <a:avLst/>
          </a:prstGeom>
          <a:noFill/>
        </p:spPr>
        <p:txBody>
          <a:bodyPr wrap="square"/>
          <a:lstStyle/>
          <a:p>
            <a:pPr algn="l">
              <a:defRPr sz="900" b="0">
                <a:solidFill>
                  <a:srgbClr val="E8ECF1"/>
                </a:solidFill>
                <a:latin typeface="Calibri"/>
              </a:defRPr>
            </a:pPr>
            <a:r>
              <a:t>Several remediation actions were completed but lacked documented evidence. The new evidence repository ensures every action has supporting artifacts (policies, screenshots, legal sign-offs) for audit readiness.</a:t>
            </a:r>
          </a:p>
        </p:txBody>
      </p:sp>
      <p:sp>
        <p:nvSpPr>
          <p:cNvPr id="27" name="Rounded Rectangle 26"/>
          <p:cNvSpPr/>
          <p:nvPr/>
        </p:nvSpPr>
        <p:spPr>
          <a:xfrm>
            <a:off x="731520" y="5669280"/>
            <a:ext cx="10698480" cy="68580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1520" y="5669280"/>
            <a:ext cx="73152" cy="6858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5715000"/>
            <a:ext cx="10241280" cy="228600"/>
          </a:xfrm>
          <a:prstGeom prst="rect">
            <a:avLst/>
          </a:prstGeom>
          <a:noFill/>
        </p:spPr>
        <p:txBody>
          <a:bodyPr wrap="square"/>
          <a:lstStyle/>
          <a:p>
            <a:pPr algn="l">
              <a:defRPr sz="1100" b="1">
                <a:solidFill>
                  <a:srgbClr val="FF4D4D"/>
                </a:solidFill>
                <a:latin typeface="Calibri"/>
              </a:defRPr>
            </a:pPr>
            <a:r>
              <a:t>Offboarding Requires Equal Rigor as Onboarding</a:t>
            </a:r>
          </a:p>
        </p:txBody>
      </p:sp>
      <p:sp>
        <p:nvSpPr>
          <p:cNvPr id="30" name="TextBox 29"/>
          <p:cNvSpPr txBox="1"/>
          <p:nvPr/>
        </p:nvSpPr>
        <p:spPr>
          <a:xfrm>
            <a:off x="1005840" y="5943600"/>
            <a:ext cx="10241280" cy="365760"/>
          </a:xfrm>
          <a:prstGeom prst="rect">
            <a:avLst/>
          </a:prstGeom>
          <a:noFill/>
        </p:spPr>
        <p:txBody>
          <a:bodyPr wrap="square"/>
          <a:lstStyle/>
          <a:p>
            <a:pPr algn="l">
              <a:defRPr sz="900" b="0">
                <a:solidFill>
                  <a:srgbClr val="E8ECF1"/>
                </a:solidFill>
                <a:latin typeface="Calibri"/>
              </a:defRPr>
            </a:pPr>
            <a:r>
              <a:t>Orphaned accounts and missing Certificates of Destruction during prior vendor exits created residual risk. The 10-item offboarding checklist ensures secure, compliant, and complete vendor exit.</a:t>
            </a:r>
          </a:p>
        </p:txBody>
      </p:sp>
      <p:sp>
        <p:nvSpPr>
          <p:cNvPr id="31" name="Rectangle 30"/>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10/12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STRATEGIC PLANNING</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Year 2 Roadmap - Q1-Q2 2027</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Strategic priorities, planned initiatives, and maturity targets for TPRM program evolution</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5303520" cy="21945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530352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57400"/>
            <a:ext cx="4846320" cy="320040"/>
          </a:xfrm>
          <a:prstGeom prst="rect">
            <a:avLst/>
          </a:prstGeom>
          <a:noFill/>
        </p:spPr>
        <p:txBody>
          <a:bodyPr wrap="square"/>
          <a:lstStyle/>
          <a:p>
            <a:pPr algn="l">
              <a:defRPr sz="1400" b="1">
                <a:solidFill>
                  <a:srgbClr val="007ACC"/>
                </a:solidFill>
                <a:latin typeface="Calibri"/>
              </a:defRPr>
            </a:pPr>
            <a:r>
              <a:t>Q1 2027 - Foundation &amp; Closure</a:t>
            </a:r>
          </a:p>
        </p:txBody>
      </p:sp>
      <p:sp>
        <p:nvSpPr>
          <p:cNvPr id="10" name="TextBox 9"/>
          <p:cNvSpPr txBox="1"/>
          <p:nvPr/>
        </p:nvSpPr>
        <p:spPr>
          <a:xfrm>
            <a:off x="1005840" y="2423160"/>
            <a:ext cx="4846320" cy="1554480"/>
          </a:xfrm>
          <a:prstGeom prst="rect">
            <a:avLst/>
          </a:prstGeom>
          <a:noFill/>
        </p:spPr>
        <p:txBody>
          <a:bodyPr wrap="square">
            <a:spAutoFit/>
          </a:bodyPr>
          <a:lstStyle/>
          <a:p>
            <a:pPr>
              <a:spcBef>
                <a:spcPts val="400"/>
              </a:spcBef>
              <a:spcAft>
                <a:spcPts val="200"/>
              </a:spcAft>
              <a:defRPr sz="1000">
                <a:solidFill>
                  <a:srgbClr val="E8ECF1"/>
                </a:solidFill>
                <a:latin typeface="Calibri"/>
              </a:defRPr>
            </a:pPr>
            <a:r>
              <a:t>  Deploy SIEM integration for centralized vendor audit logging</a:t>
            </a:r>
          </a:p>
          <a:p>
            <a:pPr>
              <a:spcBef>
                <a:spcPts val="400"/>
              </a:spcBef>
              <a:spcAft>
                <a:spcPts val="200"/>
              </a:spcAft>
              <a:defRPr sz="1000">
                <a:solidFill>
                  <a:srgbClr val="E8ECF1"/>
                </a:solidFill>
                <a:latin typeface="Calibri"/>
              </a:defRPr>
            </a:pPr>
            <a:r>
              <a:t>  Formalize breach notification SLA (24-hour window) with all vendors</a:t>
            </a:r>
          </a:p>
          <a:p>
            <a:pPr>
              <a:spcBef>
                <a:spcPts val="400"/>
              </a:spcBef>
              <a:spcAft>
                <a:spcPts val="200"/>
              </a:spcAft>
              <a:defRPr sz="1000">
                <a:solidFill>
                  <a:srgbClr val="E8ECF1"/>
                </a:solidFill>
                <a:latin typeface="Calibri"/>
              </a:defRPr>
            </a:pPr>
            <a:r>
              <a:t>  Complete Year 1 formal closure documentation and executive sign-off</a:t>
            </a:r>
          </a:p>
          <a:p>
            <a:pPr>
              <a:spcBef>
                <a:spcPts val="400"/>
              </a:spcBef>
              <a:spcAft>
                <a:spcPts val="200"/>
              </a:spcAft>
              <a:defRPr sz="1000">
                <a:solidFill>
                  <a:srgbClr val="E8ECF1"/>
                </a:solidFill>
                <a:latin typeface="Calibri"/>
              </a:defRPr>
            </a:pPr>
            <a:r>
              <a:t>  Conduct first Year 2 quarterly audit (full risk reassessment)</a:t>
            </a:r>
          </a:p>
          <a:p>
            <a:pPr>
              <a:spcBef>
                <a:spcPts val="400"/>
              </a:spcBef>
              <a:spcAft>
                <a:spcPts val="200"/>
              </a:spcAft>
              <a:defRPr sz="1000">
                <a:solidFill>
                  <a:srgbClr val="E8ECF1"/>
                </a:solidFill>
                <a:latin typeface="Calibri"/>
              </a:defRPr>
            </a:pPr>
            <a:r>
              <a:t>  Implement automated compliance scoring dashboard</a:t>
            </a:r>
          </a:p>
        </p:txBody>
      </p:sp>
      <p:sp>
        <p:nvSpPr>
          <p:cNvPr id="11" name="Rounded Rectangle 10"/>
          <p:cNvSpPr/>
          <p:nvPr/>
        </p:nvSpPr>
        <p:spPr>
          <a:xfrm>
            <a:off x="6309360" y="1920240"/>
            <a:ext cx="5120640" cy="21945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1920240"/>
            <a:ext cx="512064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2057400"/>
            <a:ext cx="4663440" cy="320040"/>
          </a:xfrm>
          <a:prstGeom prst="rect">
            <a:avLst/>
          </a:prstGeom>
          <a:noFill/>
        </p:spPr>
        <p:txBody>
          <a:bodyPr wrap="square"/>
          <a:lstStyle/>
          <a:p>
            <a:pPr algn="l">
              <a:defRPr sz="1400" b="1">
                <a:solidFill>
                  <a:srgbClr val="00B4D8"/>
                </a:solidFill>
                <a:latin typeface="Calibri"/>
              </a:defRPr>
            </a:pPr>
            <a:r>
              <a:t>Q2 2027 - Enhancement &amp; Scale</a:t>
            </a:r>
          </a:p>
        </p:txBody>
      </p:sp>
      <p:sp>
        <p:nvSpPr>
          <p:cNvPr id="14" name="TextBox 13"/>
          <p:cNvSpPr txBox="1"/>
          <p:nvPr/>
        </p:nvSpPr>
        <p:spPr>
          <a:xfrm>
            <a:off x="6583680" y="2423160"/>
            <a:ext cx="4663440" cy="1554480"/>
          </a:xfrm>
          <a:prstGeom prst="rect">
            <a:avLst/>
          </a:prstGeom>
          <a:noFill/>
        </p:spPr>
        <p:txBody>
          <a:bodyPr wrap="square">
            <a:spAutoFit/>
          </a:bodyPr>
          <a:lstStyle/>
          <a:p>
            <a:pPr>
              <a:spcBef>
                <a:spcPts val="400"/>
              </a:spcBef>
              <a:spcAft>
                <a:spcPts val="200"/>
              </a:spcAft>
              <a:defRPr sz="1000">
                <a:solidFill>
                  <a:srgbClr val="E8ECF1"/>
                </a:solidFill>
                <a:latin typeface="Calibri"/>
              </a:defRPr>
            </a:pPr>
            <a:r>
              <a:t>  Expand monitoring to include supply chain and fourth-party risk</a:t>
            </a:r>
          </a:p>
          <a:p>
            <a:pPr>
              <a:spcBef>
                <a:spcPts val="400"/>
              </a:spcBef>
              <a:spcAft>
                <a:spcPts val="200"/>
              </a:spcAft>
              <a:defRPr sz="1000">
                <a:solidFill>
                  <a:srgbClr val="E8ECF1"/>
                </a:solidFill>
                <a:latin typeface="Calibri"/>
              </a:defRPr>
            </a:pPr>
            <a:r>
              <a:t>  Implement automated vendor risk scoring with machine learning inputs</a:t>
            </a:r>
          </a:p>
          <a:p>
            <a:pPr>
              <a:spcBef>
                <a:spcPts val="400"/>
              </a:spcBef>
              <a:spcAft>
                <a:spcPts val="200"/>
              </a:spcAft>
              <a:defRPr sz="1000">
                <a:solidFill>
                  <a:srgbClr val="E8ECF1"/>
                </a:solidFill>
                <a:latin typeface="Calibri"/>
              </a:defRPr>
            </a:pPr>
            <a:r>
              <a:t>  Conduct cross-vendor incident response tabletop exercise</a:t>
            </a:r>
          </a:p>
          <a:p>
            <a:pPr>
              <a:spcBef>
                <a:spcPts val="400"/>
              </a:spcBef>
              <a:spcAft>
                <a:spcPts val="200"/>
              </a:spcAft>
              <a:defRPr sz="1000">
                <a:solidFill>
                  <a:srgbClr val="E8ECF1"/>
                </a:solidFill>
                <a:latin typeface="Calibri"/>
              </a:defRPr>
            </a:pPr>
            <a:r>
              <a:t>  Develop TPRM maturity model assessment (target: Level 3 &gt;&gt; Level 4)</a:t>
            </a:r>
          </a:p>
          <a:p>
            <a:pPr>
              <a:spcBef>
                <a:spcPts val="400"/>
              </a:spcBef>
              <a:spcAft>
                <a:spcPts val="200"/>
              </a:spcAft>
              <a:defRPr sz="1000">
                <a:solidFill>
                  <a:srgbClr val="E8ECF1"/>
                </a:solidFill>
                <a:latin typeface="Calibri"/>
              </a:defRPr>
            </a:pPr>
            <a:r>
              <a:t>  Integrate TPRM platform with enterprise GRC system</a:t>
            </a:r>
          </a:p>
        </p:txBody>
      </p:sp>
      <p:sp>
        <p:nvSpPr>
          <p:cNvPr id="15" name="Rounded Rectangle 14"/>
          <p:cNvSpPr/>
          <p:nvPr/>
        </p:nvSpPr>
        <p:spPr>
          <a:xfrm>
            <a:off x="731520" y="4343400"/>
            <a:ext cx="10698480" cy="201168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343400"/>
            <a:ext cx="10698480" cy="4572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480560"/>
            <a:ext cx="10241280" cy="320040"/>
          </a:xfrm>
          <a:prstGeom prst="rect">
            <a:avLst/>
          </a:prstGeom>
          <a:noFill/>
        </p:spPr>
        <p:txBody>
          <a:bodyPr wrap="square"/>
          <a:lstStyle/>
          <a:p>
            <a:pPr algn="l">
              <a:defRPr sz="1300" b="1">
                <a:solidFill>
                  <a:srgbClr val="00C896"/>
                </a:solidFill>
                <a:latin typeface="Calibri"/>
              </a:defRPr>
            </a:pPr>
            <a:r>
              <a:t>TPRM Maturity Targets - Year 2</a:t>
            </a:r>
          </a:p>
        </p:txBody>
      </p:sp>
      <p:sp>
        <p:nvSpPr>
          <p:cNvPr id="18" name="Rectangle 17"/>
          <p:cNvSpPr/>
          <p:nvPr/>
        </p:nvSpPr>
        <p:spPr>
          <a:xfrm>
            <a:off x="1005840" y="4892040"/>
            <a:ext cx="54864" cy="54864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4892040"/>
            <a:ext cx="2743200" cy="228600"/>
          </a:xfrm>
          <a:prstGeom prst="rect">
            <a:avLst/>
          </a:prstGeom>
          <a:noFill/>
        </p:spPr>
        <p:txBody>
          <a:bodyPr wrap="square"/>
          <a:lstStyle/>
          <a:p>
            <a:pPr algn="l">
              <a:defRPr sz="1000" b="1">
                <a:solidFill>
                  <a:srgbClr val="FFFFFF"/>
                </a:solidFill>
                <a:latin typeface="Calibri"/>
              </a:defRPr>
            </a:pPr>
            <a:r>
              <a:t>Current State (Year 1 End)</a:t>
            </a:r>
          </a:p>
        </p:txBody>
      </p:sp>
      <p:sp>
        <p:nvSpPr>
          <p:cNvPr id="20" name="TextBox 19"/>
          <p:cNvSpPr txBox="1"/>
          <p:nvPr/>
        </p:nvSpPr>
        <p:spPr>
          <a:xfrm>
            <a:off x="1188720" y="5093208"/>
            <a:ext cx="2743200" cy="182880"/>
          </a:xfrm>
          <a:prstGeom prst="rect">
            <a:avLst/>
          </a:prstGeom>
          <a:noFill/>
        </p:spPr>
        <p:txBody>
          <a:bodyPr wrap="square"/>
          <a:lstStyle/>
          <a:p>
            <a:pPr algn="l">
              <a:defRPr sz="1000" b="1">
                <a:solidFill>
                  <a:srgbClr val="FFB020"/>
                </a:solidFill>
                <a:latin typeface="Calibri"/>
              </a:defRPr>
            </a:pPr>
            <a:r>
              <a:t>Level 2 - Managed</a:t>
            </a:r>
          </a:p>
        </p:txBody>
      </p:sp>
      <p:sp>
        <p:nvSpPr>
          <p:cNvPr id="21" name="TextBox 20"/>
          <p:cNvSpPr txBox="1"/>
          <p:nvPr/>
        </p:nvSpPr>
        <p:spPr>
          <a:xfrm>
            <a:off x="4114800" y="4892040"/>
            <a:ext cx="6858000" cy="548640"/>
          </a:xfrm>
          <a:prstGeom prst="rect">
            <a:avLst/>
          </a:prstGeom>
          <a:noFill/>
        </p:spPr>
        <p:txBody>
          <a:bodyPr wrap="square"/>
          <a:lstStyle/>
          <a:p>
            <a:pPr algn="l">
              <a:defRPr sz="1000" b="0">
                <a:solidFill>
                  <a:srgbClr val="E8ECF1"/>
                </a:solidFill>
                <a:latin typeface="Calibri"/>
              </a:defRPr>
            </a:pPr>
            <a:r>
              <a:t>Processes defined and documented; some automation; reactive monitoring</a:t>
            </a:r>
          </a:p>
        </p:txBody>
      </p:sp>
      <p:sp>
        <p:nvSpPr>
          <p:cNvPr id="22" name="Rectangle 21"/>
          <p:cNvSpPr/>
          <p:nvPr/>
        </p:nvSpPr>
        <p:spPr>
          <a:xfrm>
            <a:off x="1005840" y="5577840"/>
            <a:ext cx="54864" cy="54864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88720" y="5577840"/>
            <a:ext cx="2743200" cy="228600"/>
          </a:xfrm>
          <a:prstGeom prst="rect">
            <a:avLst/>
          </a:prstGeom>
          <a:noFill/>
        </p:spPr>
        <p:txBody>
          <a:bodyPr wrap="square"/>
          <a:lstStyle/>
          <a:p>
            <a:pPr algn="l">
              <a:defRPr sz="1000" b="1">
                <a:solidFill>
                  <a:srgbClr val="FFFFFF"/>
                </a:solidFill>
                <a:latin typeface="Calibri"/>
              </a:defRPr>
            </a:pPr>
            <a:r>
              <a:t>Target State (Year 2 End)</a:t>
            </a:r>
          </a:p>
        </p:txBody>
      </p:sp>
      <p:sp>
        <p:nvSpPr>
          <p:cNvPr id="24" name="TextBox 23"/>
          <p:cNvSpPr txBox="1"/>
          <p:nvPr/>
        </p:nvSpPr>
        <p:spPr>
          <a:xfrm>
            <a:off x="1188720" y="5779008"/>
            <a:ext cx="2743200" cy="182880"/>
          </a:xfrm>
          <a:prstGeom prst="rect">
            <a:avLst/>
          </a:prstGeom>
          <a:noFill/>
        </p:spPr>
        <p:txBody>
          <a:bodyPr wrap="square"/>
          <a:lstStyle/>
          <a:p>
            <a:pPr algn="l">
              <a:defRPr sz="1000" b="1">
                <a:solidFill>
                  <a:srgbClr val="00C896"/>
                </a:solidFill>
                <a:latin typeface="Calibri"/>
              </a:defRPr>
            </a:pPr>
            <a:r>
              <a:t>Level 4 - Quantitatively Managed</a:t>
            </a:r>
          </a:p>
        </p:txBody>
      </p:sp>
      <p:sp>
        <p:nvSpPr>
          <p:cNvPr id="25" name="TextBox 24"/>
          <p:cNvSpPr txBox="1"/>
          <p:nvPr/>
        </p:nvSpPr>
        <p:spPr>
          <a:xfrm>
            <a:off x="4114800" y="5577840"/>
            <a:ext cx="6858000" cy="548640"/>
          </a:xfrm>
          <a:prstGeom prst="rect">
            <a:avLst/>
          </a:prstGeom>
          <a:noFill/>
        </p:spPr>
        <p:txBody>
          <a:bodyPr wrap="square"/>
          <a:lstStyle/>
          <a:p>
            <a:pPr algn="l">
              <a:defRPr sz="1000" b="0">
                <a:solidFill>
                  <a:srgbClr val="E8ECF1"/>
                </a:solidFill>
                <a:latin typeface="Calibri"/>
              </a:defRPr>
            </a:pPr>
            <a:r>
              <a:t>Fully automated monitoring; predictive risk analytics; integrated GRC; proactive threat intelligence</a:t>
            </a:r>
          </a:p>
        </p:txBody>
      </p:sp>
      <p:sp>
        <p:nvSpPr>
          <p:cNvPr id="26" name="Rectangle 25"/>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11/12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4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320040"/>
          </a:xfrm>
          <a:prstGeom prst="rect">
            <a:avLst/>
          </a:prstGeom>
          <a:noFill/>
        </p:spPr>
        <p:txBody>
          <a:bodyPr wrap="square"/>
          <a:lstStyle/>
          <a:p>
            <a:pPr algn="l">
              <a:defRPr sz="1000" b="1">
                <a:solidFill>
                  <a:srgbClr val="00B4D8"/>
                </a:solidFill>
                <a:latin typeface="Calibri"/>
              </a:defRPr>
            </a:pPr>
            <a:r>
              <a:t>CLOSURE &amp; APPROVAL</a:t>
            </a:r>
          </a:p>
        </p:txBody>
      </p:sp>
      <p:sp>
        <p:nvSpPr>
          <p:cNvPr id="4" name="TextBox 3"/>
          <p:cNvSpPr txBox="1"/>
          <p:nvPr/>
        </p:nvSpPr>
        <p:spPr>
          <a:xfrm>
            <a:off x="731520" y="594360"/>
            <a:ext cx="10515600" cy="640080"/>
          </a:xfrm>
          <a:prstGeom prst="rect">
            <a:avLst/>
          </a:prstGeom>
          <a:noFill/>
        </p:spPr>
        <p:txBody>
          <a:bodyPr wrap="square"/>
          <a:lstStyle/>
          <a:p>
            <a:pPr algn="l">
              <a:defRPr sz="2800" b="1">
                <a:solidFill>
                  <a:srgbClr val="FFFFFF"/>
                </a:solidFill>
                <a:latin typeface="Calibri"/>
              </a:defRPr>
            </a:pPr>
            <a:r>
              <a:t>Final Recommendations &amp; Executive Sign-Off</a:t>
            </a:r>
          </a:p>
        </p:txBody>
      </p:sp>
      <p:sp>
        <p:nvSpPr>
          <p:cNvPr id="5" name="TextBox 4"/>
          <p:cNvSpPr txBox="1"/>
          <p:nvPr/>
        </p:nvSpPr>
        <p:spPr>
          <a:xfrm>
            <a:off x="731520" y="1188720"/>
            <a:ext cx="10058400" cy="411480"/>
          </a:xfrm>
          <a:prstGeom prst="rect">
            <a:avLst/>
          </a:prstGeom>
          <a:noFill/>
        </p:spPr>
        <p:txBody>
          <a:bodyPr wrap="square"/>
          <a:lstStyle/>
          <a:p>
            <a:pPr algn="l">
              <a:defRPr sz="1300" b="0">
                <a:solidFill>
                  <a:srgbClr val="A0AEC0"/>
                </a:solidFill>
                <a:latin typeface="Calibri"/>
              </a:defRPr>
            </a:pPr>
            <a:r>
              <a:t>Required executive decisions, risk acceptance, and formal program closure</a:t>
            </a:r>
          </a:p>
        </p:txBody>
      </p:sp>
      <p:sp>
        <p:nvSpPr>
          <p:cNvPr id="6" name="Rectangle 5"/>
          <p:cNvSpPr/>
          <p:nvPr/>
        </p:nvSpPr>
        <p:spPr>
          <a:xfrm>
            <a:off x="731520" y="1645920"/>
            <a:ext cx="3657600" cy="3657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920240"/>
            <a:ext cx="5303520" cy="292608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5303520"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57400"/>
            <a:ext cx="4846320" cy="320040"/>
          </a:xfrm>
          <a:prstGeom prst="rect">
            <a:avLst/>
          </a:prstGeom>
          <a:noFill/>
        </p:spPr>
        <p:txBody>
          <a:bodyPr wrap="square"/>
          <a:lstStyle/>
          <a:p>
            <a:pPr algn="l">
              <a:defRPr sz="1300" b="1">
                <a:solidFill>
                  <a:srgbClr val="007ACC"/>
                </a:solidFill>
                <a:latin typeface="Calibri"/>
              </a:defRPr>
            </a:pPr>
            <a:r>
              <a:t>Executive Recommendations</a:t>
            </a:r>
          </a:p>
        </p:txBody>
      </p:sp>
      <p:sp>
        <p:nvSpPr>
          <p:cNvPr id="10" name="TextBox 9"/>
          <p:cNvSpPr txBox="1"/>
          <p:nvPr/>
        </p:nvSpPr>
        <p:spPr>
          <a:xfrm>
            <a:off x="1005840" y="2423160"/>
            <a:ext cx="4846320" cy="2286000"/>
          </a:xfrm>
          <a:prstGeom prst="rect">
            <a:avLst/>
          </a:prstGeom>
          <a:noFill/>
        </p:spPr>
        <p:txBody>
          <a:bodyPr wrap="square">
            <a:spAutoFit/>
          </a:bodyPr>
          <a:lstStyle/>
          <a:p>
            <a:pPr>
              <a:spcBef>
                <a:spcPts val="400"/>
              </a:spcBef>
              <a:spcAft>
                <a:spcPts val="200"/>
              </a:spcAft>
              <a:defRPr sz="1000">
                <a:solidFill>
                  <a:srgbClr val="E8ECF1"/>
                </a:solidFill>
                <a:latin typeface="Calibri"/>
              </a:defRPr>
            </a:pPr>
            <a:r>
              <a:t>&gt;&gt;  Approve residual risk acceptance for all four vendors as documented in Slide 4</a:t>
            </a:r>
          </a:p>
          <a:p>
            <a:pPr>
              <a:spcBef>
                <a:spcPts val="400"/>
              </a:spcBef>
              <a:spcAft>
                <a:spcPts val="200"/>
              </a:spcAft>
              <a:defRPr sz="1000">
                <a:solidFill>
                  <a:srgbClr val="E8ECF1"/>
                </a:solidFill>
                <a:latin typeface="Calibri"/>
              </a:defRPr>
            </a:pPr>
            <a:r>
              <a:t>&gt;&gt;  Authorize Q1 2027 budget for SIEM integration and breach notification SLA formalization</a:t>
            </a:r>
          </a:p>
          <a:p>
            <a:pPr>
              <a:spcBef>
                <a:spcPts val="400"/>
              </a:spcBef>
              <a:spcAft>
                <a:spcPts val="200"/>
              </a:spcAft>
              <a:defRPr sz="1000">
                <a:solidFill>
                  <a:srgbClr val="E8ECF1"/>
                </a:solidFill>
                <a:latin typeface="Calibri"/>
              </a:defRPr>
            </a:pPr>
            <a:r>
              <a:t>&gt;&gt;  Mandate BAA execution as a prerequisite for all future vendor onboarding - no exceptions</a:t>
            </a:r>
          </a:p>
          <a:p>
            <a:pPr>
              <a:spcBef>
                <a:spcPts val="400"/>
              </a:spcBef>
              <a:spcAft>
                <a:spcPts val="200"/>
              </a:spcAft>
              <a:defRPr sz="1000">
                <a:solidFill>
                  <a:srgbClr val="E8ECF1"/>
                </a:solidFill>
                <a:latin typeface="Calibri"/>
              </a:defRPr>
            </a:pPr>
            <a:r>
              <a:t>&gt;&gt;  Approve transition to continuous monitoring framework with automated alerting (Slide 8)</a:t>
            </a:r>
          </a:p>
          <a:p>
            <a:pPr>
              <a:spcBef>
                <a:spcPts val="400"/>
              </a:spcBef>
              <a:spcAft>
                <a:spcPts val="200"/>
              </a:spcAft>
              <a:defRPr sz="1000">
                <a:solidFill>
                  <a:srgbClr val="E8ECF1"/>
                </a:solidFill>
                <a:latin typeface="Calibri"/>
              </a:defRPr>
            </a:pPr>
            <a:r>
              <a:t>&gt;&gt;  Endorse Year 2 roadmap and TPRM maturity target of Level 4 by Q2 2027</a:t>
            </a:r>
          </a:p>
          <a:p>
            <a:pPr>
              <a:spcBef>
                <a:spcPts val="400"/>
              </a:spcBef>
              <a:spcAft>
                <a:spcPts val="200"/>
              </a:spcAft>
              <a:defRPr sz="1000">
                <a:solidFill>
                  <a:srgbClr val="E8ECF1"/>
                </a:solidFill>
                <a:latin typeface="Calibri"/>
              </a:defRPr>
            </a:pPr>
            <a:r>
              <a:t>&gt;&gt;  Designate executive sponsor for quarterly TPRM steering committee reviews</a:t>
            </a:r>
          </a:p>
          <a:p>
            <a:pPr>
              <a:spcBef>
                <a:spcPts val="400"/>
              </a:spcBef>
              <a:spcAft>
                <a:spcPts val="200"/>
              </a:spcAft>
              <a:defRPr sz="1000">
                <a:solidFill>
                  <a:srgbClr val="E8ECF1"/>
                </a:solidFill>
                <a:latin typeface="Calibri"/>
              </a:defRPr>
            </a:pPr>
            <a:r>
              <a:t>&gt;&gt;  Require annual third-party audit of TPRM program effectiveness</a:t>
            </a:r>
          </a:p>
        </p:txBody>
      </p:sp>
      <p:sp>
        <p:nvSpPr>
          <p:cNvPr id="11" name="Rounded Rectangle 10"/>
          <p:cNvSpPr/>
          <p:nvPr/>
        </p:nvSpPr>
        <p:spPr>
          <a:xfrm>
            <a:off x="6309360" y="1920240"/>
            <a:ext cx="5120640" cy="292608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1920240"/>
            <a:ext cx="5120640" cy="54864"/>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2057400"/>
            <a:ext cx="4663440" cy="320040"/>
          </a:xfrm>
          <a:prstGeom prst="rect">
            <a:avLst/>
          </a:prstGeom>
          <a:noFill/>
        </p:spPr>
        <p:txBody>
          <a:bodyPr wrap="square"/>
          <a:lstStyle/>
          <a:p>
            <a:pPr algn="l">
              <a:defRPr sz="1300" b="1">
                <a:solidFill>
                  <a:srgbClr val="00C896"/>
                </a:solidFill>
                <a:latin typeface="Calibri"/>
              </a:defRPr>
            </a:pPr>
            <a:r>
              <a:t>Formal Closure Sign-Off</a:t>
            </a:r>
          </a:p>
        </p:txBody>
      </p:sp>
      <p:sp>
        <p:nvSpPr>
          <p:cNvPr id="14" name="Rectangle 13"/>
          <p:cNvSpPr/>
          <p:nvPr/>
        </p:nvSpPr>
        <p:spPr>
          <a:xfrm>
            <a:off x="6583680" y="2468880"/>
            <a:ext cx="4663440"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2514600"/>
            <a:ext cx="4663440" cy="228600"/>
          </a:xfrm>
          <a:prstGeom prst="rect">
            <a:avLst/>
          </a:prstGeom>
          <a:noFill/>
        </p:spPr>
        <p:txBody>
          <a:bodyPr wrap="square"/>
          <a:lstStyle/>
          <a:p>
            <a:pPr algn="l">
              <a:defRPr sz="1000" b="1">
                <a:solidFill>
                  <a:srgbClr val="FFFFFF"/>
                </a:solidFill>
                <a:latin typeface="Calibri"/>
              </a:defRPr>
            </a:pPr>
            <a:r>
              <a:t>Chief Information Security Officer (CISO)</a:t>
            </a:r>
          </a:p>
        </p:txBody>
      </p:sp>
      <p:sp>
        <p:nvSpPr>
          <p:cNvPr id="16" name="TextBox 15"/>
          <p:cNvSpPr txBox="1"/>
          <p:nvPr/>
        </p:nvSpPr>
        <p:spPr>
          <a:xfrm>
            <a:off x="6583680" y="2724912"/>
            <a:ext cx="4663440" cy="320040"/>
          </a:xfrm>
          <a:prstGeom prst="rect">
            <a:avLst/>
          </a:prstGeom>
          <a:noFill/>
        </p:spPr>
        <p:txBody>
          <a:bodyPr wrap="square"/>
          <a:lstStyle/>
          <a:p>
            <a:pPr algn="l">
              <a:defRPr sz="900" b="0">
                <a:solidFill>
                  <a:srgbClr val="A0AEC0"/>
                </a:solidFill>
                <a:latin typeface="Calibri"/>
              </a:defRPr>
            </a:pPr>
            <a:r>
              <a:t>Risk acceptance, remediation approval, Year 2 authorization</a:t>
            </a:r>
          </a:p>
        </p:txBody>
      </p:sp>
      <p:sp>
        <p:nvSpPr>
          <p:cNvPr id="17" name="Rectangle 16"/>
          <p:cNvSpPr/>
          <p:nvPr/>
        </p:nvSpPr>
        <p:spPr>
          <a:xfrm>
            <a:off x="6583680" y="3017520"/>
            <a:ext cx="320040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3035808"/>
            <a:ext cx="3200400" cy="182880"/>
          </a:xfrm>
          <a:prstGeom prst="rect">
            <a:avLst/>
          </a:prstGeom>
          <a:noFill/>
        </p:spPr>
        <p:txBody>
          <a:bodyPr wrap="square"/>
          <a:lstStyle/>
          <a:p>
            <a:pPr algn="l">
              <a:defRPr sz="800" b="0">
                <a:solidFill>
                  <a:srgbClr val="999999"/>
                </a:solidFill>
                <a:latin typeface="Calibri"/>
              </a:defRPr>
            </a:pPr>
            <a:r>
              <a:t>Signature / Date</a:t>
            </a:r>
          </a:p>
        </p:txBody>
      </p:sp>
      <p:sp>
        <p:nvSpPr>
          <p:cNvPr id="19" name="Rectangle 18"/>
          <p:cNvSpPr/>
          <p:nvPr/>
        </p:nvSpPr>
        <p:spPr>
          <a:xfrm>
            <a:off x="6583680" y="3291840"/>
            <a:ext cx="4663440"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3337560"/>
            <a:ext cx="4663440" cy="228600"/>
          </a:xfrm>
          <a:prstGeom prst="rect">
            <a:avLst/>
          </a:prstGeom>
          <a:noFill/>
        </p:spPr>
        <p:txBody>
          <a:bodyPr wrap="square"/>
          <a:lstStyle/>
          <a:p>
            <a:pPr algn="l">
              <a:defRPr sz="1000" b="1">
                <a:solidFill>
                  <a:srgbClr val="FFFFFF"/>
                </a:solidFill>
                <a:latin typeface="Calibri"/>
              </a:defRPr>
            </a:pPr>
            <a:r>
              <a:t>Chief Information Officer (CIO)</a:t>
            </a:r>
          </a:p>
        </p:txBody>
      </p:sp>
      <p:sp>
        <p:nvSpPr>
          <p:cNvPr id="21" name="TextBox 20"/>
          <p:cNvSpPr txBox="1"/>
          <p:nvPr/>
        </p:nvSpPr>
        <p:spPr>
          <a:xfrm>
            <a:off x="6583680" y="3547872"/>
            <a:ext cx="4663440" cy="320040"/>
          </a:xfrm>
          <a:prstGeom prst="rect">
            <a:avLst/>
          </a:prstGeom>
          <a:noFill/>
        </p:spPr>
        <p:txBody>
          <a:bodyPr wrap="square"/>
          <a:lstStyle/>
          <a:p>
            <a:pPr algn="l">
              <a:defRPr sz="900" b="0">
                <a:solidFill>
                  <a:srgbClr val="A0AEC0"/>
                </a:solidFill>
                <a:latin typeface="Calibri"/>
              </a:defRPr>
            </a:pPr>
            <a:r>
              <a:t>Budget approval, strategic alignment, executive sponsorship</a:t>
            </a:r>
          </a:p>
        </p:txBody>
      </p:sp>
      <p:sp>
        <p:nvSpPr>
          <p:cNvPr id="22" name="Rectangle 21"/>
          <p:cNvSpPr/>
          <p:nvPr/>
        </p:nvSpPr>
        <p:spPr>
          <a:xfrm>
            <a:off x="6583680" y="3840480"/>
            <a:ext cx="320040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3858768"/>
            <a:ext cx="3200400" cy="182880"/>
          </a:xfrm>
          <a:prstGeom prst="rect">
            <a:avLst/>
          </a:prstGeom>
          <a:noFill/>
        </p:spPr>
        <p:txBody>
          <a:bodyPr wrap="square"/>
          <a:lstStyle/>
          <a:p>
            <a:pPr algn="l">
              <a:defRPr sz="800" b="0">
                <a:solidFill>
                  <a:srgbClr val="999999"/>
                </a:solidFill>
                <a:latin typeface="Calibri"/>
              </a:defRPr>
            </a:pPr>
            <a:r>
              <a:t>Signature / Date</a:t>
            </a:r>
          </a:p>
        </p:txBody>
      </p:sp>
      <p:sp>
        <p:nvSpPr>
          <p:cNvPr id="24" name="Rectangle 23"/>
          <p:cNvSpPr/>
          <p:nvPr/>
        </p:nvSpPr>
        <p:spPr>
          <a:xfrm>
            <a:off x="6583680" y="4114800"/>
            <a:ext cx="4663440"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4160520"/>
            <a:ext cx="4663440" cy="228600"/>
          </a:xfrm>
          <a:prstGeom prst="rect">
            <a:avLst/>
          </a:prstGeom>
          <a:noFill/>
        </p:spPr>
        <p:txBody>
          <a:bodyPr wrap="square"/>
          <a:lstStyle/>
          <a:p>
            <a:pPr algn="l">
              <a:defRPr sz="1000" b="1">
                <a:solidFill>
                  <a:srgbClr val="FFFFFF"/>
                </a:solidFill>
                <a:latin typeface="Calibri"/>
              </a:defRPr>
            </a:pPr>
            <a:r>
              <a:t>Compliance Officer</a:t>
            </a:r>
          </a:p>
        </p:txBody>
      </p:sp>
      <p:sp>
        <p:nvSpPr>
          <p:cNvPr id="26" name="TextBox 25"/>
          <p:cNvSpPr txBox="1"/>
          <p:nvPr/>
        </p:nvSpPr>
        <p:spPr>
          <a:xfrm>
            <a:off x="6583680" y="4370832"/>
            <a:ext cx="4663440" cy="320040"/>
          </a:xfrm>
          <a:prstGeom prst="rect">
            <a:avLst/>
          </a:prstGeom>
          <a:noFill/>
        </p:spPr>
        <p:txBody>
          <a:bodyPr wrap="square"/>
          <a:lstStyle/>
          <a:p>
            <a:pPr algn="l">
              <a:defRPr sz="900" b="0">
                <a:solidFill>
                  <a:srgbClr val="A0AEC0"/>
                </a:solidFill>
                <a:latin typeface="Calibri"/>
              </a:defRPr>
            </a:pPr>
            <a:r>
              <a:t>HIPAA compliance attestation, BAA execution verification, audit readiness</a:t>
            </a:r>
          </a:p>
        </p:txBody>
      </p:sp>
      <p:sp>
        <p:nvSpPr>
          <p:cNvPr id="27" name="Rectangle 26"/>
          <p:cNvSpPr/>
          <p:nvPr/>
        </p:nvSpPr>
        <p:spPr>
          <a:xfrm>
            <a:off x="6583680" y="4663440"/>
            <a:ext cx="320040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4681728"/>
            <a:ext cx="3200400" cy="182880"/>
          </a:xfrm>
          <a:prstGeom prst="rect">
            <a:avLst/>
          </a:prstGeom>
          <a:noFill/>
        </p:spPr>
        <p:txBody>
          <a:bodyPr wrap="square"/>
          <a:lstStyle/>
          <a:p>
            <a:pPr algn="l">
              <a:defRPr sz="800" b="0">
                <a:solidFill>
                  <a:srgbClr val="999999"/>
                </a:solidFill>
                <a:latin typeface="Calibri"/>
              </a:defRPr>
            </a:pPr>
            <a:r>
              <a:t>Signature / Date</a:t>
            </a:r>
          </a:p>
        </p:txBody>
      </p:sp>
      <p:sp>
        <p:nvSpPr>
          <p:cNvPr id="29" name="Rectangle 28"/>
          <p:cNvSpPr/>
          <p:nvPr/>
        </p:nvSpPr>
        <p:spPr>
          <a:xfrm>
            <a:off x="6583680" y="4937760"/>
            <a:ext cx="4663440"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83680" y="4983480"/>
            <a:ext cx="4663440" cy="228600"/>
          </a:xfrm>
          <a:prstGeom prst="rect">
            <a:avLst/>
          </a:prstGeom>
          <a:noFill/>
        </p:spPr>
        <p:txBody>
          <a:bodyPr wrap="square"/>
          <a:lstStyle/>
          <a:p>
            <a:pPr algn="l">
              <a:defRPr sz="1000" b="1">
                <a:solidFill>
                  <a:srgbClr val="FFFFFF"/>
                </a:solidFill>
                <a:latin typeface="Calibri"/>
              </a:defRPr>
            </a:pPr>
            <a:r>
              <a:t>TPRM Program Lead</a:t>
            </a:r>
          </a:p>
        </p:txBody>
      </p:sp>
      <p:sp>
        <p:nvSpPr>
          <p:cNvPr id="31" name="TextBox 30"/>
          <p:cNvSpPr txBox="1"/>
          <p:nvPr/>
        </p:nvSpPr>
        <p:spPr>
          <a:xfrm>
            <a:off x="6583680" y="5193792"/>
            <a:ext cx="4663440" cy="320040"/>
          </a:xfrm>
          <a:prstGeom prst="rect">
            <a:avLst/>
          </a:prstGeom>
          <a:noFill/>
        </p:spPr>
        <p:txBody>
          <a:bodyPr wrap="square"/>
          <a:lstStyle/>
          <a:p>
            <a:pPr algn="l">
              <a:defRPr sz="900" b="0">
                <a:solidFill>
                  <a:srgbClr val="A0AEC0"/>
                </a:solidFill>
                <a:latin typeface="Calibri"/>
              </a:defRPr>
            </a:pPr>
            <a:r>
              <a:t>Program delivery confirmation, evidence repository completion, lessons learned documentation</a:t>
            </a:r>
          </a:p>
        </p:txBody>
      </p:sp>
      <p:sp>
        <p:nvSpPr>
          <p:cNvPr id="32" name="Rectangle 31"/>
          <p:cNvSpPr/>
          <p:nvPr/>
        </p:nvSpPr>
        <p:spPr>
          <a:xfrm>
            <a:off x="6583680" y="5486400"/>
            <a:ext cx="320040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0" y="5504688"/>
            <a:ext cx="3200400" cy="182880"/>
          </a:xfrm>
          <a:prstGeom prst="rect">
            <a:avLst/>
          </a:prstGeom>
          <a:noFill/>
        </p:spPr>
        <p:txBody>
          <a:bodyPr wrap="square"/>
          <a:lstStyle/>
          <a:p>
            <a:pPr algn="l">
              <a:defRPr sz="800" b="0">
                <a:solidFill>
                  <a:srgbClr val="999999"/>
                </a:solidFill>
                <a:latin typeface="Calibri"/>
              </a:defRPr>
            </a:pPr>
            <a:r>
              <a:t>Signature / Date</a:t>
            </a:r>
          </a:p>
        </p:txBody>
      </p:sp>
      <p:sp>
        <p:nvSpPr>
          <p:cNvPr id="34" name="Rounded Rectangle 33"/>
          <p:cNvSpPr/>
          <p:nvPr/>
        </p:nvSpPr>
        <p:spPr>
          <a:xfrm>
            <a:off x="731520" y="5074920"/>
            <a:ext cx="10698480" cy="1280160"/>
          </a:xfrm>
          <a:prstGeom prst="roundRect">
            <a:avLst/>
          </a:prstGeom>
          <a:solidFill>
            <a:srgbClr val="152240"/>
          </a:solidFill>
          <a:ln w="12700">
            <a:solidFill>
              <a:srgbClr val="1E3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 y="5074920"/>
            <a:ext cx="1069848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 y="5212080"/>
            <a:ext cx="10241280" cy="1097280"/>
          </a:xfrm>
          <a:prstGeom prst="rect">
            <a:avLst/>
          </a:prstGeom>
          <a:noFill/>
        </p:spPr>
        <p:txBody>
          <a:bodyPr wrap="square"/>
          <a:lstStyle/>
          <a:p>
            <a:pPr algn="l">
              <a:defRPr sz="1300" b="1">
                <a:solidFill>
                  <a:srgbClr val="00B4D8"/>
                </a:solidFill>
                <a:latin typeface="Calibri"/>
              </a:defRPr>
            </a:pPr>
            <a:r>
              <a:t>Program Closure Statement</a:t>
            </a:r>
          </a:p>
          <a:p>
            <a:pPr algn="l">
              <a:spcBef>
                <a:spcPts val="400"/>
              </a:spcBef>
              <a:spcAft>
                <a:spcPts val="200"/>
              </a:spcAft>
              <a:defRPr sz="400" b="0">
                <a:solidFill>
                  <a:srgbClr val="E8ECF1"/>
                </a:solidFill>
                <a:latin typeface="Calibri"/>
              </a:defRPr>
            </a:pPr>
            <a:endParaRPr/>
          </a:p>
          <a:p>
            <a:pPr algn="l">
              <a:spcBef>
                <a:spcPts val="400"/>
              </a:spcBef>
              <a:spcAft>
                <a:spcPts val="200"/>
              </a:spcAft>
              <a:defRPr sz="1000" b="0">
                <a:solidFill>
                  <a:srgbClr val="E8ECF1"/>
                </a:solidFill>
                <a:latin typeface="Calibri"/>
              </a:defRPr>
            </a:pPr>
            <a:r>
              <a:t>The Johns Hopkins Home Health TPRM Program Year 1 is recommended for formal closure upon executive sign-off. All critical and high-risk findings have been remediated. Remaining medium-risk items are on track for Q1 2027 completion. The program has achieved a 92% compliance score, established institutionalized onboarding/monitoring/offboarding processes, and is positioned for Year 2 maturity advancement to Level 4.</a:t>
            </a:r>
          </a:p>
          <a:p>
            <a:pPr algn="l">
              <a:spcBef>
                <a:spcPts val="400"/>
              </a:spcBef>
              <a:spcAft>
                <a:spcPts val="200"/>
              </a:spcAft>
              <a:defRPr sz="400" b="0">
                <a:solidFill>
                  <a:srgbClr val="E8ECF1"/>
                </a:solidFill>
                <a:latin typeface="Calibri"/>
              </a:defRPr>
            </a:pPr>
            <a:endParaRPr/>
          </a:p>
          <a:p>
            <a:pPr algn="l">
              <a:spcBef>
                <a:spcPts val="400"/>
              </a:spcBef>
              <a:spcAft>
                <a:spcPts val="200"/>
              </a:spcAft>
              <a:defRPr sz="1000" b="0">
                <a:solidFill>
                  <a:srgbClr val="A0AEC0"/>
                </a:solidFill>
                <a:latin typeface="Calibri"/>
              </a:defRPr>
            </a:pPr>
            <a:r>
              <a:t>This report and all supporting artifacts are retained in the TPRM evidence repository for audit readiness and regulatory examination.</a:t>
            </a:r>
          </a:p>
        </p:txBody>
      </p:sp>
      <p:sp>
        <p:nvSpPr>
          <p:cNvPr id="37" name="Rectangle 36"/>
          <p:cNvSpPr/>
          <p:nvPr/>
        </p:nvSpPr>
        <p:spPr>
          <a:xfrm>
            <a:off x="0" y="6537960"/>
            <a:ext cx="12191695" cy="18288"/>
          </a:xfrm>
          <a:prstGeom prst="rect">
            <a:avLst/>
          </a:prstGeom>
          <a:solidFill>
            <a:srgbClr val="2A3F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247120" y="6446520"/>
            <a:ext cx="822960" cy="320040"/>
          </a:xfrm>
          <a:prstGeom prst="rect">
            <a:avLst/>
          </a:prstGeom>
          <a:noFill/>
        </p:spPr>
        <p:txBody>
          <a:bodyPr wrap="square"/>
          <a:lstStyle/>
          <a:p>
            <a:pPr algn="r">
              <a:defRPr sz="900" b="0">
                <a:solidFill>
                  <a:srgbClr val="999999"/>
                </a:solidFill>
                <a:latin typeface="Calibri"/>
              </a:defRPr>
            </a:pPr>
            <a:r>
              <a:t>12/12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114</TotalTime>
  <Words>2313</Words>
  <Application>Microsoft Office PowerPoint</Application>
  <PresentationFormat>Widescreen</PresentationFormat>
  <Paragraphs>321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SOFIU AKIBU</cp:lastModifiedBy>
  <cp:revision>1</cp:revision>
  <dcterms:created xsi:type="dcterms:W3CDTF">2013-01-27T09:14:16Z</dcterms:created>
  <dcterms:modified xsi:type="dcterms:W3CDTF">2026-05-21T11:06:26Z</dcterms:modified>
  <cp:category/>
</cp:coreProperties>
</file>