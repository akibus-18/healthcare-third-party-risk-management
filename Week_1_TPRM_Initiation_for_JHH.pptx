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638" y="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95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jpe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571500" y="604540"/>
            <a:ext cx="264319" cy="200025"/>
          </a:xfrm>
          <a:prstGeom prst="rect">
            <a:avLst/>
          </a:prstGeom>
        </p:spPr>
      </p:pic>
      <p:sp>
        <p:nvSpPr>
          <p:cNvPr id="4" name="Text 0"/>
          <p:cNvSpPr/>
          <p:nvPr/>
        </p:nvSpPr>
        <p:spPr>
          <a:xfrm>
            <a:off x="942975" y="571500"/>
            <a:ext cx="3005733" cy="266105"/>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2D72"/>
                </a:solidFill>
                <a:latin typeface="Playfair Display" pitchFamily="34" charset="0"/>
                <a:ea typeface="Playfair Display" pitchFamily="34" charset="-122"/>
                <a:cs typeface="Playfair Display" pitchFamily="34" charset="-120"/>
              </a:rPr>
              <a:t>JOHNS HOPKINS MEDICINE</a:t>
            </a:r>
            <a:endParaRPr lang="en-US" sz="1397" dirty="0"/>
          </a:p>
        </p:txBody>
      </p:sp>
      <p:sp>
        <p:nvSpPr>
          <p:cNvPr id="5" name="Text 1"/>
          <p:cNvSpPr/>
          <p:nvPr/>
        </p:nvSpPr>
        <p:spPr>
          <a:xfrm>
            <a:off x="571500" y="980480"/>
            <a:ext cx="4442101" cy="1508727"/>
          </a:xfrm>
          <a:prstGeom prst="rect">
            <a:avLst/>
          </a:prstGeom>
          <a:noFill/>
          <a:ln/>
        </p:spPr>
        <p:txBody>
          <a:bodyPr wrap="square" lIns="0" tIns="0" rIns="0" bIns="0" rtlCol="0" anchor="t">
            <a:spAutoFit/>
          </a:bodyPr>
          <a:lstStyle/>
          <a:p>
            <a:pPr marL="0" indent="0" algn="l">
              <a:lnSpc>
                <a:spcPts val="4000"/>
              </a:lnSpc>
              <a:buNone/>
            </a:pPr>
            <a:r>
              <a:rPr lang="en-US" sz="3294" b="1" dirty="0">
                <a:solidFill>
                  <a:srgbClr val="002D72"/>
                </a:solidFill>
                <a:latin typeface="Playfair Display" pitchFamily="34" charset="0"/>
                <a:ea typeface="Playfair Display" pitchFamily="34" charset="-122"/>
                <a:cs typeface="Playfair Display" pitchFamily="34" charset="-120"/>
              </a:rPr>
              <a:t>Week 1 Initiation: Third-Party Risk Management</a:t>
            </a:r>
            <a:endParaRPr lang="en-US" sz="3294" dirty="0"/>
          </a:p>
        </p:txBody>
      </p:sp>
      <p:sp>
        <p:nvSpPr>
          <p:cNvPr id="6" name="Text 2"/>
          <p:cNvSpPr/>
          <p:nvPr/>
        </p:nvSpPr>
        <p:spPr>
          <a:xfrm>
            <a:off x="571500" y="2632081"/>
            <a:ext cx="4442101" cy="780064"/>
          </a:xfrm>
          <a:prstGeom prst="rect">
            <a:avLst/>
          </a:prstGeom>
          <a:noFill/>
          <a:ln/>
        </p:spPr>
        <p:txBody>
          <a:bodyPr wrap="square" lIns="0" tIns="0" rIns="0" bIns="0" rtlCol="0" anchor="t">
            <a:spAutoFit/>
          </a:bodyPr>
          <a:lstStyle/>
          <a:p>
            <a:pPr marL="0" indent="0" algn="l">
              <a:lnSpc>
                <a:spcPts val="2000"/>
              </a:lnSpc>
              <a:buNone/>
            </a:pPr>
            <a:r>
              <a:rPr lang="en-US" sz="1397" b="1" dirty="0">
                <a:solidFill>
                  <a:srgbClr val="68ACE5"/>
                </a:solidFill>
                <a:latin typeface="Inter" pitchFamily="34" charset="0"/>
                <a:ea typeface="Inter" pitchFamily="34" charset="-122"/>
                <a:cs typeface="Inter" pitchFamily="34" charset="-120"/>
              </a:rPr>
              <a:t>Understanding the TPRM Landscape in Clinical, Research, and Administrative Environments</a:t>
            </a:r>
            <a:endParaRPr lang="en-US" sz="1397" dirty="0"/>
          </a:p>
        </p:txBody>
      </p:sp>
      <p:sp>
        <p:nvSpPr>
          <p:cNvPr id="7" name="Shape 3"/>
          <p:cNvSpPr/>
          <p:nvPr/>
        </p:nvSpPr>
        <p:spPr>
          <a:xfrm>
            <a:off x="571500" y="4479131"/>
            <a:ext cx="4442101" cy="664369"/>
          </a:xfrm>
          <a:prstGeom prst="rect">
            <a:avLst/>
          </a:prstGeom>
          <a:solidFill>
            <a:srgbClr val="000000">
              <a:alpha val="0"/>
            </a:srgbClr>
          </a:solidFill>
          <a:ln/>
        </p:spPr>
      </p:sp>
      <p:sp>
        <p:nvSpPr>
          <p:cNvPr id="8" name="Shape 4"/>
          <p:cNvSpPr/>
          <p:nvPr/>
        </p:nvSpPr>
        <p:spPr>
          <a:xfrm>
            <a:off x="571500" y="4479131"/>
            <a:ext cx="4442101" cy="14288"/>
          </a:xfrm>
          <a:prstGeom prst="rect">
            <a:avLst/>
          </a:prstGeom>
          <a:solidFill>
            <a:srgbClr val="E8927C"/>
          </a:solidFill>
          <a:ln/>
        </p:spPr>
      </p:sp>
      <p:sp>
        <p:nvSpPr>
          <p:cNvPr id="9" name="Text 5"/>
          <p:cNvSpPr/>
          <p:nvPr/>
        </p:nvSpPr>
        <p:spPr>
          <a:xfrm>
            <a:off x="571500" y="4636294"/>
            <a:ext cx="4442101"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333333"/>
                </a:solidFill>
                <a:latin typeface="Inter" pitchFamily="34" charset="0"/>
                <a:ea typeface="Inter" pitchFamily="34" charset="-122"/>
                <a:cs typeface="Inter" pitchFamily="34" charset="-120"/>
              </a:rPr>
              <a:t>Healthcare GRC / Vendor Risk Analyst Intern</a:t>
            </a:r>
            <a:endParaRPr lang="en-US" sz="987" dirty="0"/>
          </a:p>
        </p:txBody>
      </p:sp>
      <p:sp>
        <p:nvSpPr>
          <p:cNvPr id="10" name="Text 6"/>
          <p:cNvSpPr/>
          <p:nvPr/>
        </p:nvSpPr>
        <p:spPr>
          <a:xfrm>
            <a:off x="571500" y="4845248"/>
            <a:ext cx="4442101"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666666"/>
                </a:solidFill>
                <a:latin typeface="Inter" pitchFamily="34" charset="0"/>
                <a:ea typeface="Inter" pitchFamily="34" charset="-122"/>
                <a:cs typeface="Inter" pitchFamily="34" charset="-120"/>
              </a:rPr>
              <a:t>Week 1 Initiation Project | April 2026</a:t>
            </a:r>
            <a:endParaRPr lang="en-US" sz="942" dirty="0"/>
          </a:p>
        </p:txBody>
      </p:sp>
      <p:pic>
        <p:nvPicPr>
          <p:cNvPr id="11" name="Image 2" descr="preencoded.png"/>
          <p:cNvPicPr>
            <a:picLocks noChangeAspect="1"/>
          </p:cNvPicPr>
          <p:nvPr/>
        </p:nvPicPr>
        <p:blipFill>
          <a:blip r:embed="rId5"/>
          <a:stretch>
            <a:fillRect/>
          </a:stretch>
        </p:blipFill>
        <p:spPr>
          <a:xfrm>
            <a:off x="5442226" y="0"/>
            <a:ext cx="3701774"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Week 1 Goal: Establishing the TPRM Foundation for JHH</a:t>
            </a:r>
            <a:endParaRPr lang="en-US" sz="1602" dirty="0"/>
          </a:p>
        </p:txBody>
      </p:sp>
      <p:sp>
        <p:nvSpPr>
          <p:cNvPr id="4" name="Shape 1"/>
          <p:cNvSpPr/>
          <p:nvPr/>
        </p:nvSpPr>
        <p:spPr>
          <a:xfrm>
            <a:off x="571500" y="875109"/>
            <a:ext cx="8001000" cy="632222"/>
          </a:xfrm>
          <a:prstGeom prst="rect">
            <a:avLst/>
          </a:prstGeom>
          <a:solidFill>
            <a:srgbClr val="F8FAFC"/>
          </a:solidFill>
          <a:ln/>
        </p:spPr>
      </p:sp>
      <p:sp>
        <p:nvSpPr>
          <p:cNvPr id="5" name="Shape 2"/>
          <p:cNvSpPr/>
          <p:nvPr/>
        </p:nvSpPr>
        <p:spPr>
          <a:xfrm>
            <a:off x="571500" y="875109"/>
            <a:ext cx="28575" cy="632222"/>
          </a:xfrm>
          <a:prstGeom prst="rect">
            <a:avLst/>
          </a:prstGeom>
          <a:solidFill>
            <a:srgbClr val="68ACE5"/>
          </a:solidFill>
          <a:ln/>
        </p:spPr>
      </p:sp>
      <p:sp>
        <p:nvSpPr>
          <p:cNvPr id="6" name="Text 3"/>
          <p:cNvSpPr/>
          <p:nvPr/>
        </p:nvSpPr>
        <p:spPr>
          <a:xfrm>
            <a:off x="571500" y="875109"/>
            <a:ext cx="8001000" cy="632222"/>
          </a:xfrm>
          <a:prstGeom prst="rect">
            <a:avLst/>
          </a:prstGeom>
          <a:noFill/>
          <a:ln/>
        </p:spPr>
        <p:txBody>
          <a:bodyPr wrap="square" lIns="170053" tIns="170053" rIns="170053" bIns="170053" rtlCol="0" anchor="t">
            <a:spAutoFit/>
          </a:bodyPr>
          <a:lstStyle/>
          <a:p>
            <a:pPr marL="0" indent="0" algn="l">
              <a:lnSpc>
                <a:spcPts val="1400"/>
              </a:lnSpc>
              <a:buNone/>
            </a:pPr>
            <a:r>
              <a:rPr lang="en-US" sz="987" b="1" dirty="0">
                <a:solidFill>
                  <a:srgbClr val="002D72"/>
                </a:solidFill>
                <a:latin typeface="Inter" pitchFamily="34" charset="0"/>
                <a:ea typeface="Inter" pitchFamily="34" charset="-122"/>
                <a:cs typeface="Inter" pitchFamily="34" charset="-120"/>
              </a:rPr>
              <a:t>Objective: Understand the TPRM lifecycle within Johns Hopkins Hospital’s clinical, research, and administrative environment.</a:t>
            </a:r>
            <a:endParaRPr lang="en-US" sz="987" dirty="0"/>
          </a:p>
        </p:txBody>
      </p:sp>
      <p:pic>
        <p:nvPicPr>
          <p:cNvPr id="7" name="Image 1" descr="preencoded.png"/>
          <p:cNvPicPr>
            <a:picLocks noChangeAspect="1"/>
          </p:cNvPicPr>
          <p:nvPr/>
        </p:nvPicPr>
        <p:blipFill>
          <a:blip r:embed="rId4"/>
          <a:stretch>
            <a:fillRect/>
          </a:stretch>
        </p:blipFill>
        <p:spPr>
          <a:xfrm>
            <a:off x="1410891" y="2021681"/>
            <a:ext cx="214313" cy="285750"/>
          </a:xfrm>
          <a:prstGeom prst="rect">
            <a:avLst/>
          </a:prstGeom>
        </p:spPr>
      </p:pic>
      <p:sp>
        <p:nvSpPr>
          <p:cNvPr id="8" name="Text 4"/>
          <p:cNvSpPr/>
          <p:nvPr/>
        </p:nvSpPr>
        <p:spPr>
          <a:xfrm>
            <a:off x="1090315" y="2450306"/>
            <a:ext cx="855464" cy="15537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2D72"/>
                </a:solidFill>
                <a:latin typeface="Inter" pitchFamily="34" charset="0"/>
                <a:ea typeface="Inter" pitchFamily="34" charset="-122"/>
                <a:cs typeface="Inter" pitchFamily="34" charset="-120"/>
              </a:rPr>
              <a:t>Policy Review</a:t>
            </a:r>
            <a:endParaRPr lang="en-US" sz="885" dirty="0"/>
          </a:p>
        </p:txBody>
      </p:sp>
      <p:sp>
        <p:nvSpPr>
          <p:cNvPr id="9" name="Text 5"/>
          <p:cNvSpPr/>
          <p:nvPr/>
        </p:nvSpPr>
        <p:spPr>
          <a:xfrm>
            <a:off x="728663" y="2712839"/>
            <a:ext cx="1578769" cy="600075"/>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555555"/>
                </a:solidFill>
                <a:latin typeface="Inter" pitchFamily="34" charset="0"/>
                <a:ea typeface="Inter" pitchFamily="34" charset="-122"/>
                <a:cs typeface="Inter" pitchFamily="34" charset="-120"/>
              </a:rPr>
              <a:t>Analyze JHH Vendor Management and Information Security policies (FIN150 &amp; TECH001).</a:t>
            </a:r>
            <a:endParaRPr lang="en-US" sz="727" dirty="0"/>
          </a:p>
        </p:txBody>
      </p:sp>
      <p:pic>
        <p:nvPicPr>
          <p:cNvPr id="10" name="Image 2" descr="preencoded.png"/>
          <p:cNvPicPr>
            <a:picLocks noChangeAspect="1"/>
          </p:cNvPicPr>
          <p:nvPr/>
        </p:nvPicPr>
        <p:blipFill>
          <a:blip r:embed="rId5"/>
          <a:stretch>
            <a:fillRect/>
          </a:stretch>
        </p:blipFill>
        <p:spPr>
          <a:xfrm>
            <a:off x="3411141" y="2021681"/>
            <a:ext cx="285750" cy="285750"/>
          </a:xfrm>
          <a:prstGeom prst="rect">
            <a:avLst/>
          </a:prstGeom>
        </p:spPr>
      </p:pic>
      <p:sp>
        <p:nvSpPr>
          <p:cNvPr id="11" name="Text 6"/>
          <p:cNvSpPr/>
          <p:nvPr/>
        </p:nvSpPr>
        <p:spPr>
          <a:xfrm>
            <a:off x="3247727" y="2450306"/>
            <a:ext cx="612577" cy="15537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2D72"/>
                </a:solidFill>
                <a:latin typeface="Inter" pitchFamily="34" charset="0"/>
                <a:ea typeface="Inter" pitchFamily="34" charset="-122"/>
                <a:cs typeface="Inter" pitchFamily="34" charset="-120"/>
              </a:rPr>
              <a:t>Vendor ID</a:t>
            </a:r>
            <a:endParaRPr lang="en-US" sz="885" dirty="0"/>
          </a:p>
        </p:txBody>
      </p:sp>
      <p:sp>
        <p:nvSpPr>
          <p:cNvPr id="12" name="Text 7"/>
          <p:cNvSpPr/>
          <p:nvPr/>
        </p:nvSpPr>
        <p:spPr>
          <a:xfrm>
            <a:off x="2764631" y="2712839"/>
            <a:ext cx="1578769"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555555"/>
                </a:solidFill>
                <a:latin typeface="Inter" pitchFamily="34" charset="0"/>
                <a:ea typeface="Inter" pitchFamily="34" charset="-122"/>
                <a:cs typeface="Inter" pitchFamily="34" charset="-120"/>
              </a:rPr>
              <a:t>Identify 10 strategic healthcare vendors across clinical, cloud, and IT domains.</a:t>
            </a:r>
            <a:endParaRPr lang="en-US" sz="727" dirty="0"/>
          </a:p>
        </p:txBody>
      </p:sp>
      <p:pic>
        <p:nvPicPr>
          <p:cNvPr id="13" name="Image 3" descr="preencoded.png"/>
          <p:cNvPicPr>
            <a:picLocks noChangeAspect="1"/>
          </p:cNvPicPr>
          <p:nvPr/>
        </p:nvPicPr>
        <p:blipFill>
          <a:blip r:embed="rId6"/>
          <a:stretch>
            <a:fillRect/>
          </a:stretch>
        </p:blipFill>
        <p:spPr>
          <a:xfrm>
            <a:off x="5411391" y="2021681"/>
            <a:ext cx="357188" cy="285750"/>
          </a:xfrm>
          <a:prstGeom prst="rect">
            <a:avLst/>
          </a:prstGeom>
        </p:spPr>
      </p:pic>
      <p:sp>
        <p:nvSpPr>
          <p:cNvPr id="14" name="Text 8"/>
          <p:cNvSpPr/>
          <p:nvPr/>
        </p:nvSpPr>
        <p:spPr>
          <a:xfrm>
            <a:off x="5064026" y="2450306"/>
            <a:ext cx="1051917" cy="15537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2D72"/>
                </a:solidFill>
                <a:latin typeface="Inter" pitchFamily="34" charset="0"/>
                <a:ea typeface="Inter" pitchFamily="34" charset="-122"/>
                <a:cs typeface="Inter" pitchFamily="34" charset="-120"/>
              </a:rPr>
              <a:t>Stakeholder Map</a:t>
            </a:r>
            <a:endParaRPr lang="en-US" sz="885" dirty="0"/>
          </a:p>
        </p:txBody>
      </p:sp>
      <p:sp>
        <p:nvSpPr>
          <p:cNvPr id="15" name="Text 9"/>
          <p:cNvSpPr/>
          <p:nvPr/>
        </p:nvSpPr>
        <p:spPr>
          <a:xfrm>
            <a:off x="4800600" y="2712839"/>
            <a:ext cx="1578769"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555555"/>
                </a:solidFill>
                <a:latin typeface="Inter" pitchFamily="34" charset="0"/>
                <a:ea typeface="Inter" pitchFamily="34" charset="-122"/>
                <a:cs typeface="Inter" pitchFamily="34" charset="-120"/>
              </a:rPr>
              <a:t>Identify internal stakeholders across InfoSec, Compliance, Clinical, and IT Engineering.</a:t>
            </a:r>
            <a:endParaRPr lang="en-US" sz="727" dirty="0"/>
          </a:p>
        </p:txBody>
      </p:sp>
      <p:pic>
        <p:nvPicPr>
          <p:cNvPr id="16" name="Image 4" descr="preencoded.png"/>
          <p:cNvPicPr>
            <a:picLocks noChangeAspect="1"/>
          </p:cNvPicPr>
          <p:nvPr/>
        </p:nvPicPr>
        <p:blipFill>
          <a:blip r:embed="rId7"/>
          <a:stretch>
            <a:fillRect/>
          </a:stretch>
        </p:blipFill>
        <p:spPr>
          <a:xfrm>
            <a:off x="7483078" y="2021681"/>
            <a:ext cx="285750" cy="285750"/>
          </a:xfrm>
          <a:prstGeom prst="rect">
            <a:avLst/>
          </a:prstGeom>
        </p:spPr>
      </p:pic>
      <p:sp>
        <p:nvSpPr>
          <p:cNvPr id="17" name="Text 10"/>
          <p:cNvSpPr/>
          <p:nvPr/>
        </p:nvSpPr>
        <p:spPr>
          <a:xfrm>
            <a:off x="7048202" y="2450306"/>
            <a:ext cx="1155502" cy="155377"/>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2D72"/>
                </a:solidFill>
                <a:latin typeface="Inter" pitchFamily="34" charset="0"/>
                <a:ea typeface="Inter" pitchFamily="34" charset="-122"/>
                <a:cs typeface="Inter" pitchFamily="34" charset="-120"/>
              </a:rPr>
              <a:t>Regulatory Review</a:t>
            </a:r>
            <a:endParaRPr lang="en-US" sz="885" dirty="0"/>
          </a:p>
        </p:txBody>
      </p:sp>
      <p:sp>
        <p:nvSpPr>
          <p:cNvPr id="18" name="Text 11"/>
          <p:cNvSpPr/>
          <p:nvPr/>
        </p:nvSpPr>
        <p:spPr>
          <a:xfrm>
            <a:off x="6836569" y="2712839"/>
            <a:ext cx="1578769"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555555"/>
                </a:solidFill>
                <a:latin typeface="Inter" pitchFamily="34" charset="0"/>
                <a:ea typeface="Inter" pitchFamily="34" charset="-122"/>
                <a:cs typeface="Inter" pitchFamily="34" charset="-120"/>
              </a:rPr>
              <a:t>Assess obligations under HIPAA, HITECH, HITRUST, NIST, and ISO standards.</a:t>
            </a:r>
            <a:endParaRPr lang="en-US" sz="727" dirty="0"/>
          </a:p>
        </p:txBody>
      </p:sp>
      <p:sp>
        <p:nvSpPr>
          <p:cNvPr id="19" name="Text 12"/>
          <p:cNvSpPr/>
          <p:nvPr/>
        </p:nvSpPr>
        <p:spPr>
          <a:xfrm>
            <a:off x="571500" y="4736306"/>
            <a:ext cx="2998589"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AAAAAA"/>
                </a:solidFill>
                <a:latin typeface="Inter" pitchFamily="34" charset="0"/>
                <a:ea typeface="Inter" pitchFamily="34" charset="-122"/>
                <a:cs typeface="Inter" pitchFamily="34" charset="-120"/>
              </a:rPr>
              <a:t>WEEK 1: INITIATION PHASE | ROADMAP &amp; OBJECTIVES</a:t>
            </a:r>
            <a:endParaRPr lang="en-US" sz="6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438"/>
            <a:ext cx="9144000" cy="5143500"/>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JHH Vendor Management &amp; InfoSec Policy Framework</a:t>
            </a:r>
            <a:endParaRPr lang="en-US" sz="1602" dirty="0"/>
          </a:p>
        </p:txBody>
      </p:sp>
      <p:sp>
        <p:nvSpPr>
          <p:cNvPr id="4" name="Shape 1"/>
          <p:cNvSpPr/>
          <p:nvPr/>
        </p:nvSpPr>
        <p:spPr>
          <a:xfrm>
            <a:off x="571500" y="875109"/>
            <a:ext cx="3857625" cy="2857500"/>
          </a:xfrm>
          <a:prstGeom prst="rect">
            <a:avLst/>
          </a:prstGeom>
          <a:solidFill>
            <a:srgbClr val="F8FAFC"/>
          </a:solidFill>
          <a:ln w="18288">
            <a:solidFill>
              <a:srgbClr val="002D72"/>
            </a:solidFill>
            <a:prstDash val="solid"/>
          </a:ln>
        </p:spPr>
      </p:sp>
      <p:pic>
        <p:nvPicPr>
          <p:cNvPr id="5" name="Image 1" descr="preencoded.png"/>
          <p:cNvPicPr>
            <a:picLocks noChangeAspect="1"/>
          </p:cNvPicPr>
          <p:nvPr/>
        </p:nvPicPr>
        <p:blipFill>
          <a:blip r:embed="rId4"/>
          <a:stretch>
            <a:fillRect/>
          </a:stretch>
        </p:blipFill>
        <p:spPr>
          <a:xfrm>
            <a:off x="785813" y="1104602"/>
            <a:ext cx="107156" cy="142875"/>
          </a:xfrm>
          <a:prstGeom prst="rect">
            <a:avLst/>
          </a:prstGeom>
        </p:spPr>
      </p:pic>
      <p:sp>
        <p:nvSpPr>
          <p:cNvPr id="6" name="Text 2"/>
          <p:cNvSpPr/>
          <p:nvPr/>
        </p:nvSpPr>
        <p:spPr>
          <a:xfrm>
            <a:off x="1000125" y="1089422"/>
            <a:ext cx="1573411"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2D72"/>
                </a:solidFill>
                <a:latin typeface="Inter" pitchFamily="34" charset="0"/>
                <a:ea typeface="Inter" pitchFamily="34" charset="-122"/>
                <a:cs typeface="Inter" pitchFamily="34" charset="-120"/>
              </a:rPr>
              <a:t>Vendor Policy (FIN150)</a:t>
            </a:r>
            <a:endParaRPr lang="en-US" sz="987" dirty="0"/>
          </a:p>
        </p:txBody>
      </p:sp>
      <p:pic>
        <p:nvPicPr>
          <p:cNvPr id="7" name="Image 2" descr="preencoded.png"/>
          <p:cNvPicPr>
            <a:picLocks noChangeAspect="1"/>
          </p:cNvPicPr>
          <p:nvPr/>
        </p:nvPicPr>
        <p:blipFill>
          <a:blip r:embed="rId5"/>
          <a:stretch>
            <a:fillRect/>
          </a:stretch>
        </p:blipFill>
        <p:spPr>
          <a:xfrm>
            <a:off x="785813" y="1469827"/>
            <a:ext cx="114300" cy="114300"/>
          </a:xfrm>
          <a:prstGeom prst="rect">
            <a:avLst/>
          </a:prstGeom>
        </p:spPr>
      </p:pic>
      <p:sp>
        <p:nvSpPr>
          <p:cNvPr id="8" name="Text 3"/>
          <p:cNvSpPr/>
          <p:nvPr/>
        </p:nvSpPr>
        <p:spPr>
          <a:xfrm>
            <a:off x="1000125" y="1457325"/>
            <a:ext cx="791170"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latin typeface="Inter" pitchFamily="34" charset="0"/>
                <a:ea typeface="Inter" pitchFamily="34" charset="-122"/>
                <a:cs typeface="Inter" pitchFamily="34" charset="-120"/>
              </a:rPr>
              <a:t>Classification:</a:t>
            </a:r>
            <a:endParaRPr lang="en-US" sz="784" dirty="0"/>
          </a:p>
        </p:txBody>
      </p:sp>
      <p:sp>
        <p:nvSpPr>
          <p:cNvPr id="9" name="Text 4"/>
          <p:cNvSpPr/>
          <p:nvPr/>
        </p:nvSpPr>
        <p:spPr>
          <a:xfrm>
            <a:off x="1000125" y="1590377"/>
            <a:ext cx="2982516" cy="30896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latin typeface="Inter" pitchFamily="34" charset="0"/>
                <a:ea typeface="Inter" pitchFamily="34" charset="-122"/>
                <a:cs typeface="Inter" pitchFamily="34" charset="-120"/>
              </a:rPr>
              <a:t>Defines four levels of on-site access for clinical and non-clinical vendors.</a:t>
            </a:r>
            <a:endParaRPr lang="en-US" sz="834" dirty="0"/>
          </a:p>
        </p:txBody>
      </p:sp>
      <p:pic>
        <p:nvPicPr>
          <p:cNvPr id="10" name="Image 3" descr="preencoded.png"/>
          <p:cNvPicPr>
            <a:picLocks noChangeAspect="1"/>
          </p:cNvPicPr>
          <p:nvPr/>
        </p:nvPicPr>
        <p:blipFill>
          <a:blip r:embed="rId5"/>
          <a:stretch>
            <a:fillRect/>
          </a:stretch>
        </p:blipFill>
        <p:spPr>
          <a:xfrm>
            <a:off x="785813" y="1919883"/>
            <a:ext cx="114300" cy="114300"/>
          </a:xfrm>
          <a:prstGeom prst="rect">
            <a:avLst/>
          </a:prstGeom>
        </p:spPr>
      </p:pic>
      <p:sp>
        <p:nvSpPr>
          <p:cNvPr id="11" name="Text 5"/>
          <p:cNvSpPr/>
          <p:nvPr/>
        </p:nvSpPr>
        <p:spPr>
          <a:xfrm>
            <a:off x="1000125" y="1907381"/>
            <a:ext cx="778669"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latin typeface="Inter" pitchFamily="34" charset="0"/>
                <a:ea typeface="Inter" pitchFamily="34" charset="-122"/>
                <a:cs typeface="Inter" pitchFamily="34" charset="-120"/>
              </a:rPr>
              <a:t>Credentialing:</a:t>
            </a:r>
            <a:endParaRPr lang="en-US" sz="784" dirty="0"/>
          </a:p>
        </p:txBody>
      </p:sp>
      <p:sp>
        <p:nvSpPr>
          <p:cNvPr id="12" name="Text 6"/>
          <p:cNvSpPr/>
          <p:nvPr/>
        </p:nvSpPr>
        <p:spPr>
          <a:xfrm>
            <a:off x="1026914" y="2052935"/>
            <a:ext cx="2871788" cy="30896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latin typeface="Inter" pitchFamily="34" charset="0"/>
                <a:ea typeface="Inter" pitchFamily="34" charset="-122"/>
                <a:cs typeface="Inter" pitchFamily="34" charset="-120"/>
              </a:rPr>
              <a:t>Mandatory background checks and ID registration for all Level 1-3 vendors.</a:t>
            </a:r>
            <a:endParaRPr lang="en-US" sz="834" dirty="0"/>
          </a:p>
        </p:txBody>
      </p:sp>
      <p:pic>
        <p:nvPicPr>
          <p:cNvPr id="13" name="Image 4" descr="preencoded.png"/>
          <p:cNvPicPr>
            <a:picLocks noChangeAspect="1"/>
          </p:cNvPicPr>
          <p:nvPr/>
        </p:nvPicPr>
        <p:blipFill>
          <a:blip r:embed="rId5"/>
          <a:stretch>
            <a:fillRect/>
          </a:stretch>
        </p:blipFill>
        <p:spPr>
          <a:xfrm>
            <a:off x="785813" y="2369939"/>
            <a:ext cx="114300" cy="114300"/>
          </a:xfrm>
          <a:prstGeom prst="rect">
            <a:avLst/>
          </a:prstGeom>
        </p:spPr>
      </p:pic>
      <p:sp>
        <p:nvSpPr>
          <p:cNvPr id="14" name="Text 7"/>
          <p:cNvSpPr/>
          <p:nvPr/>
        </p:nvSpPr>
        <p:spPr>
          <a:xfrm>
            <a:off x="1000125" y="2357438"/>
            <a:ext cx="709017"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latin typeface="Inter" pitchFamily="34" charset="0"/>
                <a:ea typeface="Inter" pitchFamily="34" charset="-122"/>
                <a:cs typeface="Inter" pitchFamily="34" charset="-120"/>
              </a:rPr>
              <a:t>Governance:</a:t>
            </a:r>
            <a:endParaRPr lang="en-US" sz="784" dirty="0"/>
          </a:p>
        </p:txBody>
      </p:sp>
      <p:sp>
        <p:nvSpPr>
          <p:cNvPr id="15" name="Text 8"/>
          <p:cNvSpPr/>
          <p:nvPr/>
        </p:nvSpPr>
        <p:spPr>
          <a:xfrm>
            <a:off x="969684" y="2583805"/>
            <a:ext cx="2925366" cy="30896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latin typeface="Inter" pitchFamily="34" charset="0"/>
                <a:ea typeface="Inter" pitchFamily="34" charset="-122"/>
                <a:cs typeface="Inter" pitchFamily="34" charset="-120"/>
              </a:rPr>
              <a:t>Prohibits unauthorized medical products without Supply Chain approval.</a:t>
            </a:r>
            <a:endParaRPr lang="en-US" sz="834" dirty="0"/>
          </a:p>
        </p:txBody>
      </p:sp>
      <p:sp>
        <p:nvSpPr>
          <p:cNvPr id="16" name="Shape 9"/>
          <p:cNvSpPr/>
          <p:nvPr/>
        </p:nvSpPr>
        <p:spPr>
          <a:xfrm>
            <a:off x="4714875" y="875109"/>
            <a:ext cx="3857625" cy="2857500"/>
          </a:xfrm>
          <a:prstGeom prst="rect">
            <a:avLst/>
          </a:prstGeom>
          <a:solidFill>
            <a:srgbClr val="F8FAFC"/>
          </a:solidFill>
          <a:ln w="18288">
            <a:solidFill>
              <a:srgbClr val="002D72"/>
            </a:solidFill>
            <a:prstDash val="solid"/>
          </a:ln>
        </p:spPr>
      </p:sp>
      <p:pic>
        <p:nvPicPr>
          <p:cNvPr id="17" name="Image 5" descr="preencoded.png"/>
          <p:cNvPicPr>
            <a:picLocks noChangeAspect="1"/>
          </p:cNvPicPr>
          <p:nvPr/>
        </p:nvPicPr>
        <p:blipFill>
          <a:blip r:embed="rId6"/>
          <a:stretch>
            <a:fillRect/>
          </a:stretch>
        </p:blipFill>
        <p:spPr>
          <a:xfrm>
            <a:off x="4929188" y="1104602"/>
            <a:ext cx="142875" cy="142875"/>
          </a:xfrm>
          <a:prstGeom prst="rect">
            <a:avLst/>
          </a:prstGeom>
        </p:spPr>
      </p:pic>
      <p:sp>
        <p:nvSpPr>
          <p:cNvPr id="18" name="Text 10"/>
          <p:cNvSpPr/>
          <p:nvPr/>
        </p:nvSpPr>
        <p:spPr>
          <a:xfrm>
            <a:off x="5179219" y="1089422"/>
            <a:ext cx="1768078"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2D72"/>
                </a:solidFill>
                <a:latin typeface="Inter" pitchFamily="34" charset="0"/>
                <a:ea typeface="Inter" pitchFamily="34" charset="-122"/>
                <a:cs typeface="Inter" pitchFamily="34" charset="-120"/>
              </a:rPr>
              <a:t>InfoSec Policy (TECH001)</a:t>
            </a:r>
            <a:endParaRPr lang="en-US" sz="987" dirty="0"/>
          </a:p>
        </p:txBody>
      </p:sp>
      <p:pic>
        <p:nvPicPr>
          <p:cNvPr id="19" name="Image 6" descr="preencoded.png"/>
          <p:cNvPicPr>
            <a:picLocks noChangeAspect="1"/>
          </p:cNvPicPr>
          <p:nvPr/>
        </p:nvPicPr>
        <p:blipFill>
          <a:blip r:embed="rId5"/>
          <a:stretch>
            <a:fillRect/>
          </a:stretch>
        </p:blipFill>
        <p:spPr>
          <a:xfrm>
            <a:off x="4929188" y="1469827"/>
            <a:ext cx="114300" cy="114300"/>
          </a:xfrm>
          <a:prstGeom prst="rect">
            <a:avLst/>
          </a:prstGeom>
        </p:spPr>
      </p:pic>
      <p:sp>
        <p:nvSpPr>
          <p:cNvPr id="20" name="Text 11"/>
          <p:cNvSpPr/>
          <p:nvPr/>
        </p:nvSpPr>
        <p:spPr>
          <a:xfrm>
            <a:off x="5143500" y="1457325"/>
            <a:ext cx="600075"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latin typeface="Inter" pitchFamily="34" charset="0"/>
                <a:ea typeface="Inter" pitchFamily="34" charset="-122"/>
                <a:cs typeface="Inter" pitchFamily="34" charset="-120"/>
              </a:rPr>
              <a:t>Data Tiers:</a:t>
            </a:r>
            <a:endParaRPr lang="en-US" sz="784" dirty="0"/>
          </a:p>
        </p:txBody>
      </p:sp>
      <p:sp>
        <p:nvSpPr>
          <p:cNvPr id="21" name="Text 12"/>
          <p:cNvSpPr/>
          <p:nvPr/>
        </p:nvSpPr>
        <p:spPr>
          <a:xfrm>
            <a:off x="5143500" y="1594842"/>
            <a:ext cx="2807494" cy="30896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latin typeface="Inter" pitchFamily="34" charset="0"/>
                <a:ea typeface="Inter" pitchFamily="34" charset="-122"/>
                <a:cs typeface="Inter" pitchFamily="34" charset="-120"/>
              </a:rPr>
              <a:t>Establishes Restricted, Confidential, and Internal data classification levels.</a:t>
            </a:r>
            <a:endParaRPr lang="en-US" sz="834" dirty="0"/>
          </a:p>
        </p:txBody>
      </p:sp>
      <p:pic>
        <p:nvPicPr>
          <p:cNvPr id="22" name="Image 7" descr="preencoded.png"/>
          <p:cNvPicPr>
            <a:picLocks noChangeAspect="1"/>
          </p:cNvPicPr>
          <p:nvPr/>
        </p:nvPicPr>
        <p:blipFill>
          <a:blip r:embed="rId5"/>
          <a:stretch>
            <a:fillRect/>
          </a:stretch>
        </p:blipFill>
        <p:spPr>
          <a:xfrm>
            <a:off x="4929188" y="1919883"/>
            <a:ext cx="114300" cy="114300"/>
          </a:xfrm>
          <a:prstGeom prst="rect">
            <a:avLst/>
          </a:prstGeom>
        </p:spPr>
      </p:pic>
      <p:sp>
        <p:nvSpPr>
          <p:cNvPr id="23" name="Text 13"/>
          <p:cNvSpPr/>
          <p:nvPr/>
        </p:nvSpPr>
        <p:spPr>
          <a:xfrm>
            <a:off x="5143500" y="1907381"/>
            <a:ext cx="637580"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latin typeface="Inter" pitchFamily="34" charset="0"/>
                <a:ea typeface="Inter" pitchFamily="34" charset="-122"/>
                <a:cs typeface="Inter" pitchFamily="34" charset="-120"/>
              </a:rPr>
              <a:t>Encryption:</a:t>
            </a:r>
            <a:endParaRPr lang="en-US" sz="784" dirty="0"/>
          </a:p>
        </p:txBody>
      </p:sp>
      <p:sp>
        <p:nvSpPr>
          <p:cNvPr id="24" name="Text 14"/>
          <p:cNvSpPr/>
          <p:nvPr/>
        </p:nvSpPr>
        <p:spPr>
          <a:xfrm>
            <a:off x="5122961" y="2127943"/>
            <a:ext cx="2996803" cy="30896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latin typeface="Inter" pitchFamily="34" charset="0"/>
                <a:ea typeface="Inter" pitchFamily="34" charset="-122"/>
                <a:cs typeface="Inter" pitchFamily="34" charset="-120"/>
              </a:rPr>
              <a:t>Mandatory AES-256 encryption for all ePHI and restricted data.</a:t>
            </a:r>
            <a:endParaRPr lang="en-US" sz="834" dirty="0"/>
          </a:p>
        </p:txBody>
      </p:sp>
      <p:pic>
        <p:nvPicPr>
          <p:cNvPr id="25" name="Image 8" descr="preencoded.png"/>
          <p:cNvPicPr>
            <a:picLocks noChangeAspect="1"/>
          </p:cNvPicPr>
          <p:nvPr/>
        </p:nvPicPr>
        <p:blipFill>
          <a:blip r:embed="rId5"/>
          <a:stretch>
            <a:fillRect/>
          </a:stretch>
        </p:blipFill>
        <p:spPr>
          <a:xfrm>
            <a:off x="4929188" y="2369939"/>
            <a:ext cx="114300" cy="114300"/>
          </a:xfrm>
          <a:prstGeom prst="rect">
            <a:avLst/>
          </a:prstGeom>
        </p:spPr>
      </p:pic>
      <p:sp>
        <p:nvSpPr>
          <p:cNvPr id="26" name="Text 15"/>
          <p:cNvSpPr/>
          <p:nvPr/>
        </p:nvSpPr>
        <p:spPr>
          <a:xfrm>
            <a:off x="5143500" y="2357438"/>
            <a:ext cx="709017"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latin typeface="Inter" pitchFamily="34" charset="0"/>
                <a:ea typeface="Inter" pitchFamily="34" charset="-122"/>
                <a:cs typeface="Inter" pitchFamily="34" charset="-120"/>
              </a:rPr>
              <a:t>Audit Rights:</a:t>
            </a:r>
            <a:endParaRPr lang="en-US" sz="784" dirty="0"/>
          </a:p>
        </p:txBody>
      </p:sp>
      <p:sp>
        <p:nvSpPr>
          <p:cNvPr id="27" name="Text 16"/>
          <p:cNvSpPr/>
          <p:nvPr/>
        </p:nvSpPr>
        <p:spPr>
          <a:xfrm>
            <a:off x="5122961" y="2526783"/>
            <a:ext cx="2955727" cy="30896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latin typeface="Inter" pitchFamily="34" charset="0"/>
                <a:ea typeface="Inter" pitchFamily="34" charset="-122"/>
                <a:cs typeface="Inter" pitchFamily="34" charset="-120"/>
              </a:rPr>
              <a:t>JHH reserves the right to perform annual security reviews of critical vendors.</a:t>
            </a:r>
            <a:endParaRPr lang="en-US" sz="834" dirty="0"/>
          </a:p>
        </p:txBody>
      </p:sp>
      <p:sp>
        <p:nvSpPr>
          <p:cNvPr id="28" name="Shape 17"/>
          <p:cNvSpPr/>
          <p:nvPr/>
        </p:nvSpPr>
        <p:spPr>
          <a:xfrm>
            <a:off x="571500" y="4345186"/>
            <a:ext cx="8001000" cy="369689"/>
          </a:xfrm>
          <a:prstGeom prst="rect">
            <a:avLst/>
          </a:prstGeom>
          <a:solidFill>
            <a:srgbClr val="002D72"/>
          </a:solidFill>
          <a:ln/>
        </p:spPr>
      </p:sp>
      <p:pic>
        <p:nvPicPr>
          <p:cNvPr id="29" name="Image 9" descr="preencoded.png"/>
          <p:cNvPicPr>
            <a:picLocks noChangeAspect="1"/>
          </p:cNvPicPr>
          <p:nvPr/>
        </p:nvPicPr>
        <p:blipFill>
          <a:blip r:embed="rId7"/>
          <a:stretch>
            <a:fillRect/>
          </a:stretch>
        </p:blipFill>
        <p:spPr>
          <a:xfrm>
            <a:off x="750094" y="4465737"/>
            <a:ext cx="128588" cy="128588"/>
          </a:xfrm>
          <a:prstGeom prst="rect">
            <a:avLst/>
          </a:prstGeom>
        </p:spPr>
      </p:pic>
      <p:sp>
        <p:nvSpPr>
          <p:cNvPr id="30" name="Text 18"/>
          <p:cNvSpPr/>
          <p:nvPr/>
        </p:nvSpPr>
        <p:spPr>
          <a:xfrm>
            <a:off x="985838" y="4452342"/>
            <a:ext cx="6532959"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latin typeface="Inter" pitchFamily="34" charset="0"/>
                <a:ea typeface="Inter" pitchFamily="34" charset="-122"/>
                <a:cs typeface="Inter" pitchFamily="34" charset="-120"/>
              </a:rPr>
              <a:t>Priority: Patient safety and data protection are the primary drivers for all vendor risk assessments at JHH.</a:t>
            </a:r>
            <a:endParaRPr lang="en-US" sz="88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8858"/>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HIPAA Privacy &amp; Security Rule Obligations for JHH Vendors</a:t>
            </a:r>
            <a:endParaRPr lang="en-US" sz="1602" dirty="0"/>
          </a:p>
        </p:txBody>
      </p:sp>
      <p:pic>
        <p:nvPicPr>
          <p:cNvPr id="4" name="Image 1" descr="preencoded.png"/>
          <p:cNvPicPr>
            <a:picLocks noChangeAspect="1"/>
          </p:cNvPicPr>
          <p:nvPr/>
        </p:nvPicPr>
        <p:blipFill>
          <a:blip r:embed="rId4"/>
          <a:stretch>
            <a:fillRect/>
          </a:stretch>
        </p:blipFill>
        <p:spPr>
          <a:xfrm>
            <a:off x="4143375" y="1348383"/>
            <a:ext cx="857250" cy="857250"/>
          </a:xfrm>
          <a:prstGeom prst="rect">
            <a:avLst/>
          </a:prstGeom>
        </p:spPr>
      </p:pic>
      <p:sp>
        <p:nvSpPr>
          <p:cNvPr id="5" name="Text 1"/>
          <p:cNvSpPr/>
          <p:nvPr/>
        </p:nvSpPr>
        <p:spPr>
          <a:xfrm>
            <a:off x="4309467" y="1683246"/>
            <a:ext cx="525066" cy="207169"/>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FFFF"/>
                </a:solidFill>
                <a:latin typeface="Inter" pitchFamily="34" charset="0"/>
                <a:ea typeface="Inter" pitchFamily="34" charset="-122"/>
                <a:cs typeface="Inter" pitchFamily="34" charset="-120"/>
              </a:rPr>
              <a:t>HIPAA</a:t>
            </a:r>
            <a:endParaRPr lang="en-US" sz="1193" dirty="0"/>
          </a:p>
        </p:txBody>
      </p:sp>
      <p:sp>
        <p:nvSpPr>
          <p:cNvPr id="6" name="Shape 2"/>
          <p:cNvSpPr/>
          <p:nvPr/>
        </p:nvSpPr>
        <p:spPr>
          <a:xfrm>
            <a:off x="571500" y="2591395"/>
            <a:ext cx="2524116" cy="2000250"/>
          </a:xfrm>
          <a:prstGeom prst="rect">
            <a:avLst/>
          </a:prstGeom>
          <a:solidFill>
            <a:srgbClr val="F8FAFC"/>
          </a:solidFill>
          <a:ln w="18288">
            <a:solidFill>
              <a:srgbClr val="002D72"/>
            </a:solidFill>
            <a:prstDash val="solid"/>
          </a:ln>
        </p:spPr>
      </p:sp>
      <p:sp>
        <p:nvSpPr>
          <p:cNvPr id="7" name="Text 3"/>
          <p:cNvSpPr/>
          <p:nvPr/>
        </p:nvSpPr>
        <p:spPr>
          <a:xfrm>
            <a:off x="750094" y="2805708"/>
            <a:ext cx="2166928" cy="173236"/>
          </a:xfrm>
          <a:prstGeom prst="rect">
            <a:avLst/>
          </a:prstGeom>
          <a:noFill/>
          <a:ln/>
        </p:spPr>
        <p:txBody>
          <a:bodyPr wrap="none" lIns="0" tIns="0" rIns="0" bIns="0" rtlCol="0" anchor="t">
            <a:spAutoFit/>
          </a:bodyPr>
          <a:lstStyle/>
          <a:p>
            <a:pPr marL="0" indent="0" algn="ctr">
              <a:lnSpc>
                <a:spcPts val="1400"/>
              </a:lnSpc>
              <a:buNone/>
            </a:pPr>
            <a:r>
              <a:rPr lang="en-US" sz="987" b="1" kern="0" spc="1" dirty="0">
                <a:solidFill>
                  <a:srgbClr val="002D72"/>
                </a:solidFill>
                <a:latin typeface="Inter" pitchFamily="34" charset="0"/>
                <a:ea typeface="Inter" pitchFamily="34" charset="-122"/>
                <a:cs typeface="Inter" pitchFamily="34" charset="-120"/>
              </a:rPr>
              <a:t>BAA CONTRACTS</a:t>
            </a:r>
            <a:endParaRPr lang="en-US" sz="987" dirty="0"/>
          </a:p>
        </p:txBody>
      </p:sp>
      <p:sp>
        <p:nvSpPr>
          <p:cNvPr id="8" name="Text 4"/>
          <p:cNvSpPr/>
          <p:nvPr/>
        </p:nvSpPr>
        <p:spPr>
          <a:xfrm>
            <a:off x="750094" y="3121819"/>
            <a:ext cx="2166928" cy="685800"/>
          </a:xfrm>
          <a:prstGeom prst="rect">
            <a:avLst/>
          </a:prstGeom>
          <a:noFill/>
          <a:ln/>
        </p:spPr>
        <p:txBody>
          <a:bodyPr wrap="square" lIns="0" tIns="0" rIns="0" bIns="0" rtlCol="0" anchor="t">
            <a:spAutoFit/>
          </a:bodyPr>
          <a:lstStyle/>
          <a:p>
            <a:pPr marL="0" indent="0" algn="ctr">
              <a:lnSpc>
                <a:spcPts val="1400"/>
              </a:lnSpc>
              <a:buNone/>
            </a:pPr>
            <a:r>
              <a:rPr lang="en-US" sz="734" b="1" dirty="0">
                <a:solidFill>
                  <a:srgbClr val="E8927C"/>
                </a:solidFill>
                <a:latin typeface="Inter" pitchFamily="34" charset="0"/>
                <a:ea typeface="Inter" pitchFamily="34" charset="-122"/>
                <a:cs typeface="Inter" pitchFamily="34" charset="-120"/>
              </a:rPr>
              <a:t>Mandatory Agreements:</a:t>
            </a:r>
            <a:r>
              <a:rPr lang="en-US" sz="780" dirty="0">
                <a:solidFill>
                  <a:srgbClr val="555555"/>
                </a:solidFill>
                <a:latin typeface="Inter" pitchFamily="34" charset="0"/>
                <a:ea typeface="Inter" pitchFamily="34" charset="-122"/>
                <a:cs typeface="Inter" pitchFamily="34" charset="-120"/>
              </a:rPr>
              <a:t> All vendors handling ePHI must sign a Business Associate Agreement (BAA) defining liability and reporting duties.</a:t>
            </a:r>
            <a:endParaRPr lang="en-US" sz="780" dirty="0"/>
          </a:p>
        </p:txBody>
      </p:sp>
      <p:sp>
        <p:nvSpPr>
          <p:cNvPr id="9" name="Shape 5"/>
          <p:cNvSpPr/>
          <p:nvPr/>
        </p:nvSpPr>
        <p:spPr>
          <a:xfrm>
            <a:off x="3309928" y="2591395"/>
            <a:ext cx="2524116" cy="2000250"/>
          </a:xfrm>
          <a:prstGeom prst="rect">
            <a:avLst/>
          </a:prstGeom>
          <a:solidFill>
            <a:srgbClr val="F8FAFC"/>
          </a:solidFill>
          <a:ln w="18288">
            <a:solidFill>
              <a:srgbClr val="002D72"/>
            </a:solidFill>
            <a:prstDash val="solid"/>
          </a:ln>
        </p:spPr>
      </p:sp>
      <p:sp>
        <p:nvSpPr>
          <p:cNvPr id="10" name="Text 6"/>
          <p:cNvSpPr/>
          <p:nvPr/>
        </p:nvSpPr>
        <p:spPr>
          <a:xfrm>
            <a:off x="3488522" y="2805708"/>
            <a:ext cx="2166928" cy="173236"/>
          </a:xfrm>
          <a:prstGeom prst="rect">
            <a:avLst/>
          </a:prstGeom>
          <a:noFill/>
          <a:ln/>
        </p:spPr>
        <p:txBody>
          <a:bodyPr wrap="none" lIns="0" tIns="0" rIns="0" bIns="0" rtlCol="0" anchor="t">
            <a:spAutoFit/>
          </a:bodyPr>
          <a:lstStyle/>
          <a:p>
            <a:pPr marL="0" indent="0" algn="ctr">
              <a:lnSpc>
                <a:spcPts val="1400"/>
              </a:lnSpc>
              <a:buNone/>
            </a:pPr>
            <a:r>
              <a:rPr lang="en-US" sz="987" b="1" kern="0" spc="1" dirty="0">
                <a:solidFill>
                  <a:srgbClr val="002D72"/>
                </a:solidFill>
                <a:latin typeface="Inter" pitchFamily="34" charset="0"/>
                <a:ea typeface="Inter" pitchFamily="34" charset="-122"/>
                <a:cs typeface="Inter" pitchFamily="34" charset="-120"/>
              </a:rPr>
              <a:t>SECURITY RULE</a:t>
            </a:r>
            <a:endParaRPr lang="en-US" sz="987" dirty="0"/>
          </a:p>
        </p:txBody>
      </p:sp>
      <p:sp>
        <p:nvSpPr>
          <p:cNvPr id="11" name="Text 7"/>
          <p:cNvSpPr/>
          <p:nvPr/>
        </p:nvSpPr>
        <p:spPr>
          <a:xfrm>
            <a:off x="3488522" y="3121819"/>
            <a:ext cx="2166928" cy="685800"/>
          </a:xfrm>
          <a:prstGeom prst="rect">
            <a:avLst/>
          </a:prstGeom>
          <a:noFill/>
          <a:ln/>
        </p:spPr>
        <p:txBody>
          <a:bodyPr wrap="square" lIns="0" tIns="0" rIns="0" bIns="0" rtlCol="0" anchor="t">
            <a:spAutoFit/>
          </a:bodyPr>
          <a:lstStyle/>
          <a:p>
            <a:pPr marL="0" indent="0" algn="ctr">
              <a:lnSpc>
                <a:spcPts val="1400"/>
              </a:lnSpc>
              <a:buNone/>
            </a:pPr>
            <a:r>
              <a:rPr lang="en-US" sz="734" b="1" dirty="0">
                <a:solidFill>
                  <a:srgbClr val="E8927C"/>
                </a:solidFill>
                <a:latin typeface="Inter" pitchFamily="34" charset="0"/>
                <a:ea typeface="Inter" pitchFamily="34" charset="-122"/>
                <a:cs typeface="Inter" pitchFamily="34" charset="-120"/>
              </a:rPr>
              <a:t>Safeguards:</a:t>
            </a:r>
            <a:r>
              <a:rPr lang="en-US" sz="780" dirty="0">
                <a:solidFill>
                  <a:srgbClr val="555555"/>
                </a:solidFill>
                <a:latin typeface="Inter" pitchFamily="34" charset="0"/>
                <a:ea typeface="Inter" pitchFamily="34" charset="-122"/>
                <a:cs typeface="Inter" pitchFamily="34" charset="-120"/>
              </a:rPr>
              <a:t> Vendors must implement administrative, physical, and technical controls to ensure ePHI integrity and availability.</a:t>
            </a:r>
            <a:endParaRPr lang="en-US" sz="780" dirty="0"/>
          </a:p>
        </p:txBody>
      </p:sp>
      <p:sp>
        <p:nvSpPr>
          <p:cNvPr id="12" name="Shape 8"/>
          <p:cNvSpPr/>
          <p:nvPr/>
        </p:nvSpPr>
        <p:spPr>
          <a:xfrm>
            <a:off x="6048356" y="2591395"/>
            <a:ext cx="2524144" cy="2000250"/>
          </a:xfrm>
          <a:prstGeom prst="rect">
            <a:avLst/>
          </a:prstGeom>
          <a:solidFill>
            <a:srgbClr val="F8FAFC"/>
          </a:solidFill>
          <a:ln w="18288">
            <a:solidFill>
              <a:srgbClr val="002D72"/>
            </a:solidFill>
            <a:prstDash val="solid"/>
          </a:ln>
        </p:spPr>
      </p:sp>
      <p:sp>
        <p:nvSpPr>
          <p:cNvPr id="13" name="Text 9"/>
          <p:cNvSpPr/>
          <p:nvPr/>
        </p:nvSpPr>
        <p:spPr>
          <a:xfrm>
            <a:off x="6226950" y="2805708"/>
            <a:ext cx="2166956" cy="173236"/>
          </a:xfrm>
          <a:prstGeom prst="rect">
            <a:avLst/>
          </a:prstGeom>
          <a:noFill/>
          <a:ln/>
        </p:spPr>
        <p:txBody>
          <a:bodyPr wrap="none" lIns="0" tIns="0" rIns="0" bIns="0" rtlCol="0" anchor="t">
            <a:spAutoFit/>
          </a:bodyPr>
          <a:lstStyle/>
          <a:p>
            <a:pPr marL="0" indent="0" algn="ctr">
              <a:lnSpc>
                <a:spcPts val="1400"/>
              </a:lnSpc>
              <a:buNone/>
            </a:pPr>
            <a:r>
              <a:rPr lang="en-US" sz="987" b="1" kern="0" spc="1" dirty="0">
                <a:solidFill>
                  <a:srgbClr val="002D72"/>
                </a:solidFill>
                <a:latin typeface="Inter" pitchFamily="34" charset="0"/>
                <a:ea typeface="Inter" pitchFamily="34" charset="-122"/>
                <a:cs typeface="Inter" pitchFamily="34" charset="-120"/>
              </a:rPr>
              <a:t>PRIVACY RULE</a:t>
            </a:r>
            <a:endParaRPr lang="en-US" sz="987" dirty="0"/>
          </a:p>
        </p:txBody>
      </p:sp>
      <p:sp>
        <p:nvSpPr>
          <p:cNvPr id="14" name="Text 10"/>
          <p:cNvSpPr/>
          <p:nvPr/>
        </p:nvSpPr>
        <p:spPr>
          <a:xfrm>
            <a:off x="6226950" y="3121819"/>
            <a:ext cx="2166956" cy="685800"/>
          </a:xfrm>
          <a:prstGeom prst="rect">
            <a:avLst/>
          </a:prstGeom>
          <a:noFill/>
          <a:ln/>
        </p:spPr>
        <p:txBody>
          <a:bodyPr wrap="square" lIns="0" tIns="0" rIns="0" bIns="0" rtlCol="0" anchor="t">
            <a:spAutoFit/>
          </a:bodyPr>
          <a:lstStyle/>
          <a:p>
            <a:pPr marL="0" indent="0" algn="ctr">
              <a:lnSpc>
                <a:spcPts val="1400"/>
              </a:lnSpc>
              <a:buNone/>
            </a:pPr>
            <a:r>
              <a:rPr lang="en-US" sz="734" b="1" dirty="0">
                <a:solidFill>
                  <a:srgbClr val="E8927C"/>
                </a:solidFill>
                <a:latin typeface="Inter" pitchFamily="34" charset="0"/>
                <a:ea typeface="Inter" pitchFamily="34" charset="-122"/>
                <a:cs typeface="Inter" pitchFamily="34" charset="-120"/>
              </a:rPr>
              <a:t>Minimum Necessary:</a:t>
            </a:r>
            <a:r>
              <a:rPr lang="en-US" sz="780" dirty="0">
                <a:solidFill>
                  <a:srgbClr val="555555"/>
                </a:solidFill>
                <a:latin typeface="Inter" pitchFamily="34" charset="0"/>
                <a:ea typeface="Inter" pitchFamily="34" charset="-122"/>
                <a:cs typeface="Inter" pitchFamily="34" charset="-120"/>
              </a:rPr>
              <a:t> Access to PHI must be limited to the absolute minimum required to perform the contracted service.</a:t>
            </a:r>
            <a:endParaRPr lang="en-US" sz="780" dirty="0"/>
          </a:p>
        </p:txBody>
      </p:sp>
      <p:sp>
        <p:nvSpPr>
          <p:cNvPr id="15" name="Shape 11"/>
          <p:cNvSpPr/>
          <p:nvPr/>
        </p:nvSpPr>
        <p:spPr>
          <a:xfrm>
            <a:off x="0" y="4591645"/>
            <a:ext cx="9144000" cy="557213"/>
          </a:xfrm>
          <a:prstGeom prst="rect">
            <a:avLst/>
          </a:prstGeom>
          <a:solidFill>
            <a:srgbClr val="000000">
              <a:alpha val="0"/>
            </a:srgbClr>
          </a:solidFill>
          <a:ln/>
        </p:spPr>
      </p:sp>
      <p:sp>
        <p:nvSpPr>
          <p:cNvPr id="16" name="Shape 12"/>
          <p:cNvSpPr/>
          <p:nvPr/>
        </p:nvSpPr>
        <p:spPr>
          <a:xfrm>
            <a:off x="0" y="4591645"/>
            <a:ext cx="9144000" cy="7144"/>
          </a:xfrm>
          <a:prstGeom prst="rect">
            <a:avLst/>
          </a:prstGeom>
          <a:solidFill>
            <a:srgbClr val="EEEEEE"/>
          </a:solidFill>
          <a:ln/>
        </p:spPr>
      </p:sp>
      <p:sp>
        <p:nvSpPr>
          <p:cNvPr id="17" name="Text 13"/>
          <p:cNvSpPr/>
          <p:nvPr/>
        </p:nvSpPr>
        <p:spPr>
          <a:xfrm>
            <a:off x="0" y="4591645"/>
            <a:ext cx="9144000" cy="557213"/>
          </a:xfrm>
          <a:prstGeom prst="rect">
            <a:avLst/>
          </a:prstGeom>
          <a:noFill/>
          <a:ln/>
        </p:spPr>
        <p:txBody>
          <a:bodyPr wrap="square" lIns="680339" tIns="170053" rIns="680339" bIns="340233" rtlCol="0" anchor="t">
            <a:spAutoFit/>
          </a:bodyPr>
          <a:lstStyle/>
          <a:p>
            <a:pPr marL="0" indent="0" algn="l">
              <a:lnSpc>
                <a:spcPts val="900"/>
              </a:lnSpc>
              <a:buNone/>
            </a:pPr>
            <a:r>
              <a:rPr lang="en-US" sz="727" i="1" dirty="0">
                <a:solidFill>
                  <a:srgbClr val="666666"/>
                </a:solidFill>
                <a:latin typeface="Inter" pitchFamily="34" charset="0"/>
                <a:ea typeface="Inter" pitchFamily="34" charset="-122"/>
                <a:cs typeface="Inter" pitchFamily="34" charset="-120"/>
              </a:rPr>
              <a:t>Compliance Note: JHH requires vendors to report any suspected ePHI breach within 24 hours of discovery.</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Strategic Healthcare Vendor Inventory (Top 10)</a:t>
            </a:r>
            <a:endParaRPr lang="en-US" sz="1602" dirty="0"/>
          </a:p>
        </p:txBody>
      </p:sp>
      <p:sp>
        <p:nvSpPr>
          <p:cNvPr id="4" name="Shape 1"/>
          <p:cNvSpPr/>
          <p:nvPr/>
        </p:nvSpPr>
        <p:spPr>
          <a:xfrm>
            <a:off x="578644" y="1025128"/>
            <a:ext cx="1801230" cy="342900"/>
          </a:xfrm>
          <a:prstGeom prst="rect">
            <a:avLst/>
          </a:prstGeom>
          <a:solidFill>
            <a:srgbClr val="002D72"/>
          </a:solidFill>
          <a:ln/>
        </p:spPr>
      </p:sp>
      <p:sp>
        <p:nvSpPr>
          <p:cNvPr id="5" name="Text 2"/>
          <p:cNvSpPr/>
          <p:nvPr/>
        </p:nvSpPr>
        <p:spPr>
          <a:xfrm>
            <a:off x="578644" y="1025128"/>
            <a:ext cx="1801230" cy="342900"/>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Inter" pitchFamily="34" charset="0"/>
                <a:ea typeface="Inter" pitchFamily="34" charset="-122"/>
                <a:cs typeface="Inter" pitchFamily="34" charset="-120"/>
              </a:rPr>
              <a:t>VENDOR NAME</a:t>
            </a:r>
            <a:endParaRPr lang="en-US" sz="683" dirty="0"/>
          </a:p>
        </p:txBody>
      </p:sp>
      <p:sp>
        <p:nvSpPr>
          <p:cNvPr id="6" name="Shape 3"/>
          <p:cNvSpPr/>
          <p:nvPr/>
        </p:nvSpPr>
        <p:spPr>
          <a:xfrm>
            <a:off x="2379873" y="1025128"/>
            <a:ext cx="2575071" cy="342900"/>
          </a:xfrm>
          <a:prstGeom prst="rect">
            <a:avLst/>
          </a:prstGeom>
          <a:solidFill>
            <a:srgbClr val="002D72"/>
          </a:solidFill>
          <a:ln/>
        </p:spPr>
      </p:sp>
      <p:sp>
        <p:nvSpPr>
          <p:cNvPr id="7" name="Text 4"/>
          <p:cNvSpPr/>
          <p:nvPr/>
        </p:nvSpPr>
        <p:spPr>
          <a:xfrm>
            <a:off x="2379873" y="1025128"/>
            <a:ext cx="2575071" cy="342900"/>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Inter" pitchFamily="34" charset="0"/>
                <a:ea typeface="Inter" pitchFamily="34" charset="-122"/>
                <a:cs typeface="Inter" pitchFamily="34" charset="-120"/>
              </a:rPr>
              <a:t>CATEGORY</a:t>
            </a:r>
            <a:endParaRPr lang="en-US" sz="683" dirty="0"/>
          </a:p>
        </p:txBody>
      </p:sp>
      <p:sp>
        <p:nvSpPr>
          <p:cNvPr id="8" name="Shape 5"/>
          <p:cNvSpPr/>
          <p:nvPr/>
        </p:nvSpPr>
        <p:spPr>
          <a:xfrm>
            <a:off x="4954944" y="1025128"/>
            <a:ext cx="2289823" cy="342900"/>
          </a:xfrm>
          <a:prstGeom prst="rect">
            <a:avLst/>
          </a:prstGeom>
          <a:solidFill>
            <a:srgbClr val="002D72"/>
          </a:solidFill>
          <a:ln/>
        </p:spPr>
      </p:sp>
      <p:sp>
        <p:nvSpPr>
          <p:cNvPr id="9" name="Text 6"/>
          <p:cNvSpPr/>
          <p:nvPr/>
        </p:nvSpPr>
        <p:spPr>
          <a:xfrm>
            <a:off x="4954944" y="1025128"/>
            <a:ext cx="2289823" cy="342900"/>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Inter" pitchFamily="34" charset="0"/>
                <a:ea typeface="Inter" pitchFamily="34" charset="-122"/>
                <a:cs typeface="Inter" pitchFamily="34" charset="-120"/>
              </a:rPr>
              <a:t>PRIMARY RISK DOMAIN</a:t>
            </a:r>
            <a:endParaRPr lang="en-US" sz="683" dirty="0"/>
          </a:p>
        </p:txBody>
      </p:sp>
      <p:sp>
        <p:nvSpPr>
          <p:cNvPr id="10" name="Shape 7"/>
          <p:cNvSpPr/>
          <p:nvPr/>
        </p:nvSpPr>
        <p:spPr>
          <a:xfrm>
            <a:off x="7244767" y="1025128"/>
            <a:ext cx="1320589" cy="342900"/>
          </a:xfrm>
          <a:prstGeom prst="rect">
            <a:avLst/>
          </a:prstGeom>
          <a:solidFill>
            <a:srgbClr val="002D72"/>
          </a:solidFill>
          <a:ln/>
        </p:spPr>
      </p:sp>
      <p:sp>
        <p:nvSpPr>
          <p:cNvPr id="11" name="Text 8"/>
          <p:cNvSpPr/>
          <p:nvPr/>
        </p:nvSpPr>
        <p:spPr>
          <a:xfrm>
            <a:off x="7244767" y="1025128"/>
            <a:ext cx="1320589" cy="342900"/>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Inter" pitchFamily="34" charset="0"/>
                <a:ea typeface="Inter" pitchFamily="34" charset="-122"/>
                <a:cs typeface="Inter" pitchFamily="34" charset="-120"/>
              </a:rPr>
              <a:t>CRITICALITY</a:t>
            </a:r>
            <a:endParaRPr lang="en-US" sz="683" dirty="0"/>
          </a:p>
        </p:txBody>
      </p:sp>
      <p:sp>
        <p:nvSpPr>
          <p:cNvPr id="12" name="Text 9"/>
          <p:cNvSpPr/>
          <p:nvPr/>
        </p:nvSpPr>
        <p:spPr>
          <a:xfrm>
            <a:off x="578644" y="1368028"/>
            <a:ext cx="1801230" cy="295015"/>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Epic Systems</a:t>
            </a:r>
            <a:endParaRPr lang="en-US" sz="683" dirty="0"/>
          </a:p>
        </p:txBody>
      </p:sp>
      <p:sp>
        <p:nvSpPr>
          <p:cNvPr id="13" name="Text 10"/>
          <p:cNvSpPr/>
          <p:nvPr/>
        </p:nvSpPr>
        <p:spPr>
          <a:xfrm>
            <a:off x="2379873" y="1368028"/>
            <a:ext cx="2575071" cy="295015"/>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Electronic Health Records (EHR)</a:t>
            </a:r>
            <a:endParaRPr lang="en-US" sz="727" dirty="0"/>
          </a:p>
        </p:txBody>
      </p:sp>
      <p:sp>
        <p:nvSpPr>
          <p:cNvPr id="14" name="Text 11"/>
          <p:cNvSpPr/>
          <p:nvPr/>
        </p:nvSpPr>
        <p:spPr>
          <a:xfrm>
            <a:off x="4954944" y="1368028"/>
            <a:ext cx="2289823" cy="295015"/>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ePHI / Clinical Continuity</a:t>
            </a:r>
            <a:endParaRPr lang="en-US" sz="727" dirty="0"/>
          </a:p>
        </p:txBody>
      </p:sp>
      <p:sp>
        <p:nvSpPr>
          <p:cNvPr id="15" name="Shape 12"/>
          <p:cNvSpPr/>
          <p:nvPr/>
        </p:nvSpPr>
        <p:spPr>
          <a:xfrm>
            <a:off x="7351923" y="1425178"/>
            <a:ext cx="358973" cy="177143"/>
          </a:xfrm>
          <a:prstGeom prst="rect">
            <a:avLst/>
          </a:prstGeom>
          <a:solidFill>
            <a:srgbClr val="E8927C"/>
          </a:solidFill>
          <a:ln/>
        </p:spPr>
      </p:sp>
      <p:sp>
        <p:nvSpPr>
          <p:cNvPr id="16" name="Text 13"/>
          <p:cNvSpPr/>
          <p:nvPr/>
        </p:nvSpPr>
        <p:spPr>
          <a:xfrm>
            <a:off x="7351923" y="1425178"/>
            <a:ext cx="35897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HIGH</a:t>
            </a:r>
            <a:endParaRPr lang="en-US" sz="584" dirty="0"/>
          </a:p>
        </p:txBody>
      </p:sp>
      <p:sp>
        <p:nvSpPr>
          <p:cNvPr id="17" name="Shape 14"/>
          <p:cNvSpPr/>
          <p:nvPr/>
        </p:nvSpPr>
        <p:spPr>
          <a:xfrm>
            <a:off x="578644" y="1663043"/>
            <a:ext cx="7986713" cy="298586"/>
          </a:xfrm>
          <a:prstGeom prst="rect">
            <a:avLst/>
          </a:prstGeom>
          <a:solidFill>
            <a:srgbClr val="F9FBFF"/>
          </a:solidFill>
          <a:ln/>
        </p:spPr>
      </p:sp>
      <p:sp>
        <p:nvSpPr>
          <p:cNvPr id="18" name="Text 15"/>
          <p:cNvSpPr/>
          <p:nvPr/>
        </p:nvSpPr>
        <p:spPr>
          <a:xfrm>
            <a:off x="578644" y="1663043"/>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AWS / Azure</a:t>
            </a:r>
            <a:endParaRPr lang="en-US" sz="683" dirty="0"/>
          </a:p>
        </p:txBody>
      </p:sp>
      <p:sp>
        <p:nvSpPr>
          <p:cNvPr id="19" name="Text 16"/>
          <p:cNvSpPr/>
          <p:nvPr/>
        </p:nvSpPr>
        <p:spPr>
          <a:xfrm>
            <a:off x="2379873" y="1663043"/>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Cloud Hosting Provider</a:t>
            </a:r>
            <a:endParaRPr lang="en-US" sz="727" dirty="0"/>
          </a:p>
        </p:txBody>
      </p:sp>
      <p:sp>
        <p:nvSpPr>
          <p:cNvPr id="20" name="Text 17"/>
          <p:cNvSpPr/>
          <p:nvPr/>
        </p:nvSpPr>
        <p:spPr>
          <a:xfrm>
            <a:off x="4954944" y="1663043"/>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Data Integrity / Availability</a:t>
            </a:r>
            <a:endParaRPr lang="en-US" sz="727" dirty="0"/>
          </a:p>
        </p:txBody>
      </p:sp>
      <p:sp>
        <p:nvSpPr>
          <p:cNvPr id="21" name="Shape 18"/>
          <p:cNvSpPr/>
          <p:nvPr/>
        </p:nvSpPr>
        <p:spPr>
          <a:xfrm>
            <a:off x="7351923" y="1723765"/>
            <a:ext cx="358973" cy="177143"/>
          </a:xfrm>
          <a:prstGeom prst="rect">
            <a:avLst/>
          </a:prstGeom>
          <a:solidFill>
            <a:srgbClr val="E8927C"/>
          </a:solidFill>
          <a:ln/>
        </p:spPr>
      </p:sp>
      <p:sp>
        <p:nvSpPr>
          <p:cNvPr id="22" name="Text 19"/>
          <p:cNvSpPr/>
          <p:nvPr/>
        </p:nvSpPr>
        <p:spPr>
          <a:xfrm>
            <a:off x="7351923" y="1723765"/>
            <a:ext cx="35897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HIGH</a:t>
            </a:r>
            <a:endParaRPr lang="en-US" sz="584" dirty="0"/>
          </a:p>
        </p:txBody>
      </p:sp>
      <p:sp>
        <p:nvSpPr>
          <p:cNvPr id="23" name="Text 20"/>
          <p:cNvSpPr/>
          <p:nvPr/>
        </p:nvSpPr>
        <p:spPr>
          <a:xfrm>
            <a:off x="578644" y="1961629"/>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Philips / GE</a:t>
            </a:r>
            <a:endParaRPr lang="en-US" sz="683" dirty="0"/>
          </a:p>
        </p:txBody>
      </p:sp>
      <p:sp>
        <p:nvSpPr>
          <p:cNvPr id="24" name="Text 21"/>
          <p:cNvSpPr/>
          <p:nvPr/>
        </p:nvSpPr>
        <p:spPr>
          <a:xfrm>
            <a:off x="2379873" y="1961629"/>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Medical Device Vendors</a:t>
            </a:r>
            <a:endParaRPr lang="en-US" sz="727" dirty="0"/>
          </a:p>
        </p:txBody>
      </p:sp>
      <p:sp>
        <p:nvSpPr>
          <p:cNvPr id="25" name="Text 22"/>
          <p:cNvSpPr/>
          <p:nvPr/>
        </p:nvSpPr>
        <p:spPr>
          <a:xfrm>
            <a:off x="4954944" y="1961629"/>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Patient Safety / IoT Security</a:t>
            </a:r>
            <a:endParaRPr lang="en-US" sz="727" dirty="0"/>
          </a:p>
        </p:txBody>
      </p:sp>
      <p:sp>
        <p:nvSpPr>
          <p:cNvPr id="26" name="Shape 23"/>
          <p:cNvSpPr/>
          <p:nvPr/>
        </p:nvSpPr>
        <p:spPr>
          <a:xfrm>
            <a:off x="7351923" y="2022351"/>
            <a:ext cx="358973" cy="177143"/>
          </a:xfrm>
          <a:prstGeom prst="rect">
            <a:avLst/>
          </a:prstGeom>
          <a:solidFill>
            <a:srgbClr val="E8927C"/>
          </a:solidFill>
          <a:ln/>
        </p:spPr>
      </p:sp>
      <p:sp>
        <p:nvSpPr>
          <p:cNvPr id="27" name="Text 24"/>
          <p:cNvSpPr/>
          <p:nvPr/>
        </p:nvSpPr>
        <p:spPr>
          <a:xfrm>
            <a:off x="7351923" y="2022351"/>
            <a:ext cx="35897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HIGH</a:t>
            </a:r>
            <a:endParaRPr lang="en-US" sz="584" dirty="0"/>
          </a:p>
        </p:txBody>
      </p:sp>
      <p:sp>
        <p:nvSpPr>
          <p:cNvPr id="28" name="Shape 25"/>
          <p:cNvSpPr/>
          <p:nvPr/>
        </p:nvSpPr>
        <p:spPr>
          <a:xfrm>
            <a:off x="578644" y="2260216"/>
            <a:ext cx="7986713" cy="298586"/>
          </a:xfrm>
          <a:prstGeom prst="rect">
            <a:avLst/>
          </a:prstGeom>
          <a:solidFill>
            <a:srgbClr val="F9FBFF"/>
          </a:solidFill>
          <a:ln/>
        </p:spPr>
      </p:sp>
      <p:sp>
        <p:nvSpPr>
          <p:cNvPr id="29" name="Text 26"/>
          <p:cNvSpPr/>
          <p:nvPr/>
        </p:nvSpPr>
        <p:spPr>
          <a:xfrm>
            <a:off x="578644" y="2260216"/>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Zoom for Healthcare</a:t>
            </a:r>
            <a:endParaRPr lang="en-US" sz="683" dirty="0"/>
          </a:p>
        </p:txBody>
      </p:sp>
      <p:sp>
        <p:nvSpPr>
          <p:cNvPr id="30" name="Text 27"/>
          <p:cNvSpPr/>
          <p:nvPr/>
        </p:nvSpPr>
        <p:spPr>
          <a:xfrm>
            <a:off x="2379873" y="2260216"/>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Telehealth Platform</a:t>
            </a:r>
            <a:endParaRPr lang="en-US" sz="727" dirty="0"/>
          </a:p>
        </p:txBody>
      </p:sp>
      <p:sp>
        <p:nvSpPr>
          <p:cNvPr id="31" name="Text 28"/>
          <p:cNvSpPr/>
          <p:nvPr/>
        </p:nvSpPr>
        <p:spPr>
          <a:xfrm>
            <a:off x="4954944" y="2260216"/>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Privacy / HIPAA Compliance</a:t>
            </a:r>
            <a:endParaRPr lang="en-US" sz="727" dirty="0"/>
          </a:p>
        </p:txBody>
      </p:sp>
      <p:sp>
        <p:nvSpPr>
          <p:cNvPr id="32" name="Shape 29"/>
          <p:cNvSpPr/>
          <p:nvPr/>
        </p:nvSpPr>
        <p:spPr>
          <a:xfrm>
            <a:off x="7351923" y="2320937"/>
            <a:ext cx="500063" cy="177143"/>
          </a:xfrm>
          <a:prstGeom prst="rect">
            <a:avLst/>
          </a:prstGeom>
          <a:solidFill>
            <a:srgbClr val="68ACE5"/>
          </a:solidFill>
          <a:ln/>
        </p:spPr>
      </p:sp>
      <p:sp>
        <p:nvSpPr>
          <p:cNvPr id="33" name="Text 30"/>
          <p:cNvSpPr/>
          <p:nvPr/>
        </p:nvSpPr>
        <p:spPr>
          <a:xfrm>
            <a:off x="7351923" y="2320937"/>
            <a:ext cx="50006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MEDIUM</a:t>
            </a:r>
            <a:endParaRPr lang="en-US" sz="584" dirty="0"/>
          </a:p>
        </p:txBody>
      </p:sp>
      <p:sp>
        <p:nvSpPr>
          <p:cNvPr id="34" name="Text 31"/>
          <p:cNvSpPr/>
          <p:nvPr/>
        </p:nvSpPr>
        <p:spPr>
          <a:xfrm>
            <a:off x="578644" y="2558802"/>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Change Healthcare</a:t>
            </a:r>
            <a:endParaRPr lang="en-US" sz="683" dirty="0"/>
          </a:p>
        </p:txBody>
      </p:sp>
      <p:sp>
        <p:nvSpPr>
          <p:cNvPr id="35" name="Text 32"/>
          <p:cNvSpPr/>
          <p:nvPr/>
        </p:nvSpPr>
        <p:spPr>
          <a:xfrm>
            <a:off x="2379873" y="2558802"/>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Revenue Cycle &amp; Billing</a:t>
            </a:r>
            <a:endParaRPr lang="en-US" sz="727" dirty="0"/>
          </a:p>
        </p:txBody>
      </p:sp>
      <p:sp>
        <p:nvSpPr>
          <p:cNvPr id="36" name="Text 33"/>
          <p:cNvSpPr/>
          <p:nvPr/>
        </p:nvSpPr>
        <p:spPr>
          <a:xfrm>
            <a:off x="4954944" y="2558802"/>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Financial / ePHI Security</a:t>
            </a:r>
            <a:endParaRPr lang="en-US" sz="727" dirty="0"/>
          </a:p>
        </p:txBody>
      </p:sp>
      <p:sp>
        <p:nvSpPr>
          <p:cNvPr id="37" name="Shape 34"/>
          <p:cNvSpPr/>
          <p:nvPr/>
        </p:nvSpPr>
        <p:spPr>
          <a:xfrm>
            <a:off x="7351923" y="2619524"/>
            <a:ext cx="358973" cy="177143"/>
          </a:xfrm>
          <a:prstGeom prst="rect">
            <a:avLst/>
          </a:prstGeom>
          <a:solidFill>
            <a:srgbClr val="E8927C"/>
          </a:solidFill>
          <a:ln/>
        </p:spPr>
      </p:sp>
      <p:sp>
        <p:nvSpPr>
          <p:cNvPr id="38" name="Text 35"/>
          <p:cNvSpPr/>
          <p:nvPr/>
        </p:nvSpPr>
        <p:spPr>
          <a:xfrm>
            <a:off x="7351923" y="2619524"/>
            <a:ext cx="35897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HIGH</a:t>
            </a:r>
            <a:endParaRPr lang="en-US" sz="584" dirty="0"/>
          </a:p>
        </p:txBody>
      </p:sp>
      <p:sp>
        <p:nvSpPr>
          <p:cNvPr id="39" name="Shape 36"/>
          <p:cNvSpPr/>
          <p:nvPr/>
        </p:nvSpPr>
        <p:spPr>
          <a:xfrm>
            <a:off x="578644" y="2857388"/>
            <a:ext cx="7986713" cy="298586"/>
          </a:xfrm>
          <a:prstGeom prst="rect">
            <a:avLst/>
          </a:prstGeom>
          <a:solidFill>
            <a:srgbClr val="F9FBFF"/>
          </a:solidFill>
          <a:ln/>
        </p:spPr>
      </p:sp>
      <p:sp>
        <p:nvSpPr>
          <p:cNvPr id="40" name="Text 37"/>
          <p:cNvSpPr/>
          <p:nvPr/>
        </p:nvSpPr>
        <p:spPr>
          <a:xfrm>
            <a:off x="578644" y="2857388"/>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Okta</a:t>
            </a:r>
            <a:endParaRPr lang="en-US" sz="683" dirty="0"/>
          </a:p>
        </p:txBody>
      </p:sp>
      <p:sp>
        <p:nvSpPr>
          <p:cNvPr id="41" name="Text 38"/>
          <p:cNvSpPr/>
          <p:nvPr/>
        </p:nvSpPr>
        <p:spPr>
          <a:xfrm>
            <a:off x="2379873" y="2857388"/>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Identity &amp; Access (IAM)</a:t>
            </a:r>
            <a:endParaRPr lang="en-US" sz="727" dirty="0"/>
          </a:p>
        </p:txBody>
      </p:sp>
      <p:sp>
        <p:nvSpPr>
          <p:cNvPr id="42" name="Text 39"/>
          <p:cNvSpPr/>
          <p:nvPr/>
        </p:nvSpPr>
        <p:spPr>
          <a:xfrm>
            <a:off x="4954944" y="2857388"/>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Authentication / PII</a:t>
            </a:r>
            <a:endParaRPr lang="en-US" sz="727" dirty="0"/>
          </a:p>
        </p:txBody>
      </p:sp>
      <p:sp>
        <p:nvSpPr>
          <p:cNvPr id="43" name="Shape 40"/>
          <p:cNvSpPr/>
          <p:nvPr/>
        </p:nvSpPr>
        <p:spPr>
          <a:xfrm>
            <a:off x="7351923" y="2918110"/>
            <a:ext cx="358973" cy="177143"/>
          </a:xfrm>
          <a:prstGeom prst="rect">
            <a:avLst/>
          </a:prstGeom>
          <a:solidFill>
            <a:srgbClr val="E8927C"/>
          </a:solidFill>
          <a:ln/>
        </p:spPr>
      </p:sp>
      <p:sp>
        <p:nvSpPr>
          <p:cNvPr id="44" name="Text 41"/>
          <p:cNvSpPr/>
          <p:nvPr/>
        </p:nvSpPr>
        <p:spPr>
          <a:xfrm>
            <a:off x="7351923" y="2918110"/>
            <a:ext cx="35897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HIGH</a:t>
            </a:r>
            <a:endParaRPr lang="en-US" sz="584" dirty="0"/>
          </a:p>
        </p:txBody>
      </p:sp>
      <p:sp>
        <p:nvSpPr>
          <p:cNvPr id="45" name="Text 42"/>
          <p:cNvSpPr/>
          <p:nvPr/>
        </p:nvSpPr>
        <p:spPr>
          <a:xfrm>
            <a:off x="578644" y="3155975"/>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ServiceNow</a:t>
            </a:r>
            <a:endParaRPr lang="en-US" sz="683" dirty="0"/>
          </a:p>
        </p:txBody>
      </p:sp>
      <p:sp>
        <p:nvSpPr>
          <p:cNvPr id="46" name="Text 43"/>
          <p:cNvSpPr/>
          <p:nvPr/>
        </p:nvSpPr>
        <p:spPr>
          <a:xfrm>
            <a:off x="2379873" y="3155975"/>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ITSM / GRC Platform</a:t>
            </a:r>
            <a:endParaRPr lang="en-US" sz="727" dirty="0"/>
          </a:p>
        </p:txBody>
      </p:sp>
      <p:sp>
        <p:nvSpPr>
          <p:cNvPr id="47" name="Text 44"/>
          <p:cNvSpPr/>
          <p:nvPr/>
        </p:nvSpPr>
        <p:spPr>
          <a:xfrm>
            <a:off x="4954944" y="3155975"/>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Operational Resilience</a:t>
            </a:r>
            <a:endParaRPr lang="en-US" sz="727" dirty="0"/>
          </a:p>
        </p:txBody>
      </p:sp>
      <p:sp>
        <p:nvSpPr>
          <p:cNvPr id="48" name="Shape 45"/>
          <p:cNvSpPr/>
          <p:nvPr/>
        </p:nvSpPr>
        <p:spPr>
          <a:xfrm>
            <a:off x="7351923" y="3216697"/>
            <a:ext cx="500063" cy="177143"/>
          </a:xfrm>
          <a:prstGeom prst="rect">
            <a:avLst/>
          </a:prstGeom>
          <a:solidFill>
            <a:srgbClr val="68ACE5"/>
          </a:solidFill>
          <a:ln/>
        </p:spPr>
      </p:sp>
      <p:sp>
        <p:nvSpPr>
          <p:cNvPr id="49" name="Text 46"/>
          <p:cNvSpPr/>
          <p:nvPr/>
        </p:nvSpPr>
        <p:spPr>
          <a:xfrm>
            <a:off x="7351923" y="3216697"/>
            <a:ext cx="50006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MEDIUM</a:t>
            </a:r>
            <a:endParaRPr lang="en-US" sz="584" dirty="0"/>
          </a:p>
        </p:txBody>
      </p:sp>
      <p:sp>
        <p:nvSpPr>
          <p:cNvPr id="50" name="Shape 47"/>
          <p:cNvSpPr/>
          <p:nvPr/>
        </p:nvSpPr>
        <p:spPr>
          <a:xfrm>
            <a:off x="578644" y="3454561"/>
            <a:ext cx="7986713" cy="298586"/>
          </a:xfrm>
          <a:prstGeom prst="rect">
            <a:avLst/>
          </a:prstGeom>
          <a:solidFill>
            <a:srgbClr val="F9FBFF"/>
          </a:solidFill>
          <a:ln/>
        </p:spPr>
      </p:sp>
      <p:sp>
        <p:nvSpPr>
          <p:cNvPr id="51" name="Text 48"/>
          <p:cNvSpPr/>
          <p:nvPr/>
        </p:nvSpPr>
        <p:spPr>
          <a:xfrm>
            <a:off x="578644" y="3454561"/>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Medtronic</a:t>
            </a:r>
            <a:endParaRPr lang="en-US" sz="683" dirty="0"/>
          </a:p>
        </p:txBody>
      </p:sp>
      <p:sp>
        <p:nvSpPr>
          <p:cNvPr id="52" name="Text 49"/>
          <p:cNvSpPr/>
          <p:nvPr/>
        </p:nvSpPr>
        <p:spPr>
          <a:xfrm>
            <a:off x="2379873" y="3454561"/>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Networked Medical Devices</a:t>
            </a:r>
            <a:endParaRPr lang="en-US" sz="727" dirty="0"/>
          </a:p>
        </p:txBody>
      </p:sp>
      <p:sp>
        <p:nvSpPr>
          <p:cNvPr id="53" name="Text 50"/>
          <p:cNvSpPr/>
          <p:nvPr/>
        </p:nvSpPr>
        <p:spPr>
          <a:xfrm>
            <a:off x="4954944" y="3454561"/>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Patient Safety / ePHI</a:t>
            </a:r>
            <a:endParaRPr lang="en-US" sz="727" dirty="0"/>
          </a:p>
        </p:txBody>
      </p:sp>
      <p:sp>
        <p:nvSpPr>
          <p:cNvPr id="54" name="Shape 51"/>
          <p:cNvSpPr/>
          <p:nvPr/>
        </p:nvSpPr>
        <p:spPr>
          <a:xfrm>
            <a:off x="7351923" y="3515283"/>
            <a:ext cx="358973" cy="177143"/>
          </a:xfrm>
          <a:prstGeom prst="rect">
            <a:avLst/>
          </a:prstGeom>
          <a:solidFill>
            <a:srgbClr val="E8927C"/>
          </a:solidFill>
          <a:ln/>
        </p:spPr>
      </p:sp>
      <p:sp>
        <p:nvSpPr>
          <p:cNvPr id="55" name="Text 52"/>
          <p:cNvSpPr/>
          <p:nvPr/>
        </p:nvSpPr>
        <p:spPr>
          <a:xfrm>
            <a:off x="7351923" y="3515283"/>
            <a:ext cx="35897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HIGH</a:t>
            </a:r>
            <a:endParaRPr lang="en-US" sz="584" dirty="0"/>
          </a:p>
        </p:txBody>
      </p:sp>
      <p:sp>
        <p:nvSpPr>
          <p:cNvPr id="56" name="Text 53"/>
          <p:cNvSpPr/>
          <p:nvPr/>
        </p:nvSpPr>
        <p:spPr>
          <a:xfrm>
            <a:off x="578644" y="3753148"/>
            <a:ext cx="1801230" cy="298586"/>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Experian Health</a:t>
            </a:r>
            <a:endParaRPr lang="en-US" sz="683" dirty="0"/>
          </a:p>
        </p:txBody>
      </p:sp>
      <p:sp>
        <p:nvSpPr>
          <p:cNvPr id="57" name="Text 54"/>
          <p:cNvSpPr/>
          <p:nvPr/>
        </p:nvSpPr>
        <p:spPr>
          <a:xfrm>
            <a:off x="2379873" y="3753148"/>
            <a:ext cx="2575071"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Eligibility &amp; Billing</a:t>
            </a:r>
            <a:endParaRPr lang="en-US" sz="727" dirty="0"/>
          </a:p>
        </p:txBody>
      </p:sp>
      <p:sp>
        <p:nvSpPr>
          <p:cNvPr id="58" name="Text 55"/>
          <p:cNvSpPr/>
          <p:nvPr/>
        </p:nvSpPr>
        <p:spPr>
          <a:xfrm>
            <a:off x="4954944" y="3753148"/>
            <a:ext cx="2289823" cy="298586"/>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Financial / PII</a:t>
            </a:r>
            <a:endParaRPr lang="en-US" sz="727" dirty="0"/>
          </a:p>
        </p:txBody>
      </p:sp>
      <p:sp>
        <p:nvSpPr>
          <p:cNvPr id="59" name="Shape 56"/>
          <p:cNvSpPr/>
          <p:nvPr/>
        </p:nvSpPr>
        <p:spPr>
          <a:xfrm>
            <a:off x="7351923" y="3813870"/>
            <a:ext cx="500063" cy="177143"/>
          </a:xfrm>
          <a:prstGeom prst="rect">
            <a:avLst/>
          </a:prstGeom>
          <a:solidFill>
            <a:srgbClr val="68ACE5"/>
          </a:solidFill>
          <a:ln/>
        </p:spPr>
      </p:sp>
      <p:sp>
        <p:nvSpPr>
          <p:cNvPr id="60" name="Text 57"/>
          <p:cNvSpPr/>
          <p:nvPr/>
        </p:nvSpPr>
        <p:spPr>
          <a:xfrm>
            <a:off x="7351923" y="3813870"/>
            <a:ext cx="50006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MEDIUM</a:t>
            </a:r>
            <a:endParaRPr lang="en-US" sz="584" dirty="0"/>
          </a:p>
        </p:txBody>
      </p:sp>
      <p:sp>
        <p:nvSpPr>
          <p:cNvPr id="61" name="Shape 58"/>
          <p:cNvSpPr/>
          <p:nvPr/>
        </p:nvSpPr>
        <p:spPr>
          <a:xfrm>
            <a:off x="578644" y="4051734"/>
            <a:ext cx="7986713" cy="302158"/>
          </a:xfrm>
          <a:prstGeom prst="rect">
            <a:avLst/>
          </a:prstGeom>
          <a:solidFill>
            <a:srgbClr val="F9FBFF"/>
          </a:solidFill>
          <a:ln/>
        </p:spPr>
      </p:sp>
      <p:sp>
        <p:nvSpPr>
          <p:cNvPr id="62" name="Text 59"/>
          <p:cNvSpPr/>
          <p:nvPr/>
        </p:nvSpPr>
        <p:spPr>
          <a:xfrm>
            <a:off x="578644" y="4051734"/>
            <a:ext cx="1801230" cy="302158"/>
          </a:xfrm>
          <a:prstGeom prst="rect">
            <a:avLst/>
          </a:prstGeom>
          <a:noFill/>
          <a:ln/>
        </p:spPr>
        <p:txBody>
          <a:bodyPr wrap="square" lIns="127508" tIns="68072" rIns="127508" bIns="68072" rtlCol="0" anchor="ctr">
            <a:spAutoFit/>
          </a:bodyPr>
          <a:lstStyle/>
          <a:p>
            <a:pPr marL="0" indent="0" algn="l">
              <a:lnSpc>
                <a:spcPts val="1100"/>
              </a:lnSpc>
              <a:buNone/>
            </a:pPr>
            <a:r>
              <a:rPr lang="en-US" sz="683" b="1" dirty="0">
                <a:solidFill>
                  <a:srgbClr val="002D72"/>
                </a:solidFill>
                <a:latin typeface="Inter" pitchFamily="34" charset="0"/>
                <a:ea typeface="Inter" pitchFamily="34" charset="-122"/>
                <a:cs typeface="Inter" pitchFamily="34" charset="-120"/>
              </a:rPr>
              <a:t>Doxy.me</a:t>
            </a:r>
            <a:endParaRPr lang="en-US" sz="683" dirty="0"/>
          </a:p>
        </p:txBody>
      </p:sp>
      <p:sp>
        <p:nvSpPr>
          <p:cNvPr id="63" name="Text 60"/>
          <p:cNvSpPr/>
          <p:nvPr/>
        </p:nvSpPr>
        <p:spPr>
          <a:xfrm>
            <a:off x="2379873" y="4051734"/>
            <a:ext cx="2575071" cy="302158"/>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Telehealth Platform</a:t>
            </a:r>
            <a:endParaRPr lang="en-US" sz="727" dirty="0"/>
          </a:p>
        </p:txBody>
      </p:sp>
      <p:sp>
        <p:nvSpPr>
          <p:cNvPr id="64" name="Text 61"/>
          <p:cNvSpPr/>
          <p:nvPr/>
        </p:nvSpPr>
        <p:spPr>
          <a:xfrm>
            <a:off x="4954944" y="4051734"/>
            <a:ext cx="2289823" cy="302158"/>
          </a:xfrm>
          <a:prstGeom prst="rect">
            <a:avLst/>
          </a:prstGeom>
          <a:noFill/>
          <a:ln/>
        </p:spPr>
        <p:txBody>
          <a:bodyPr wrap="square" lIns="127508" tIns="68072" rIns="127508" bIns="68072" rtlCol="0" anchor="ctr">
            <a:spAutoFit/>
          </a:bodyPr>
          <a:lstStyle/>
          <a:p>
            <a:pPr marL="0" indent="0" algn="l">
              <a:lnSpc>
                <a:spcPts val="1100"/>
              </a:lnSpc>
              <a:buNone/>
            </a:pPr>
            <a:r>
              <a:rPr lang="en-US" sz="727" dirty="0">
                <a:solidFill>
                  <a:srgbClr val="333333"/>
                </a:solidFill>
                <a:latin typeface="Inter" pitchFamily="34" charset="0"/>
                <a:ea typeface="Inter" pitchFamily="34" charset="-122"/>
                <a:cs typeface="Inter" pitchFamily="34" charset="-120"/>
              </a:rPr>
              <a:t>ePHI / HIPAA Compliance</a:t>
            </a:r>
            <a:endParaRPr lang="en-US" sz="727" dirty="0"/>
          </a:p>
        </p:txBody>
      </p:sp>
      <p:sp>
        <p:nvSpPr>
          <p:cNvPr id="65" name="Shape 62"/>
          <p:cNvSpPr/>
          <p:nvPr/>
        </p:nvSpPr>
        <p:spPr>
          <a:xfrm>
            <a:off x="7351923" y="4112456"/>
            <a:ext cx="500063" cy="177143"/>
          </a:xfrm>
          <a:prstGeom prst="rect">
            <a:avLst/>
          </a:prstGeom>
          <a:solidFill>
            <a:srgbClr val="68ACE5"/>
          </a:solidFill>
          <a:ln/>
        </p:spPr>
      </p:sp>
      <p:sp>
        <p:nvSpPr>
          <p:cNvPr id="66" name="Text 63"/>
          <p:cNvSpPr/>
          <p:nvPr/>
        </p:nvSpPr>
        <p:spPr>
          <a:xfrm>
            <a:off x="7351923" y="4112456"/>
            <a:ext cx="500063" cy="177143"/>
          </a:xfrm>
          <a:prstGeom prst="rect">
            <a:avLst/>
          </a:prstGeom>
          <a:noFill/>
          <a:ln/>
        </p:spPr>
        <p:txBody>
          <a:bodyPr wrap="none" lIns="85090" tIns="34036" rIns="85090" bIns="34036" rtlCol="0" anchor="t">
            <a:spAutoFit/>
          </a:bodyPr>
          <a:lstStyle/>
          <a:p>
            <a:pPr marL="0" indent="0" algn="l">
              <a:lnSpc>
                <a:spcPts val="900"/>
              </a:lnSpc>
              <a:buNone/>
            </a:pPr>
            <a:r>
              <a:rPr lang="en-US" sz="584" b="1" dirty="0">
                <a:solidFill>
                  <a:srgbClr val="FFFFFF"/>
                </a:solidFill>
                <a:latin typeface="Inter" pitchFamily="34" charset="0"/>
                <a:ea typeface="Inter" pitchFamily="34" charset="-122"/>
                <a:cs typeface="Inter" pitchFamily="34" charset="-120"/>
              </a:rPr>
              <a:t>MEDIUM</a:t>
            </a:r>
            <a:endParaRPr lang="en-US" sz="584" dirty="0"/>
          </a:p>
        </p:txBody>
      </p:sp>
      <p:pic>
        <p:nvPicPr>
          <p:cNvPr id="67" name="Image 1" descr="preencoded.png"/>
          <p:cNvPicPr>
            <a:picLocks noChangeAspect="1"/>
          </p:cNvPicPr>
          <p:nvPr/>
        </p:nvPicPr>
        <p:blipFill>
          <a:blip r:embed="rId4"/>
          <a:stretch>
            <a:fillRect/>
          </a:stretch>
        </p:blipFill>
        <p:spPr>
          <a:xfrm>
            <a:off x="571500" y="4731841"/>
            <a:ext cx="114300" cy="114300"/>
          </a:xfrm>
          <a:prstGeom prst="rect">
            <a:avLst/>
          </a:prstGeom>
        </p:spPr>
      </p:pic>
      <p:sp>
        <p:nvSpPr>
          <p:cNvPr id="68" name="Text 64"/>
          <p:cNvSpPr/>
          <p:nvPr/>
        </p:nvSpPr>
        <p:spPr>
          <a:xfrm>
            <a:off x="792956" y="4720233"/>
            <a:ext cx="5984677" cy="13751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2D72"/>
                </a:solidFill>
                <a:latin typeface="Inter" pitchFamily="34" charset="0"/>
                <a:ea typeface="Inter" pitchFamily="34" charset="-122"/>
                <a:cs typeface="Inter" pitchFamily="34" charset="-120"/>
              </a:rPr>
              <a:t>Strategic vendors are tiered based on their access to ePHI and their direct impact on JHH clinical operations.</a:t>
            </a:r>
            <a:endParaRPr lang="en-US" sz="78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Cross-Functional Internal Stakeholders for TPRM Oversight</a:t>
            </a:r>
            <a:endParaRPr lang="en-US" sz="1602" dirty="0"/>
          </a:p>
        </p:txBody>
      </p:sp>
      <p:sp>
        <p:nvSpPr>
          <p:cNvPr id="4" name="Shape 1"/>
          <p:cNvSpPr/>
          <p:nvPr/>
        </p:nvSpPr>
        <p:spPr>
          <a:xfrm>
            <a:off x="571500" y="839391"/>
            <a:ext cx="8001000" cy="369689"/>
          </a:xfrm>
          <a:prstGeom prst="rect">
            <a:avLst/>
          </a:prstGeom>
          <a:solidFill>
            <a:srgbClr val="F8FAFC"/>
          </a:solidFill>
          <a:ln/>
        </p:spPr>
      </p:sp>
      <p:sp>
        <p:nvSpPr>
          <p:cNvPr id="5" name="Shape 2"/>
          <p:cNvSpPr/>
          <p:nvPr/>
        </p:nvSpPr>
        <p:spPr>
          <a:xfrm>
            <a:off x="571500" y="839391"/>
            <a:ext cx="28575" cy="369689"/>
          </a:xfrm>
          <a:prstGeom prst="rect">
            <a:avLst/>
          </a:prstGeom>
          <a:solidFill>
            <a:srgbClr val="68ACE5"/>
          </a:solidFill>
          <a:ln/>
        </p:spPr>
      </p:sp>
      <p:sp>
        <p:nvSpPr>
          <p:cNvPr id="6" name="Text 3"/>
          <p:cNvSpPr/>
          <p:nvPr/>
        </p:nvSpPr>
        <p:spPr>
          <a:xfrm>
            <a:off x="571500" y="839391"/>
            <a:ext cx="8001000" cy="369689"/>
          </a:xfrm>
          <a:prstGeom prst="rect">
            <a:avLst/>
          </a:prstGeom>
          <a:noFill/>
          <a:ln/>
        </p:spPr>
        <p:txBody>
          <a:bodyPr wrap="square" lIns="170053" tIns="127508" rIns="170053" bIns="127508"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Effective TPRM at JHH is a shared responsibility across clinical, technical, legal, and security departments.</a:t>
            </a:r>
            <a:endParaRPr lang="en-US" sz="885" dirty="0"/>
          </a:p>
        </p:txBody>
      </p:sp>
      <p:sp>
        <p:nvSpPr>
          <p:cNvPr id="7" name="Shape 4"/>
          <p:cNvSpPr/>
          <p:nvPr/>
        </p:nvSpPr>
        <p:spPr>
          <a:xfrm>
            <a:off x="3929063" y="2995910"/>
            <a:ext cx="1176933" cy="575072"/>
          </a:xfrm>
          <a:prstGeom prst="rect">
            <a:avLst/>
          </a:prstGeom>
          <a:solidFill>
            <a:srgbClr val="002D72"/>
          </a:solidFill>
          <a:ln w="27432">
            <a:solidFill>
              <a:srgbClr val="FFFFFF"/>
            </a:solidFill>
            <a:prstDash val="solid"/>
          </a:ln>
        </p:spPr>
      </p:sp>
      <p:pic>
        <p:nvPicPr>
          <p:cNvPr id="8" name="Image 1" descr="preencoded.png"/>
          <p:cNvPicPr>
            <a:picLocks noChangeAspect="1"/>
          </p:cNvPicPr>
          <p:nvPr/>
        </p:nvPicPr>
        <p:blipFill>
          <a:blip r:embed="rId4"/>
          <a:stretch>
            <a:fillRect/>
          </a:stretch>
        </p:blipFill>
        <p:spPr>
          <a:xfrm>
            <a:off x="4429125" y="2995910"/>
            <a:ext cx="285750" cy="228600"/>
          </a:xfrm>
          <a:prstGeom prst="rect">
            <a:avLst/>
          </a:prstGeom>
        </p:spPr>
      </p:pic>
      <p:sp>
        <p:nvSpPr>
          <p:cNvPr id="9" name="Text 5"/>
          <p:cNvSpPr/>
          <p:nvPr/>
        </p:nvSpPr>
        <p:spPr>
          <a:xfrm>
            <a:off x="4246066" y="3295948"/>
            <a:ext cx="651867" cy="275034"/>
          </a:xfrm>
          <a:prstGeom prst="rect">
            <a:avLst/>
          </a:prstGeom>
          <a:noFill/>
          <a:ln/>
        </p:spPr>
        <p:txBody>
          <a:bodyPr wrap="square" lIns="0" tIns="0" rIns="0" bIns="0" rtlCol="0" anchor="t">
            <a:spAutoFit/>
          </a:bodyPr>
          <a:lstStyle/>
          <a:p>
            <a:pPr marL="0" indent="0" algn="ctr">
              <a:lnSpc>
                <a:spcPts val="1100"/>
              </a:lnSpc>
              <a:buNone/>
            </a:pPr>
            <a:r>
              <a:rPr lang="en-US" sz="784" b="1" kern="0" spc="1" dirty="0">
                <a:solidFill>
                  <a:srgbClr val="FFFFFF"/>
                </a:solidFill>
                <a:latin typeface="Inter" pitchFamily="34" charset="0"/>
                <a:ea typeface="Inter" pitchFamily="34" charset="-122"/>
                <a:cs typeface="Inter" pitchFamily="34" charset="-120"/>
              </a:rPr>
              <a:t>JHH TPRM
PROGRAM</a:t>
            </a:r>
            <a:endParaRPr lang="en-US" sz="784" dirty="0"/>
          </a:p>
        </p:txBody>
      </p:sp>
      <p:sp>
        <p:nvSpPr>
          <p:cNvPr id="10" name="Shape 6"/>
          <p:cNvSpPr/>
          <p:nvPr/>
        </p:nvSpPr>
        <p:spPr>
          <a:xfrm>
            <a:off x="571500" y="1566267"/>
            <a:ext cx="3893344" cy="1681460"/>
          </a:xfrm>
          <a:prstGeom prst="rect">
            <a:avLst/>
          </a:prstGeom>
          <a:solidFill>
            <a:srgbClr val="FFFFFF"/>
          </a:solidFill>
          <a:ln w="18288">
            <a:solidFill>
              <a:srgbClr val="002D72"/>
            </a:solidFill>
            <a:prstDash val="solid"/>
          </a:ln>
        </p:spPr>
      </p:sp>
      <p:pic>
        <p:nvPicPr>
          <p:cNvPr id="11" name="Image 2" descr="preencoded.png"/>
          <p:cNvPicPr>
            <a:picLocks noChangeAspect="1"/>
          </p:cNvPicPr>
          <p:nvPr/>
        </p:nvPicPr>
        <p:blipFill>
          <a:blip r:embed="rId5"/>
          <a:stretch>
            <a:fillRect/>
          </a:stretch>
        </p:blipFill>
        <p:spPr>
          <a:xfrm>
            <a:off x="750094" y="1744861"/>
            <a:ext cx="214313" cy="171450"/>
          </a:xfrm>
          <a:prstGeom prst="rect">
            <a:avLst/>
          </a:prstGeom>
        </p:spPr>
      </p:pic>
      <p:sp>
        <p:nvSpPr>
          <p:cNvPr id="12" name="Text 7"/>
          <p:cNvSpPr/>
          <p:nvPr/>
        </p:nvSpPr>
        <p:spPr>
          <a:xfrm>
            <a:off x="1071563" y="1752898"/>
            <a:ext cx="1273373"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Information Security</a:t>
            </a:r>
            <a:endParaRPr lang="en-US" sz="885" dirty="0"/>
          </a:p>
        </p:txBody>
      </p:sp>
      <p:sp>
        <p:nvSpPr>
          <p:cNvPr id="13" name="Text 8"/>
          <p:cNvSpPr/>
          <p:nvPr/>
        </p:nvSpPr>
        <p:spPr>
          <a:xfrm>
            <a:off x="750094" y="2102048"/>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Leads technical risk assessments and control validation.</a:t>
            </a:r>
            <a:endParaRPr lang="en-US" sz="727" dirty="0"/>
          </a:p>
        </p:txBody>
      </p:sp>
      <p:sp>
        <p:nvSpPr>
          <p:cNvPr id="14" name="Text 9"/>
          <p:cNvSpPr/>
          <p:nvPr/>
        </p:nvSpPr>
        <p:spPr>
          <a:xfrm>
            <a:off x="750094" y="2309217"/>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Manages security due diligence and vulnerability reviews.</a:t>
            </a:r>
            <a:endParaRPr lang="en-US" sz="727" dirty="0"/>
          </a:p>
        </p:txBody>
      </p:sp>
      <p:sp>
        <p:nvSpPr>
          <p:cNvPr id="15" name="Text 10"/>
          <p:cNvSpPr/>
          <p:nvPr/>
        </p:nvSpPr>
        <p:spPr>
          <a:xfrm>
            <a:off x="750094" y="2516386"/>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Oversees vendor access governance and MFA enforcement.</a:t>
            </a:r>
            <a:endParaRPr lang="en-US" sz="727" dirty="0"/>
          </a:p>
        </p:txBody>
      </p:sp>
      <p:sp>
        <p:nvSpPr>
          <p:cNvPr id="16" name="Shape 11"/>
          <p:cNvSpPr/>
          <p:nvPr/>
        </p:nvSpPr>
        <p:spPr>
          <a:xfrm>
            <a:off x="4679156" y="1566267"/>
            <a:ext cx="3893344" cy="1681460"/>
          </a:xfrm>
          <a:prstGeom prst="rect">
            <a:avLst/>
          </a:prstGeom>
          <a:solidFill>
            <a:srgbClr val="FFFFFF"/>
          </a:solidFill>
          <a:ln w="18288">
            <a:solidFill>
              <a:srgbClr val="002D72"/>
            </a:solidFill>
            <a:prstDash val="solid"/>
          </a:ln>
        </p:spPr>
      </p:sp>
      <p:sp>
        <p:nvSpPr>
          <p:cNvPr id="17" name="Text 12"/>
          <p:cNvSpPr/>
          <p:nvPr/>
        </p:nvSpPr>
        <p:spPr>
          <a:xfrm>
            <a:off x="750094" y="2102048"/>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18" name="Text 13"/>
          <p:cNvSpPr/>
          <p:nvPr/>
        </p:nvSpPr>
        <p:spPr>
          <a:xfrm>
            <a:off x="750094" y="2309217"/>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19" name="Text 14"/>
          <p:cNvSpPr/>
          <p:nvPr/>
        </p:nvSpPr>
        <p:spPr>
          <a:xfrm>
            <a:off x="750094" y="2516386"/>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pic>
        <p:nvPicPr>
          <p:cNvPr id="20" name="Image 3" descr="preencoded.png"/>
          <p:cNvPicPr>
            <a:picLocks noChangeAspect="1"/>
          </p:cNvPicPr>
          <p:nvPr/>
        </p:nvPicPr>
        <p:blipFill>
          <a:blip r:embed="rId6"/>
          <a:stretch>
            <a:fillRect/>
          </a:stretch>
        </p:blipFill>
        <p:spPr>
          <a:xfrm>
            <a:off x="4857750" y="1744861"/>
            <a:ext cx="214313" cy="171450"/>
          </a:xfrm>
          <a:prstGeom prst="rect">
            <a:avLst/>
          </a:prstGeom>
        </p:spPr>
      </p:pic>
      <p:sp>
        <p:nvSpPr>
          <p:cNvPr id="21" name="Text 15"/>
          <p:cNvSpPr/>
          <p:nvPr/>
        </p:nvSpPr>
        <p:spPr>
          <a:xfrm>
            <a:off x="5179219" y="1752898"/>
            <a:ext cx="1353741"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Compliance &amp; Privacy</a:t>
            </a:r>
            <a:endParaRPr lang="en-US" sz="885" dirty="0"/>
          </a:p>
        </p:txBody>
      </p:sp>
      <p:sp>
        <p:nvSpPr>
          <p:cNvPr id="22" name="Text 16"/>
          <p:cNvSpPr/>
          <p:nvPr/>
        </p:nvSpPr>
        <p:spPr>
          <a:xfrm>
            <a:off x="4857750" y="2102048"/>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Manages Business Associate Agreements (BAAs).</a:t>
            </a:r>
            <a:endParaRPr lang="en-US" sz="727" dirty="0"/>
          </a:p>
        </p:txBody>
      </p:sp>
      <p:sp>
        <p:nvSpPr>
          <p:cNvPr id="23" name="Text 17"/>
          <p:cNvSpPr/>
          <p:nvPr/>
        </p:nvSpPr>
        <p:spPr>
          <a:xfrm>
            <a:off x="4857750" y="2309217"/>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Ensures alignment with HIPAA and HITECH regulations.</a:t>
            </a:r>
            <a:endParaRPr lang="en-US" sz="727" dirty="0"/>
          </a:p>
        </p:txBody>
      </p:sp>
      <p:sp>
        <p:nvSpPr>
          <p:cNvPr id="24" name="Text 18"/>
          <p:cNvSpPr/>
          <p:nvPr/>
        </p:nvSpPr>
        <p:spPr>
          <a:xfrm>
            <a:off x="4857750" y="2516386"/>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Oversees privacy impact assessments for new vendors.</a:t>
            </a:r>
            <a:endParaRPr lang="en-US" sz="727" dirty="0"/>
          </a:p>
        </p:txBody>
      </p:sp>
      <p:sp>
        <p:nvSpPr>
          <p:cNvPr id="25" name="Shape 19"/>
          <p:cNvSpPr/>
          <p:nvPr/>
        </p:nvSpPr>
        <p:spPr>
          <a:xfrm>
            <a:off x="571500" y="3462040"/>
            <a:ext cx="3893344" cy="1681460"/>
          </a:xfrm>
          <a:prstGeom prst="rect">
            <a:avLst/>
          </a:prstGeom>
          <a:solidFill>
            <a:srgbClr val="FFFFFF"/>
          </a:solidFill>
          <a:ln w="18288">
            <a:solidFill>
              <a:srgbClr val="002D72"/>
            </a:solidFill>
            <a:prstDash val="solid"/>
          </a:ln>
        </p:spPr>
      </p:sp>
      <p:sp>
        <p:nvSpPr>
          <p:cNvPr id="26" name="Text 20"/>
          <p:cNvSpPr/>
          <p:nvPr/>
        </p:nvSpPr>
        <p:spPr>
          <a:xfrm>
            <a:off x="4857750" y="2102048"/>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27" name="Text 21"/>
          <p:cNvSpPr/>
          <p:nvPr/>
        </p:nvSpPr>
        <p:spPr>
          <a:xfrm>
            <a:off x="4857750" y="2309217"/>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28" name="Text 22"/>
          <p:cNvSpPr/>
          <p:nvPr/>
        </p:nvSpPr>
        <p:spPr>
          <a:xfrm>
            <a:off x="4857750" y="2516386"/>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pic>
        <p:nvPicPr>
          <p:cNvPr id="29" name="Image 4" descr="preencoded.png"/>
          <p:cNvPicPr>
            <a:picLocks noChangeAspect="1"/>
          </p:cNvPicPr>
          <p:nvPr/>
        </p:nvPicPr>
        <p:blipFill>
          <a:blip r:embed="rId7"/>
          <a:stretch>
            <a:fillRect/>
          </a:stretch>
        </p:blipFill>
        <p:spPr>
          <a:xfrm>
            <a:off x="750094" y="3640634"/>
            <a:ext cx="192881" cy="171450"/>
          </a:xfrm>
          <a:prstGeom prst="rect">
            <a:avLst/>
          </a:prstGeom>
        </p:spPr>
      </p:pic>
      <p:sp>
        <p:nvSpPr>
          <p:cNvPr id="30" name="Text 23"/>
          <p:cNvSpPr/>
          <p:nvPr/>
        </p:nvSpPr>
        <p:spPr>
          <a:xfrm>
            <a:off x="1050131" y="3648670"/>
            <a:ext cx="1176933"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Clinical Operations</a:t>
            </a:r>
            <a:endParaRPr lang="en-US" sz="885" dirty="0"/>
          </a:p>
        </p:txBody>
      </p:sp>
      <p:sp>
        <p:nvSpPr>
          <p:cNvPr id="31" name="Text 24"/>
          <p:cNvSpPr/>
          <p:nvPr/>
        </p:nvSpPr>
        <p:spPr>
          <a:xfrm>
            <a:off x="750094" y="3997821"/>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Defines system criticality for patient care continuity.</a:t>
            </a:r>
            <a:endParaRPr lang="en-US" sz="727" dirty="0"/>
          </a:p>
        </p:txBody>
      </p:sp>
      <p:sp>
        <p:nvSpPr>
          <p:cNvPr id="32" name="Text 25"/>
          <p:cNvSpPr/>
          <p:nvPr/>
        </p:nvSpPr>
        <p:spPr>
          <a:xfrm>
            <a:off x="750094" y="4204990"/>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Evaluates direct impact of vendor services on safety.</a:t>
            </a:r>
            <a:endParaRPr lang="en-US" sz="727" dirty="0"/>
          </a:p>
        </p:txBody>
      </p:sp>
      <p:sp>
        <p:nvSpPr>
          <p:cNvPr id="33" name="Text 26"/>
          <p:cNvSpPr/>
          <p:nvPr/>
        </p:nvSpPr>
        <p:spPr>
          <a:xfrm>
            <a:off x="750094" y="4412159"/>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Manages clinical workflow integrations and uptime SLAs.</a:t>
            </a:r>
            <a:endParaRPr lang="en-US" sz="727" dirty="0"/>
          </a:p>
        </p:txBody>
      </p:sp>
      <p:sp>
        <p:nvSpPr>
          <p:cNvPr id="34" name="Shape 27"/>
          <p:cNvSpPr/>
          <p:nvPr/>
        </p:nvSpPr>
        <p:spPr>
          <a:xfrm>
            <a:off x="4679156" y="3462040"/>
            <a:ext cx="3893344" cy="1681460"/>
          </a:xfrm>
          <a:prstGeom prst="rect">
            <a:avLst/>
          </a:prstGeom>
          <a:solidFill>
            <a:srgbClr val="FFFFFF"/>
          </a:solidFill>
          <a:ln w="18288">
            <a:solidFill>
              <a:srgbClr val="002D72"/>
            </a:solidFill>
            <a:prstDash val="solid"/>
          </a:ln>
        </p:spPr>
      </p:sp>
      <p:sp>
        <p:nvSpPr>
          <p:cNvPr id="35" name="Text 28"/>
          <p:cNvSpPr/>
          <p:nvPr/>
        </p:nvSpPr>
        <p:spPr>
          <a:xfrm>
            <a:off x="750094" y="3997821"/>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36" name="Text 29"/>
          <p:cNvSpPr/>
          <p:nvPr/>
        </p:nvSpPr>
        <p:spPr>
          <a:xfrm>
            <a:off x="750094" y="4204990"/>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37" name="Text 30"/>
          <p:cNvSpPr/>
          <p:nvPr/>
        </p:nvSpPr>
        <p:spPr>
          <a:xfrm>
            <a:off x="750094" y="4412159"/>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pic>
        <p:nvPicPr>
          <p:cNvPr id="38" name="Image 5" descr="preencoded.png"/>
          <p:cNvPicPr>
            <a:picLocks noChangeAspect="1"/>
          </p:cNvPicPr>
          <p:nvPr/>
        </p:nvPicPr>
        <p:blipFill>
          <a:blip r:embed="rId8"/>
          <a:stretch>
            <a:fillRect/>
          </a:stretch>
        </p:blipFill>
        <p:spPr>
          <a:xfrm>
            <a:off x="4857750" y="3640634"/>
            <a:ext cx="171450" cy="171450"/>
          </a:xfrm>
          <a:prstGeom prst="rect">
            <a:avLst/>
          </a:prstGeom>
        </p:spPr>
      </p:pic>
      <p:sp>
        <p:nvSpPr>
          <p:cNvPr id="39" name="Text 31"/>
          <p:cNvSpPr/>
          <p:nvPr/>
        </p:nvSpPr>
        <p:spPr>
          <a:xfrm>
            <a:off x="5136356" y="3648670"/>
            <a:ext cx="1739503"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IT &amp; Biomedical Engineering</a:t>
            </a:r>
            <a:endParaRPr lang="en-US" sz="885" dirty="0"/>
          </a:p>
        </p:txBody>
      </p:sp>
      <p:sp>
        <p:nvSpPr>
          <p:cNvPr id="40" name="Text 32"/>
          <p:cNvSpPr/>
          <p:nvPr/>
        </p:nvSpPr>
        <p:spPr>
          <a:xfrm>
            <a:off x="4857750" y="3997821"/>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Focuses on security of networked medical devices.</a:t>
            </a:r>
            <a:endParaRPr lang="en-US" sz="727" dirty="0"/>
          </a:p>
        </p:txBody>
      </p:sp>
      <p:sp>
        <p:nvSpPr>
          <p:cNvPr id="41" name="Text 33"/>
          <p:cNvSpPr/>
          <p:nvPr/>
        </p:nvSpPr>
        <p:spPr>
          <a:xfrm>
            <a:off x="4857750" y="4204990"/>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Oversees device patching and network segmentation.</a:t>
            </a:r>
            <a:endParaRPr lang="en-US" sz="727" dirty="0"/>
          </a:p>
        </p:txBody>
      </p:sp>
      <p:sp>
        <p:nvSpPr>
          <p:cNvPr id="42" name="Text 34"/>
          <p:cNvSpPr/>
          <p:nvPr/>
        </p:nvSpPr>
        <p:spPr>
          <a:xfrm>
            <a:off x="4857750" y="4412159"/>
            <a:ext cx="3536156" cy="150019"/>
          </a:xfrm>
          <a:prstGeom prst="rect">
            <a:avLst/>
          </a:prstGeom>
          <a:noFill/>
          <a:ln/>
        </p:spPr>
        <p:txBody>
          <a:bodyPr wrap="none" lIns="170053" tIns="0" rIns="0" bIns="0" rtlCol="0" anchor="t">
            <a:spAutoFit/>
          </a:bodyPr>
          <a:lstStyle/>
          <a:p>
            <a:pPr marL="0" indent="0" algn="l">
              <a:lnSpc>
                <a:spcPts val="1200"/>
              </a:lnSpc>
              <a:buNone/>
            </a:pPr>
            <a:r>
              <a:rPr lang="en-US" sz="727" dirty="0">
                <a:solidFill>
                  <a:srgbClr val="333333"/>
                </a:solidFill>
                <a:latin typeface="Inter" pitchFamily="34" charset="0"/>
                <a:ea typeface="Inter" pitchFamily="34" charset="-122"/>
                <a:cs typeface="Inter" pitchFamily="34" charset="-120"/>
              </a:rPr>
              <a:t>Maintains accurate medical asset and software inventory.</a:t>
            </a:r>
            <a:endParaRPr lang="en-US" sz="727" dirty="0"/>
          </a:p>
        </p:txBody>
      </p:sp>
      <p:sp>
        <p:nvSpPr>
          <p:cNvPr id="43" name="Text 35"/>
          <p:cNvSpPr/>
          <p:nvPr/>
        </p:nvSpPr>
        <p:spPr>
          <a:xfrm>
            <a:off x="4857750" y="3997821"/>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44" name="Text 36"/>
          <p:cNvSpPr/>
          <p:nvPr/>
        </p:nvSpPr>
        <p:spPr>
          <a:xfrm>
            <a:off x="4857750" y="4204990"/>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
        <p:nvSpPr>
          <p:cNvPr id="45" name="Text 37"/>
          <p:cNvSpPr/>
          <p:nvPr/>
        </p:nvSpPr>
        <p:spPr>
          <a:xfrm>
            <a:off x="4857750" y="4412159"/>
            <a:ext cx="100013" cy="150019"/>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E8927C"/>
                </a:solidFill>
                <a:latin typeface="Inter" pitchFamily="34" charset="0"/>
                <a:ea typeface="Inter" pitchFamily="34" charset="-122"/>
                <a:cs typeface="Inter" pitchFamily="34" charset="-120"/>
              </a:rPr>
              <a:t>→</a:t>
            </a:r>
            <a:endParaRPr lang="en-US" sz="68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Regulatory Frameworks Governing JHH Vendor Risk</a:t>
            </a:r>
            <a:endParaRPr lang="en-US" sz="1602" dirty="0"/>
          </a:p>
        </p:txBody>
      </p:sp>
      <p:sp>
        <p:nvSpPr>
          <p:cNvPr id="4" name="Shape 1"/>
          <p:cNvSpPr/>
          <p:nvPr/>
        </p:nvSpPr>
        <p:spPr>
          <a:xfrm>
            <a:off x="571500" y="1017984"/>
            <a:ext cx="3360409" cy="3014663"/>
          </a:xfrm>
          <a:prstGeom prst="rect">
            <a:avLst/>
          </a:prstGeom>
          <a:solidFill>
            <a:srgbClr val="F8FAFC"/>
          </a:solidFill>
          <a:ln w="18288">
            <a:solidFill>
              <a:srgbClr val="002D72"/>
            </a:solidFill>
            <a:prstDash val="solid"/>
          </a:ln>
        </p:spPr>
      </p:sp>
      <p:pic>
        <p:nvPicPr>
          <p:cNvPr id="5" name="Image 1" descr="preencoded.png"/>
          <p:cNvPicPr>
            <a:picLocks noChangeAspect="1"/>
          </p:cNvPicPr>
          <p:nvPr/>
        </p:nvPicPr>
        <p:blipFill>
          <a:blip r:embed="rId4"/>
          <a:stretch>
            <a:fillRect/>
          </a:stretch>
        </p:blipFill>
        <p:spPr>
          <a:xfrm>
            <a:off x="785813" y="1232297"/>
            <a:ext cx="2914650" cy="2500313"/>
          </a:xfrm>
          <a:prstGeom prst="rect">
            <a:avLst/>
          </a:prstGeom>
        </p:spPr>
      </p:pic>
      <p:sp>
        <p:nvSpPr>
          <p:cNvPr id="6" name="Text 2"/>
          <p:cNvSpPr/>
          <p:nvPr/>
        </p:nvSpPr>
        <p:spPr>
          <a:xfrm>
            <a:off x="785813" y="3866555"/>
            <a:ext cx="2914650" cy="13751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002D72"/>
                </a:solidFill>
                <a:latin typeface="Inter" pitchFamily="34" charset="0"/>
                <a:ea typeface="Inter" pitchFamily="34" charset="-122"/>
                <a:cs typeface="Inter" pitchFamily="34" charset="-120"/>
              </a:rPr>
              <a:t>Layered Defense-in-Depth Model</a:t>
            </a:r>
            <a:endParaRPr lang="en-US" sz="784" dirty="0"/>
          </a:p>
        </p:txBody>
      </p:sp>
      <p:sp>
        <p:nvSpPr>
          <p:cNvPr id="7" name="Shape 3"/>
          <p:cNvSpPr/>
          <p:nvPr/>
        </p:nvSpPr>
        <p:spPr>
          <a:xfrm>
            <a:off x="4200525" y="1153716"/>
            <a:ext cx="2114550" cy="1285875"/>
          </a:xfrm>
          <a:prstGeom prst="rect">
            <a:avLst/>
          </a:prstGeom>
          <a:solidFill>
            <a:srgbClr val="FFFFFF"/>
          </a:solidFill>
          <a:ln w="9144">
            <a:solidFill>
              <a:srgbClr val="EEEEEE"/>
            </a:solidFill>
            <a:prstDash val="solid"/>
          </a:ln>
        </p:spPr>
      </p:sp>
      <p:pic>
        <p:nvPicPr>
          <p:cNvPr id="8" name="Image 2" descr="preencoded.png"/>
          <p:cNvPicPr>
            <a:picLocks noChangeAspect="1"/>
          </p:cNvPicPr>
          <p:nvPr/>
        </p:nvPicPr>
        <p:blipFill>
          <a:blip r:embed="rId5"/>
          <a:stretch>
            <a:fillRect/>
          </a:stretch>
        </p:blipFill>
        <p:spPr>
          <a:xfrm>
            <a:off x="4343400" y="1302841"/>
            <a:ext cx="142875" cy="142875"/>
          </a:xfrm>
          <a:prstGeom prst="rect">
            <a:avLst/>
          </a:prstGeom>
        </p:spPr>
      </p:pic>
      <p:sp>
        <p:nvSpPr>
          <p:cNvPr id="9" name="Text 4"/>
          <p:cNvSpPr/>
          <p:nvPr/>
        </p:nvSpPr>
        <p:spPr>
          <a:xfrm>
            <a:off x="4572000" y="1296591"/>
            <a:ext cx="991195"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HIPAA / HITECH</a:t>
            </a:r>
            <a:endParaRPr lang="en-US" sz="885" dirty="0"/>
          </a:p>
        </p:txBody>
      </p:sp>
      <p:sp>
        <p:nvSpPr>
          <p:cNvPr id="10" name="Text 5"/>
          <p:cNvSpPr/>
          <p:nvPr/>
        </p:nvSpPr>
        <p:spPr>
          <a:xfrm>
            <a:off x="4343400" y="1537692"/>
            <a:ext cx="1828800" cy="60007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555555"/>
                </a:solidFill>
                <a:latin typeface="Inter" pitchFamily="34" charset="0"/>
                <a:ea typeface="Inter" pitchFamily="34" charset="-122"/>
                <a:cs typeface="Inter" pitchFamily="34" charset="-120"/>
              </a:rPr>
              <a:t>The federal legal foundation for protecting ePHI. Mandates Business Associate Agreements (BAAs) and breach notification protocols.</a:t>
            </a:r>
            <a:endParaRPr lang="en-US" sz="727" dirty="0"/>
          </a:p>
        </p:txBody>
      </p:sp>
      <p:sp>
        <p:nvSpPr>
          <p:cNvPr id="11" name="Shape 6"/>
          <p:cNvSpPr/>
          <p:nvPr/>
        </p:nvSpPr>
        <p:spPr>
          <a:xfrm>
            <a:off x="6457950" y="1153716"/>
            <a:ext cx="2114550" cy="1285875"/>
          </a:xfrm>
          <a:prstGeom prst="rect">
            <a:avLst/>
          </a:prstGeom>
          <a:solidFill>
            <a:srgbClr val="FFFFFF"/>
          </a:solidFill>
          <a:ln w="9144">
            <a:solidFill>
              <a:srgbClr val="EEEEEE"/>
            </a:solidFill>
            <a:prstDash val="solid"/>
          </a:ln>
        </p:spPr>
      </p:sp>
      <p:pic>
        <p:nvPicPr>
          <p:cNvPr id="12" name="Image 3" descr="preencoded.png"/>
          <p:cNvPicPr>
            <a:picLocks noChangeAspect="1"/>
          </p:cNvPicPr>
          <p:nvPr/>
        </p:nvPicPr>
        <p:blipFill>
          <a:blip r:embed="rId6"/>
          <a:stretch>
            <a:fillRect/>
          </a:stretch>
        </p:blipFill>
        <p:spPr>
          <a:xfrm>
            <a:off x="6600825" y="1302841"/>
            <a:ext cx="142875" cy="142875"/>
          </a:xfrm>
          <a:prstGeom prst="rect">
            <a:avLst/>
          </a:prstGeom>
        </p:spPr>
      </p:pic>
      <p:sp>
        <p:nvSpPr>
          <p:cNvPr id="13" name="Text 7"/>
          <p:cNvSpPr/>
          <p:nvPr/>
        </p:nvSpPr>
        <p:spPr>
          <a:xfrm>
            <a:off x="6829425" y="1296591"/>
            <a:ext cx="851892"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HITRUST CSF</a:t>
            </a:r>
            <a:endParaRPr lang="en-US" sz="885" dirty="0"/>
          </a:p>
        </p:txBody>
      </p:sp>
      <p:sp>
        <p:nvSpPr>
          <p:cNvPr id="14" name="Text 8"/>
          <p:cNvSpPr/>
          <p:nvPr/>
        </p:nvSpPr>
        <p:spPr>
          <a:xfrm>
            <a:off x="6600825" y="1537692"/>
            <a:ext cx="1828800" cy="60007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555555"/>
                </a:solidFill>
                <a:latin typeface="Inter" pitchFamily="34" charset="0"/>
                <a:ea typeface="Inter" pitchFamily="34" charset="-122"/>
                <a:cs typeface="Inter" pitchFamily="34" charset="-120"/>
              </a:rPr>
              <a:t>A certifiable framework that harmonizes HIPAA, NIST, and ISO standards into a single healthcare-specific security baseline.</a:t>
            </a:r>
            <a:endParaRPr lang="en-US" sz="727" dirty="0"/>
          </a:p>
        </p:txBody>
      </p:sp>
      <p:sp>
        <p:nvSpPr>
          <p:cNvPr id="15" name="Shape 9"/>
          <p:cNvSpPr/>
          <p:nvPr/>
        </p:nvSpPr>
        <p:spPr>
          <a:xfrm>
            <a:off x="4200525" y="2582466"/>
            <a:ext cx="2114550" cy="1285875"/>
          </a:xfrm>
          <a:prstGeom prst="rect">
            <a:avLst/>
          </a:prstGeom>
          <a:solidFill>
            <a:srgbClr val="FFFFFF"/>
          </a:solidFill>
          <a:ln w="9144">
            <a:solidFill>
              <a:srgbClr val="EEEEEE"/>
            </a:solidFill>
            <a:prstDash val="solid"/>
          </a:ln>
        </p:spPr>
      </p:sp>
      <p:pic>
        <p:nvPicPr>
          <p:cNvPr id="16" name="Image 4" descr="preencoded.png"/>
          <p:cNvPicPr>
            <a:picLocks noChangeAspect="1"/>
          </p:cNvPicPr>
          <p:nvPr/>
        </p:nvPicPr>
        <p:blipFill>
          <a:blip r:embed="rId7"/>
          <a:stretch>
            <a:fillRect/>
          </a:stretch>
        </p:blipFill>
        <p:spPr>
          <a:xfrm>
            <a:off x="4343400" y="2731591"/>
            <a:ext cx="142875" cy="142875"/>
          </a:xfrm>
          <a:prstGeom prst="rect">
            <a:avLst/>
          </a:prstGeom>
        </p:spPr>
      </p:pic>
      <p:sp>
        <p:nvSpPr>
          <p:cNvPr id="17" name="Text 10"/>
          <p:cNvSpPr/>
          <p:nvPr/>
        </p:nvSpPr>
        <p:spPr>
          <a:xfrm>
            <a:off x="4572000" y="2725341"/>
            <a:ext cx="1009055"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NIST SP 800-53</a:t>
            </a:r>
            <a:endParaRPr lang="en-US" sz="885" dirty="0"/>
          </a:p>
        </p:txBody>
      </p:sp>
      <p:sp>
        <p:nvSpPr>
          <p:cNvPr id="18" name="Text 11"/>
          <p:cNvSpPr/>
          <p:nvPr/>
        </p:nvSpPr>
        <p:spPr>
          <a:xfrm>
            <a:off x="4343400" y="2966442"/>
            <a:ext cx="1828800" cy="60007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555555"/>
                </a:solidFill>
                <a:latin typeface="Inter" pitchFamily="34" charset="0"/>
                <a:ea typeface="Inter" pitchFamily="34" charset="-122"/>
                <a:cs typeface="Inter" pitchFamily="34" charset="-120"/>
              </a:rPr>
              <a:t>The technical catalog of security and privacy controls used to assess vendor technical safeguards and risk posture.</a:t>
            </a:r>
            <a:endParaRPr lang="en-US" sz="727" dirty="0"/>
          </a:p>
        </p:txBody>
      </p:sp>
      <p:sp>
        <p:nvSpPr>
          <p:cNvPr id="19" name="Shape 12"/>
          <p:cNvSpPr/>
          <p:nvPr/>
        </p:nvSpPr>
        <p:spPr>
          <a:xfrm>
            <a:off x="6457950" y="2582466"/>
            <a:ext cx="2114550" cy="1285875"/>
          </a:xfrm>
          <a:prstGeom prst="rect">
            <a:avLst/>
          </a:prstGeom>
          <a:solidFill>
            <a:srgbClr val="FFFFFF"/>
          </a:solidFill>
          <a:ln w="9144">
            <a:solidFill>
              <a:srgbClr val="EEEEEE"/>
            </a:solidFill>
            <a:prstDash val="solid"/>
          </a:ln>
        </p:spPr>
      </p:sp>
      <p:pic>
        <p:nvPicPr>
          <p:cNvPr id="20" name="Image 5" descr="preencoded.png"/>
          <p:cNvPicPr>
            <a:picLocks noChangeAspect="1"/>
          </p:cNvPicPr>
          <p:nvPr/>
        </p:nvPicPr>
        <p:blipFill>
          <a:blip r:embed="rId8"/>
          <a:stretch>
            <a:fillRect/>
          </a:stretch>
        </p:blipFill>
        <p:spPr>
          <a:xfrm>
            <a:off x="6600825" y="2731591"/>
            <a:ext cx="142875" cy="142875"/>
          </a:xfrm>
          <a:prstGeom prst="rect">
            <a:avLst/>
          </a:prstGeom>
        </p:spPr>
      </p:pic>
      <p:sp>
        <p:nvSpPr>
          <p:cNvPr id="21" name="Text 13"/>
          <p:cNvSpPr/>
          <p:nvPr/>
        </p:nvSpPr>
        <p:spPr>
          <a:xfrm>
            <a:off x="6829425" y="2725341"/>
            <a:ext cx="878681"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Inter" pitchFamily="34" charset="0"/>
                <a:ea typeface="Inter" pitchFamily="34" charset="-122"/>
                <a:cs typeface="Inter" pitchFamily="34" charset="-120"/>
              </a:rPr>
              <a:t>ISO/IEC 27001</a:t>
            </a:r>
            <a:endParaRPr lang="en-US" sz="885" dirty="0"/>
          </a:p>
        </p:txBody>
      </p:sp>
      <p:sp>
        <p:nvSpPr>
          <p:cNvPr id="22" name="Text 14"/>
          <p:cNvSpPr/>
          <p:nvPr/>
        </p:nvSpPr>
        <p:spPr>
          <a:xfrm>
            <a:off x="6600825" y="2966442"/>
            <a:ext cx="1828800" cy="60007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555555"/>
                </a:solidFill>
                <a:latin typeface="Inter" pitchFamily="34" charset="0"/>
                <a:ea typeface="Inter" pitchFamily="34" charset="-122"/>
                <a:cs typeface="Inter" pitchFamily="34" charset="-120"/>
              </a:rPr>
              <a:t>The international standard for Information Security Management Systems (ISMS), focusing on continuous risk management.</a:t>
            </a:r>
            <a:endParaRPr lang="en-US" sz="727" dirty="0"/>
          </a:p>
        </p:txBody>
      </p:sp>
      <p:sp>
        <p:nvSpPr>
          <p:cNvPr id="23" name="Text 15"/>
          <p:cNvSpPr/>
          <p:nvPr/>
        </p:nvSpPr>
        <p:spPr>
          <a:xfrm>
            <a:off x="571500" y="4736306"/>
            <a:ext cx="3929063"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AAAAAA"/>
                </a:solidFill>
                <a:latin typeface="Inter" pitchFamily="34" charset="0"/>
                <a:ea typeface="Inter" pitchFamily="34" charset="-122"/>
                <a:cs typeface="Inter" pitchFamily="34" charset="-120"/>
              </a:rPr>
              <a:t>WEEK 1: INITIATION PHASE | REGULATORY ALIGNMENT &amp; COMPLIANCE</a:t>
            </a:r>
            <a:endParaRPr lang="en-US" sz="68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876"/>
            <a:ext cx="9144000" cy="5143500"/>
          </a:xfrm>
          <a:prstGeom prst="rect">
            <a:avLst/>
          </a:prstGeom>
        </p:spPr>
      </p:pic>
      <p:sp>
        <p:nvSpPr>
          <p:cNvPr id="3" name="Text 0"/>
          <p:cNvSpPr/>
          <p:nvPr/>
        </p:nvSpPr>
        <p:spPr>
          <a:xfrm>
            <a:off x="571500" y="428625"/>
            <a:ext cx="800100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2D72"/>
                </a:solidFill>
                <a:latin typeface="Playfair Display" pitchFamily="34" charset="0"/>
                <a:ea typeface="Playfair Display" pitchFamily="34" charset="-122"/>
                <a:cs typeface="Playfair Display" pitchFamily="34" charset="-120"/>
              </a:rPr>
              <a:t>Summary: Week 1 Deliverables and Accomplishments</a:t>
            </a:r>
            <a:endParaRPr lang="en-US" sz="1602" dirty="0"/>
          </a:p>
        </p:txBody>
      </p:sp>
      <p:sp>
        <p:nvSpPr>
          <p:cNvPr id="4" name="Shape 1"/>
          <p:cNvSpPr/>
          <p:nvPr/>
        </p:nvSpPr>
        <p:spPr>
          <a:xfrm>
            <a:off x="571500" y="875109"/>
            <a:ext cx="8001000" cy="632222"/>
          </a:xfrm>
          <a:prstGeom prst="rect">
            <a:avLst/>
          </a:prstGeom>
          <a:solidFill>
            <a:srgbClr val="F8FAFC"/>
          </a:solidFill>
          <a:ln/>
        </p:spPr>
      </p:sp>
      <p:sp>
        <p:nvSpPr>
          <p:cNvPr id="5" name="Shape 2"/>
          <p:cNvSpPr/>
          <p:nvPr/>
        </p:nvSpPr>
        <p:spPr>
          <a:xfrm>
            <a:off x="571500" y="875109"/>
            <a:ext cx="28575" cy="632222"/>
          </a:xfrm>
          <a:prstGeom prst="rect">
            <a:avLst/>
          </a:prstGeom>
          <a:solidFill>
            <a:srgbClr val="E8927C"/>
          </a:solidFill>
          <a:ln/>
        </p:spPr>
      </p:sp>
      <p:sp>
        <p:nvSpPr>
          <p:cNvPr id="6" name="Text 3"/>
          <p:cNvSpPr/>
          <p:nvPr/>
        </p:nvSpPr>
        <p:spPr>
          <a:xfrm>
            <a:off x="571500" y="875109"/>
            <a:ext cx="8001000" cy="632222"/>
          </a:xfrm>
          <a:prstGeom prst="rect">
            <a:avLst/>
          </a:prstGeom>
          <a:noFill/>
          <a:ln/>
        </p:spPr>
        <p:txBody>
          <a:bodyPr wrap="square" lIns="170053" tIns="170053" rIns="170053" bIns="170053" rtlCol="0" anchor="t">
            <a:spAutoFit/>
          </a:bodyPr>
          <a:lstStyle/>
          <a:p>
            <a:pPr marL="0" indent="0" algn="l">
              <a:lnSpc>
                <a:spcPts val="1400"/>
              </a:lnSpc>
              <a:buNone/>
            </a:pPr>
            <a:r>
              <a:rPr lang="en-US" sz="987" b="1" dirty="0">
                <a:solidFill>
                  <a:srgbClr val="002D72"/>
                </a:solidFill>
                <a:latin typeface="Inter" pitchFamily="34" charset="0"/>
                <a:ea typeface="Inter" pitchFamily="34" charset="-122"/>
                <a:cs typeface="Inter" pitchFamily="34" charset="-120"/>
              </a:rPr>
              <a:t>Week 1 has successfully established the vendor inventory, policy alignment, and stakeholder framework necessary for deep-dive assessments.</a:t>
            </a:r>
            <a:endParaRPr lang="en-US" sz="987" dirty="0"/>
          </a:p>
        </p:txBody>
      </p:sp>
      <p:sp>
        <p:nvSpPr>
          <p:cNvPr id="7" name="Shape 4"/>
          <p:cNvSpPr/>
          <p:nvPr/>
        </p:nvSpPr>
        <p:spPr>
          <a:xfrm>
            <a:off x="571500" y="1793081"/>
            <a:ext cx="4104419" cy="2778919"/>
          </a:xfrm>
          <a:prstGeom prst="rect">
            <a:avLst/>
          </a:prstGeom>
          <a:solidFill>
            <a:srgbClr val="FFFFFF"/>
          </a:solidFill>
          <a:ln w="18288">
            <a:solidFill>
              <a:srgbClr val="002D72"/>
            </a:solidFill>
            <a:prstDash val="solid"/>
          </a:ln>
        </p:spPr>
      </p:sp>
      <p:pic>
        <p:nvPicPr>
          <p:cNvPr id="8" name="Image 1" descr="preencoded.png"/>
          <p:cNvPicPr>
            <a:picLocks noChangeAspect="1"/>
          </p:cNvPicPr>
          <p:nvPr/>
        </p:nvPicPr>
        <p:blipFill>
          <a:blip r:embed="rId4"/>
          <a:stretch>
            <a:fillRect/>
          </a:stretch>
        </p:blipFill>
        <p:spPr>
          <a:xfrm>
            <a:off x="785813" y="2023467"/>
            <a:ext cx="117872" cy="157163"/>
          </a:xfrm>
          <a:prstGeom prst="rect">
            <a:avLst/>
          </a:prstGeom>
        </p:spPr>
      </p:pic>
      <p:sp>
        <p:nvSpPr>
          <p:cNvPr id="9" name="Text 5"/>
          <p:cNvSpPr/>
          <p:nvPr/>
        </p:nvSpPr>
        <p:spPr>
          <a:xfrm>
            <a:off x="1010841" y="2007394"/>
            <a:ext cx="1937742" cy="189309"/>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2D72"/>
                </a:solidFill>
                <a:latin typeface="Inter" pitchFamily="34" charset="0"/>
                <a:ea typeface="Inter" pitchFamily="34" charset="-122"/>
                <a:cs typeface="Inter" pitchFamily="34" charset="-120"/>
              </a:rPr>
              <a:t>Week 1 Accomplishments</a:t>
            </a:r>
            <a:endParaRPr lang="en-US" sz="1090" dirty="0"/>
          </a:p>
        </p:txBody>
      </p:sp>
      <p:pic>
        <p:nvPicPr>
          <p:cNvPr id="10" name="Image 2" descr="preencoded.png"/>
          <p:cNvPicPr>
            <a:picLocks noChangeAspect="1"/>
          </p:cNvPicPr>
          <p:nvPr/>
        </p:nvPicPr>
        <p:blipFill>
          <a:blip r:embed="rId5"/>
          <a:stretch>
            <a:fillRect/>
          </a:stretch>
        </p:blipFill>
        <p:spPr>
          <a:xfrm>
            <a:off x="785813" y="2439591"/>
            <a:ext cx="125016" cy="142875"/>
          </a:xfrm>
          <a:prstGeom prst="rect">
            <a:avLst/>
          </a:prstGeom>
        </p:spPr>
      </p:pic>
      <p:sp>
        <p:nvSpPr>
          <p:cNvPr id="11" name="Text 6"/>
          <p:cNvSpPr/>
          <p:nvPr/>
        </p:nvSpPr>
        <p:spPr>
          <a:xfrm>
            <a:off x="1071563" y="2421731"/>
            <a:ext cx="1709142" cy="15537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latin typeface="Inter" pitchFamily="34" charset="0"/>
                <a:ea typeface="Inter" pitchFamily="34" charset="-122"/>
                <a:cs typeface="Inter" pitchFamily="34" charset="-120"/>
              </a:rPr>
              <a:t>Strategic Vendor Inventory:</a:t>
            </a:r>
            <a:endParaRPr lang="en-US" sz="885" dirty="0"/>
          </a:p>
        </p:txBody>
      </p:sp>
      <p:sp>
        <p:nvSpPr>
          <p:cNvPr id="12" name="Text 7"/>
          <p:cNvSpPr/>
          <p:nvPr/>
        </p:nvSpPr>
        <p:spPr>
          <a:xfrm>
            <a:off x="1070597" y="2648364"/>
            <a:ext cx="3361134" cy="166520"/>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333333"/>
                </a:solidFill>
                <a:latin typeface="Inter" pitchFamily="34" charset="0"/>
                <a:ea typeface="Inter" pitchFamily="34" charset="-122"/>
                <a:cs typeface="Inter" pitchFamily="34" charset="-120"/>
              </a:rPr>
              <a:t>Identified and tiered top 10 healthcare partners.</a:t>
            </a:r>
            <a:endParaRPr lang="en-US" sz="942" dirty="0"/>
          </a:p>
        </p:txBody>
      </p:sp>
      <p:pic>
        <p:nvPicPr>
          <p:cNvPr id="13" name="Image 3" descr="preencoded.png"/>
          <p:cNvPicPr>
            <a:picLocks noChangeAspect="1"/>
          </p:cNvPicPr>
          <p:nvPr/>
        </p:nvPicPr>
        <p:blipFill>
          <a:blip r:embed="rId6"/>
          <a:stretch>
            <a:fillRect/>
          </a:stretch>
        </p:blipFill>
        <p:spPr>
          <a:xfrm>
            <a:off x="785813" y="2942499"/>
            <a:ext cx="125016" cy="142875"/>
          </a:xfrm>
          <a:prstGeom prst="rect">
            <a:avLst/>
          </a:prstGeom>
        </p:spPr>
      </p:pic>
      <p:sp>
        <p:nvSpPr>
          <p:cNvPr id="14" name="Text 8"/>
          <p:cNvSpPr/>
          <p:nvPr/>
        </p:nvSpPr>
        <p:spPr>
          <a:xfrm>
            <a:off x="1071563" y="2924640"/>
            <a:ext cx="1084064" cy="15537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latin typeface="Inter" pitchFamily="34" charset="0"/>
                <a:ea typeface="Inter" pitchFamily="34" charset="-122"/>
                <a:cs typeface="Inter" pitchFamily="34" charset="-120"/>
              </a:rPr>
              <a:t>Policy Alignment:</a:t>
            </a:r>
            <a:endParaRPr lang="en-US" sz="885" dirty="0"/>
          </a:p>
        </p:txBody>
      </p:sp>
      <p:sp>
        <p:nvSpPr>
          <p:cNvPr id="15" name="Text 9"/>
          <p:cNvSpPr/>
          <p:nvPr/>
        </p:nvSpPr>
        <p:spPr>
          <a:xfrm>
            <a:off x="1010841" y="3135349"/>
            <a:ext cx="3232547" cy="335393"/>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333333"/>
                </a:solidFill>
                <a:latin typeface="Inter" pitchFamily="34" charset="0"/>
                <a:ea typeface="Inter" pitchFamily="34" charset="-122"/>
                <a:cs typeface="Inter" pitchFamily="34" charset="-120"/>
              </a:rPr>
              <a:t>Mapped JHH FIN150 and TECH001 to vendor requirements.</a:t>
            </a:r>
            <a:endParaRPr lang="en-US" sz="942" dirty="0"/>
          </a:p>
        </p:txBody>
      </p:sp>
      <p:pic>
        <p:nvPicPr>
          <p:cNvPr id="16" name="Image 4" descr="preencoded.png"/>
          <p:cNvPicPr>
            <a:picLocks noChangeAspect="1"/>
          </p:cNvPicPr>
          <p:nvPr/>
        </p:nvPicPr>
        <p:blipFill>
          <a:blip r:embed="rId7"/>
          <a:stretch>
            <a:fillRect/>
          </a:stretch>
        </p:blipFill>
        <p:spPr>
          <a:xfrm>
            <a:off x="785813" y="3445408"/>
            <a:ext cx="125016" cy="142875"/>
          </a:xfrm>
          <a:prstGeom prst="rect">
            <a:avLst/>
          </a:prstGeom>
        </p:spPr>
      </p:pic>
      <p:sp>
        <p:nvSpPr>
          <p:cNvPr id="17" name="Text 10"/>
          <p:cNvSpPr/>
          <p:nvPr/>
        </p:nvSpPr>
        <p:spPr>
          <a:xfrm>
            <a:off x="1071563" y="3427549"/>
            <a:ext cx="1293019" cy="15537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latin typeface="Inter" pitchFamily="34" charset="0"/>
                <a:ea typeface="Inter" pitchFamily="34" charset="-122"/>
                <a:cs typeface="Inter" pitchFamily="34" charset="-120"/>
              </a:rPr>
              <a:t>Regulatory Mapping:</a:t>
            </a:r>
            <a:endParaRPr lang="en-US" sz="885" dirty="0"/>
          </a:p>
        </p:txBody>
      </p:sp>
      <p:sp>
        <p:nvSpPr>
          <p:cNvPr id="18" name="Text 11"/>
          <p:cNvSpPr/>
          <p:nvPr/>
        </p:nvSpPr>
        <p:spPr>
          <a:xfrm>
            <a:off x="1038881" y="3668476"/>
            <a:ext cx="3030736" cy="335393"/>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333333"/>
                </a:solidFill>
                <a:latin typeface="Inter" pitchFamily="34" charset="0"/>
                <a:ea typeface="Inter" pitchFamily="34" charset="-122"/>
                <a:cs typeface="Inter" pitchFamily="34" charset="-120"/>
              </a:rPr>
              <a:t>Integrated HIPAA, HITRUST, NIST, and ISO standards.</a:t>
            </a:r>
            <a:endParaRPr lang="en-US" sz="942" dirty="0"/>
          </a:p>
        </p:txBody>
      </p:sp>
      <p:pic>
        <p:nvPicPr>
          <p:cNvPr id="19" name="Image 5" descr="preencoded.png"/>
          <p:cNvPicPr>
            <a:picLocks noChangeAspect="1"/>
          </p:cNvPicPr>
          <p:nvPr/>
        </p:nvPicPr>
        <p:blipFill>
          <a:blip r:embed="rId8"/>
          <a:stretch>
            <a:fillRect/>
          </a:stretch>
        </p:blipFill>
        <p:spPr>
          <a:xfrm>
            <a:off x="785813" y="3948317"/>
            <a:ext cx="125016" cy="142875"/>
          </a:xfrm>
          <a:prstGeom prst="rect">
            <a:avLst/>
          </a:prstGeom>
        </p:spPr>
      </p:pic>
      <p:sp>
        <p:nvSpPr>
          <p:cNvPr id="20" name="Text 12"/>
          <p:cNvSpPr/>
          <p:nvPr/>
        </p:nvSpPr>
        <p:spPr>
          <a:xfrm>
            <a:off x="1071563" y="3930458"/>
            <a:ext cx="1518047" cy="15537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latin typeface="Inter" pitchFamily="34" charset="0"/>
                <a:ea typeface="Inter" pitchFamily="34" charset="-122"/>
                <a:cs typeface="Inter" pitchFamily="34" charset="-120"/>
              </a:rPr>
              <a:t>Stakeholder Framework:</a:t>
            </a:r>
            <a:endParaRPr lang="en-US" sz="885" dirty="0"/>
          </a:p>
        </p:txBody>
      </p:sp>
      <p:sp>
        <p:nvSpPr>
          <p:cNvPr id="21" name="Text 13"/>
          <p:cNvSpPr/>
          <p:nvPr/>
        </p:nvSpPr>
        <p:spPr>
          <a:xfrm>
            <a:off x="1038881" y="4133813"/>
            <a:ext cx="3061097" cy="335393"/>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333333"/>
                </a:solidFill>
                <a:latin typeface="Inter" pitchFamily="34" charset="0"/>
                <a:ea typeface="Inter" pitchFamily="34" charset="-122"/>
                <a:cs typeface="Inter" pitchFamily="34" charset="-120"/>
              </a:rPr>
              <a:t>Defined cross-functional roles for risk oversight.</a:t>
            </a:r>
            <a:endParaRPr lang="en-US" sz="942" dirty="0"/>
          </a:p>
        </p:txBody>
      </p:sp>
      <p:sp>
        <p:nvSpPr>
          <p:cNvPr id="22" name="Shape 14"/>
          <p:cNvSpPr/>
          <p:nvPr/>
        </p:nvSpPr>
        <p:spPr>
          <a:xfrm>
            <a:off x="4948665" y="1793081"/>
            <a:ext cx="3623835" cy="2778919"/>
          </a:xfrm>
          <a:prstGeom prst="rect">
            <a:avLst/>
          </a:prstGeom>
          <a:solidFill>
            <a:srgbClr val="002D72"/>
          </a:solidFill>
          <a:ln/>
        </p:spPr>
      </p:sp>
      <p:sp>
        <p:nvSpPr>
          <p:cNvPr id="23" name="Text 15"/>
          <p:cNvSpPr/>
          <p:nvPr/>
        </p:nvSpPr>
        <p:spPr>
          <a:xfrm>
            <a:off x="5234415" y="2567480"/>
            <a:ext cx="305233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68ACE5"/>
                </a:solidFill>
                <a:latin typeface="Inter" pitchFamily="34" charset="0"/>
                <a:ea typeface="Inter" pitchFamily="34" charset="-122"/>
                <a:cs typeface="Inter" pitchFamily="34" charset="-120"/>
              </a:rPr>
              <a:t>Strategic Value</a:t>
            </a:r>
            <a:endParaRPr lang="en-US" sz="1193" dirty="0"/>
          </a:p>
        </p:txBody>
      </p:sp>
      <p:sp>
        <p:nvSpPr>
          <p:cNvPr id="24" name="Text 16"/>
          <p:cNvSpPr/>
          <p:nvPr/>
        </p:nvSpPr>
        <p:spPr>
          <a:xfrm>
            <a:off x="5234415" y="2917524"/>
            <a:ext cx="3052335" cy="1165827"/>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alpha val="90000"/>
                  </a:srgbClr>
                </a:solidFill>
                <a:latin typeface="Inter" pitchFamily="34" charset="0"/>
                <a:ea typeface="Inter" pitchFamily="34" charset="-122"/>
                <a:cs typeface="Inter" pitchFamily="34" charset="-120"/>
              </a:rPr>
              <a:t>This foundation ensures that Johns Hopkins Hospital can scale its digital operations and research initiatives while maintaining the highest standards of patient safety and data privacy. By standardizing the initiation phase, we mitigate inherent risks before they impact clinical workflows.</a:t>
            </a:r>
            <a:endParaRPr lang="en-US" sz="888" dirty="0"/>
          </a:p>
        </p:txBody>
      </p:sp>
      <p:sp>
        <p:nvSpPr>
          <p:cNvPr id="25" name="Shape 17"/>
          <p:cNvSpPr/>
          <p:nvPr/>
        </p:nvSpPr>
        <p:spPr>
          <a:xfrm>
            <a:off x="0" y="4572000"/>
            <a:ext cx="9144000" cy="571500"/>
          </a:xfrm>
          <a:prstGeom prst="rect">
            <a:avLst/>
          </a:prstGeom>
          <a:solidFill>
            <a:srgbClr val="F8FAFC"/>
          </a:solidFill>
          <a:ln/>
        </p:spPr>
      </p:sp>
      <p:sp>
        <p:nvSpPr>
          <p:cNvPr id="26" name="Shape 18"/>
          <p:cNvSpPr/>
          <p:nvPr/>
        </p:nvSpPr>
        <p:spPr>
          <a:xfrm>
            <a:off x="0" y="4572000"/>
            <a:ext cx="9144000" cy="14288"/>
          </a:xfrm>
          <a:prstGeom prst="rect">
            <a:avLst/>
          </a:prstGeom>
          <a:solidFill>
            <a:srgbClr val="EEEEEE"/>
          </a:solidFill>
          <a:ln/>
        </p:spPr>
      </p:sp>
      <p:sp>
        <p:nvSpPr>
          <p:cNvPr id="27" name="Text 19"/>
          <p:cNvSpPr/>
          <p:nvPr/>
        </p:nvSpPr>
        <p:spPr>
          <a:xfrm>
            <a:off x="571500" y="4843463"/>
            <a:ext cx="1728788"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2D72"/>
                </a:solidFill>
                <a:latin typeface="Playfair Display" pitchFamily="34" charset="0"/>
                <a:ea typeface="Playfair Display" pitchFamily="34" charset="-122"/>
                <a:cs typeface="Playfair Display" pitchFamily="34" charset="-120"/>
              </a:rPr>
              <a:t>JOHNS HOPKINS MEDICINE</a:t>
            </a:r>
            <a:endParaRPr lang="en-US" sz="885" dirty="0"/>
          </a:p>
        </p:txBody>
      </p:sp>
      <p:sp>
        <p:nvSpPr>
          <p:cNvPr id="28" name="Text 20"/>
          <p:cNvSpPr/>
          <p:nvPr/>
        </p:nvSpPr>
        <p:spPr>
          <a:xfrm>
            <a:off x="6325791" y="4868466"/>
            <a:ext cx="2246709" cy="121444"/>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666666"/>
                </a:solidFill>
                <a:latin typeface="Inter" pitchFamily="34" charset="0"/>
                <a:ea typeface="Inter" pitchFamily="34" charset="-122"/>
                <a:cs typeface="Inter" pitchFamily="34" charset="-120"/>
              </a:rPr>
              <a:t>WEEK 1 INITIATION PHASE | COMPLETED</a:t>
            </a:r>
            <a:endParaRPr lang="en-US" sz="68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879</Words>
  <Application>Microsoft Office PowerPoint</Application>
  <PresentationFormat>On-screen Show (16:9)</PresentationFormat>
  <Paragraphs>152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Inter</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SOFIU AKIBU</cp:lastModifiedBy>
  <cp:revision>4</cp:revision>
  <dcterms:created xsi:type="dcterms:W3CDTF">2026-04-16T14:26:38Z</dcterms:created>
  <dcterms:modified xsi:type="dcterms:W3CDTF">2026-04-16T14:55:37Z</dcterms:modified>
</cp:coreProperties>
</file>