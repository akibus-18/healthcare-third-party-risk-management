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Playfair Display Semi Bold" panose="020B0604020202020204" charset="0"/>
      <p:regular r:id="rId12"/>
    </p:embeddedFont>
    <p:embeddedFont>
      <p:font typeface="Public San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19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Week 2 — TPRM Planning: Johns Hopkins Hospital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Define scope, roles, and vendor prioritization. Deliverables: Project Charter, Vendor Criticality Matrix, RACI Chart.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21919"/>
            <a:ext cx="63621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Project Overview &amp; Goal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70860"/>
            <a:ext cx="3664744" cy="3136702"/>
          </a:xfrm>
          <a:prstGeom prst="roundRect">
            <a:avLst>
              <a:gd name="adj" fmla="val 3037"/>
            </a:avLst>
          </a:prstGeom>
          <a:solidFill>
            <a:srgbClr val="E1C2C2">
              <a:alpha val="50000"/>
            </a:srgbClr>
          </a:solidFill>
          <a:ln w="7620">
            <a:solidFill>
              <a:srgbClr val="C7A8A8"/>
            </a:solidFill>
            <a:prstDash val="solid"/>
          </a:ln>
          <a:effectLst>
            <a:outerShdw dist="2921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28224" y="3305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795713"/>
            <a:ext cx="319587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Enhance JHH Third-Party Risk Management to protect patient data, clinical operations, and reputation in a regulated healthcare environment.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070860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CCC4EC">
              <a:alpha val="50000"/>
            </a:srgbClr>
          </a:solidFill>
          <a:ln w="7620">
            <a:solidFill>
              <a:srgbClr val="B2AAD2"/>
            </a:solidFill>
            <a:prstDash val="solid"/>
          </a:ln>
          <a:effectLst>
            <a:outerShdw dist="2921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19782" y="3305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Goal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3795713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Establish a robust, standardized, continuously monitored TPRM framework to identify, assess, and mitigate third‑party risks across JHH.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9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Scope — In &amp; Out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1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In-Scope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95951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 third parties accessing systems, networks, facilities, or handling JHH data (including ePHI).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Vendor criticality matrix &amp; risk classification methodology.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Due diligence and ongoing monitoring processes.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Integration with existing GRC functions.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1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Out-of-Scope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795951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Internal JHH operational risks not related to third parties.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Procurement/contract negotiation (TPRM provides input).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Direct post-contract vendor relationship management (TPRM monitors performance).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611" y="62519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Key Objectives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94611" y="150566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4611" y="1819989"/>
            <a:ext cx="7754779" cy="2286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6" name="Text 3"/>
          <p:cNvSpPr/>
          <p:nvPr/>
        </p:nvSpPr>
        <p:spPr>
          <a:xfrm>
            <a:off x="694611" y="1964888"/>
            <a:ext cx="28452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Standardize Assessments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94611" y="2379226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 consistent vendor risk evaluation across departments and service lines.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4611" y="2999303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94611" y="3313628"/>
            <a:ext cx="7754779" cy="22860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10" name="Text 7"/>
          <p:cNvSpPr/>
          <p:nvPr/>
        </p:nvSpPr>
        <p:spPr>
          <a:xfrm>
            <a:off x="694611" y="3458528"/>
            <a:ext cx="26561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Regulatory Compliance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94611" y="3872865"/>
            <a:ext cx="77547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Achieve and maintain compliance with HIPAA, HITECH, HITRUST, NIST SP 800-53, and ISO 27001 where applicable.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94611" y="4790599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4611" y="5104924"/>
            <a:ext cx="7754779" cy="22860"/>
          </a:xfrm>
          <a:prstGeom prst="rect">
            <a:avLst/>
          </a:prstGeom>
          <a:solidFill>
            <a:srgbClr val="B4DAE4"/>
          </a:solidFill>
          <a:ln/>
        </p:spPr>
      </p:sp>
      <p:sp>
        <p:nvSpPr>
          <p:cNvPr id="14" name="Text 11"/>
          <p:cNvSpPr/>
          <p:nvPr/>
        </p:nvSpPr>
        <p:spPr>
          <a:xfrm>
            <a:off x="694611" y="5249823"/>
            <a:ext cx="28143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Enhance Data Protection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94611" y="5664160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Strengthen controls for ePHI and other sensitive data handled by vendors.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94611" y="6284238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94611" y="6598563"/>
            <a:ext cx="7754779" cy="2286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18" name="Text 15"/>
          <p:cNvSpPr/>
          <p:nvPr/>
        </p:nvSpPr>
        <p:spPr>
          <a:xfrm>
            <a:off x="694611" y="67434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Improve Resilience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94611" y="7157799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Minimize vendor-induced disruptions to clinical and administrative functions.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25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Vendor Classification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24989"/>
            <a:ext cx="1205984" cy="745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2" y="3724989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High Risk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3262" y="4215408"/>
            <a:ext cx="26691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EHR, cloud hosting, billing vendors — critical for patient care and ePHI handling.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724989"/>
            <a:ext cx="1205984" cy="7453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4" y="3724989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Medium Risk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25364" y="4215408"/>
            <a:ext cx="26691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Medical devices, labs — interact with clinical workflows and patient data.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724989"/>
            <a:ext cx="1205984" cy="7453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3724989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Low Risk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467" y="4215408"/>
            <a:ext cx="266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Facilities or non-IT vendors with limited data/system access.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68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Framework Mapping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897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Mapping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70866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HIPAA → all vendors handling ePHI.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HITRUST → cloud &amp; EHR vendors.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NIST / ISO → infrastructure &amp; SaaS vendors.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560915"/>
            <a:ext cx="6244709" cy="35386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66098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Using this mapping to prioritize assessments and control baselines per vendor type.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1069"/>
            <a:ext cx="84292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RACI — Roles &amp; Responsibilities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093476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GRC / Compliance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434358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Accountable for regulatory adherence, BAA management, and policy oversight.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093476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943939"/>
            <a:ext cx="32389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IT / Information Security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434358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Responsible for technical risk assessments and control validation.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61379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464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Clinical Operations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595467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Consulted on patient safety, clinical workflow continuity, and device integration.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613791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464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Procurement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595467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Responsible for vendor selection and contracting inputs; informed on assessments.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9356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RACI clarifies who owns each TPRM activity across JHH departments.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67345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RACI Chart in Action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755100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chart details specific responsibilities for key TPRM activities.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2324695"/>
            <a:ext cx="13117116" cy="4667845"/>
          </a:xfrm>
          <a:prstGeom prst="roundRect">
            <a:avLst>
              <a:gd name="adj" fmla="val 19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7655" y="2463522"/>
            <a:ext cx="34159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Activity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93375" y="2463522"/>
            <a:ext cx="174283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GRC / Compliance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76028" y="2463522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/ InfoSec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58682" y="2463522"/>
            <a:ext cx="174283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Clinical Operations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641336" y="2463522"/>
            <a:ext cx="1746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Procurement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7655" y="3409117"/>
            <a:ext cx="34159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Define TPRM Policy &amp; Procedures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93375" y="3409117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76028" y="3409117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458682" y="3409117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641336" y="3409117"/>
            <a:ext cx="1746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7655" y="4016931"/>
            <a:ext cx="34159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Vendor Classification &amp; Tiers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93375" y="4016931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76028" y="4016931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58682" y="4016931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641336" y="4016931"/>
            <a:ext cx="1746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7655" y="4624745"/>
            <a:ext cx="3415903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Vendor Risk Assessment Execution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93375" y="4624745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76028" y="4624745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58682" y="4624745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641336" y="4624745"/>
            <a:ext cx="1746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37655" y="5570339"/>
            <a:ext cx="3415903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 Associate Agreement Review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93375" y="5570339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76028" y="5570339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58682" y="5570339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641336" y="5570339"/>
            <a:ext cx="1746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37655" y="6515933"/>
            <a:ext cx="34159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Ongoing Vendor Monitoring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093375" y="6515933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276028" y="6515933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458682" y="6515933"/>
            <a:ext cx="17428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1641336" y="6515933"/>
            <a:ext cx="1746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56642" y="7224355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Roles are defined as: </a:t>
            </a: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</a:t>
            </a: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esponsible, </a:t>
            </a: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</a:t>
            </a: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ccountable, </a:t>
            </a: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</a:t>
            </a: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onsulted, </a:t>
            </a:r>
            <a:r>
              <a:rPr lang="en-US" sz="17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</a:t>
            </a: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nformed.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9620"/>
            <a:ext cx="6078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Approvals &amp;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2634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Approval signatures indicate stakeholder commitment. Required approvers include: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52512"/>
            <a:ext cx="7604284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Chief Information Security Officer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Chief Compliance Officer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Chief Medical Officer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Chief Financial Officer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897160"/>
            <a:ext cx="7604284" cy="1689616"/>
          </a:xfrm>
          <a:prstGeom prst="roundRect">
            <a:avLst>
              <a:gd name="adj" fmla="val 5638"/>
            </a:avLst>
          </a:prstGeom>
          <a:solidFill>
            <a:srgbClr val="E6CCC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241250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180647"/>
            <a:ext cx="6640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 immediate steps: finalize Project Charter, produce Vendor Criticality Matrix, publish RACI chart — all deliverables for Week 2.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096" y="2946202"/>
            <a:ext cx="4885015" cy="27680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3790" y="70970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concise Week 2 package prepares JHH to begin risk assessments and due diligence in Week 3.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Custom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Public Sans</vt:lpstr>
      <vt:lpstr>Playfair Display Semi Bold</vt:lpstr>
      <vt:lpstr>Arial</vt:lpstr>
      <vt:lpstr>Playfair Display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SOFIU AKIBU</cp:lastModifiedBy>
  <cp:revision>1</cp:revision>
  <dcterms:created xsi:type="dcterms:W3CDTF">2026-04-22T15:20:19Z</dcterms:created>
  <dcterms:modified xsi:type="dcterms:W3CDTF">2026-04-22T15:27:04Z</dcterms:modified>
</cp:coreProperties>
</file>